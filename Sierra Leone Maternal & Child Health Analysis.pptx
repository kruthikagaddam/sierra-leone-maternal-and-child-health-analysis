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54"/>
  </p:notesMasterIdLst>
  <p:handoutMasterIdLst>
    <p:handoutMasterId r:id="rId55"/>
  </p:handoutMasterIdLst>
  <p:sldIdLst>
    <p:sldId id="269" r:id="rId5"/>
    <p:sldId id="320" r:id="rId6"/>
    <p:sldId id="271" r:id="rId7"/>
    <p:sldId id="279" r:id="rId8"/>
    <p:sldId id="278" r:id="rId9"/>
    <p:sldId id="272" r:id="rId10"/>
    <p:sldId id="273" r:id="rId11"/>
    <p:sldId id="297" r:id="rId12"/>
    <p:sldId id="286" r:id="rId13"/>
    <p:sldId id="312" r:id="rId14"/>
    <p:sldId id="301" r:id="rId15"/>
    <p:sldId id="274" r:id="rId16"/>
    <p:sldId id="289" r:id="rId17"/>
    <p:sldId id="290" r:id="rId18"/>
    <p:sldId id="291" r:id="rId19"/>
    <p:sldId id="263" r:id="rId20"/>
    <p:sldId id="292" r:id="rId21"/>
    <p:sldId id="293" r:id="rId22"/>
    <p:sldId id="294" r:id="rId23"/>
    <p:sldId id="282" r:id="rId24"/>
    <p:sldId id="306" r:id="rId25"/>
    <p:sldId id="307" r:id="rId26"/>
    <p:sldId id="311" r:id="rId27"/>
    <p:sldId id="313" r:id="rId28"/>
    <p:sldId id="314" r:id="rId29"/>
    <p:sldId id="315" r:id="rId30"/>
    <p:sldId id="316" r:id="rId31"/>
    <p:sldId id="318" r:id="rId32"/>
    <p:sldId id="319" r:id="rId33"/>
    <p:sldId id="325" r:id="rId34"/>
    <p:sldId id="299" r:id="rId35"/>
    <p:sldId id="308" r:id="rId36"/>
    <p:sldId id="309" r:id="rId37"/>
    <p:sldId id="310" r:id="rId38"/>
    <p:sldId id="281" r:id="rId39"/>
    <p:sldId id="280" r:id="rId40"/>
    <p:sldId id="284" r:id="rId41"/>
    <p:sldId id="287" r:id="rId42"/>
    <p:sldId id="288" r:id="rId43"/>
    <p:sldId id="305" r:id="rId44"/>
    <p:sldId id="303" r:id="rId45"/>
    <p:sldId id="304" r:id="rId46"/>
    <p:sldId id="317" r:id="rId47"/>
    <p:sldId id="321" r:id="rId48"/>
    <p:sldId id="322" r:id="rId49"/>
    <p:sldId id="323" r:id="rId50"/>
    <p:sldId id="295" r:id="rId51"/>
    <p:sldId id="324" r:id="rId52"/>
    <p:sldId id="296" r:id="rId5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18EE2C-451D-9E59-D9AD-5009AD3510DA}" v="1469" dt="2023-12-07T17:41:03.591"/>
    <p1510:client id="{3F3DEAA9-E849-7013-3D3E-61BADCA27DFB}" v="27" dt="2023-12-07T07:22:32.660"/>
    <p1510:client id="{44BB77E1-058C-4EDF-866B-FB5B9EE464A7}" v="282" dt="2023-12-07T15:52:18.596"/>
    <p1510:client id="{5351984D-AD3E-DD69-091F-4BA32BC1CA89}" v="440" dt="2023-12-07T19:38:53.431"/>
    <p1510:client id="{57054368-C16E-6DD9-0B53-24D1776F6CEF}" v="797" dt="2023-12-07T21:44:26.529"/>
    <p1510:client id="{59136DAD-DC25-F704-3EFF-8721CAAC9639}" v="278" dt="2023-12-07T21:45:58.750"/>
    <p1510:client id="{60D3492C-A49E-4EA2-807A-30EE3457D036}" v="295" vWet="297" dt="2023-12-07T20:48:46.588"/>
    <p1510:client id="{6D7B1B19-8289-85D9-D935-3615C04276AA}" v="539" dt="2023-12-07T02:45:39.533"/>
    <p1510:client id="{7827F217-92CF-5FCE-09F3-744C43CD4354}" v="6" dt="2023-12-07T02:24:04.957"/>
    <p1510:client id="{BBC7F1EE-4DBC-5BB7-0849-38ABF027CFB6}" v="9" dt="2023-12-06T22:55:48.823"/>
    <p1510:client id="{C503D5E5-D0E5-D75C-07E8-F1CE80C04FF6}" v="79" dt="2023-12-07T16:04:54.870"/>
    <p1510:client id="{CF8ED2AF-ADCE-821E-4B9B-93B1F8CBE8C1}" v="2" dt="2023-12-07T18:36:17.279"/>
    <p1510:client id="{D8E4AE18-C49C-59F8-7E49-8F7E1BC4EE4A}" v="326" dt="2023-12-07T21:36:18.633"/>
    <p1510:client id="{EA022B75-BA9A-AFAD-A669-B269AE5098DE}" v="3037" dt="2023-12-07T17:55:51.234"/>
    <p1510:client id="{EA43E812-8483-3582-CDA9-3B8CF8B567CB}" v="2" dt="2023-12-07T01:34:50.788"/>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12/7/2023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12/7/2023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Insert a picture of one of the geographic features of your country.</a:t>
            </a:r>
          </a:p>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3</a:t>
            </a:fld>
            <a:endParaRPr lang="en-US"/>
          </a:p>
        </p:txBody>
      </p:sp>
    </p:spTree>
    <p:extLst>
      <p:ext uri="{BB962C8B-B14F-4D97-AF65-F5344CB8AC3E}">
        <p14:creationId xmlns:p14="http://schemas.microsoft.com/office/powerpoint/2010/main" val="552792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Insert a picture of one of the geographic features of your country.</a:t>
            </a:r>
          </a:p>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4</a:t>
            </a:fld>
            <a:endParaRPr lang="en-US"/>
          </a:p>
        </p:txBody>
      </p:sp>
    </p:spTree>
    <p:extLst>
      <p:ext uri="{BB962C8B-B14F-4D97-AF65-F5344CB8AC3E}">
        <p14:creationId xmlns:p14="http://schemas.microsoft.com/office/powerpoint/2010/main" val="2834400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Insert a picture of one of the geographic features of your country.</a:t>
            </a:r>
          </a:p>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5</a:t>
            </a:fld>
            <a:endParaRPr lang="en-US"/>
          </a:p>
        </p:txBody>
      </p:sp>
    </p:spTree>
    <p:extLst>
      <p:ext uri="{BB962C8B-B14F-4D97-AF65-F5344CB8AC3E}">
        <p14:creationId xmlns:p14="http://schemas.microsoft.com/office/powerpoint/2010/main" val="423144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a:t>Insert a picture illustrating a season in your country.</a:t>
            </a:r>
          </a:p>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6</a:t>
            </a:fld>
            <a:endParaRPr lang="en-US"/>
          </a:p>
        </p:txBody>
      </p:sp>
    </p:spTree>
    <p:extLst>
      <p:ext uri="{BB962C8B-B14F-4D97-AF65-F5344CB8AC3E}">
        <p14:creationId xmlns:p14="http://schemas.microsoft.com/office/powerpoint/2010/main" val="3129894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a:t>Insert a picture of an animal and or plant found in your country.</a:t>
            </a:r>
          </a:p>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7</a:t>
            </a:fld>
            <a:endParaRPr lang="en-US"/>
          </a:p>
        </p:txBody>
      </p:sp>
    </p:spTree>
    <p:extLst>
      <p:ext uri="{BB962C8B-B14F-4D97-AF65-F5344CB8AC3E}">
        <p14:creationId xmlns:p14="http://schemas.microsoft.com/office/powerpoint/2010/main" val="3890140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a:t>Insert a picture illustrating a custom or tradition here.</a:t>
            </a:r>
          </a:p>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12</a:t>
            </a:fld>
            <a:endParaRPr lang="en-US"/>
          </a:p>
        </p:txBody>
      </p:sp>
    </p:spTree>
    <p:extLst>
      <p:ext uri="{BB962C8B-B14F-4D97-AF65-F5344CB8AC3E}">
        <p14:creationId xmlns:p14="http://schemas.microsoft.com/office/powerpoint/2010/main" val="2063820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A181B6-B371-4031-9CBE-ED0985B01CB6}" type="slidenum">
              <a:rPr lang="en-US"/>
              <a:pPr/>
              <a:t>16</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a:t>Add key points in the history of your country to the timeline.</a:t>
            </a:r>
          </a:p>
        </p:txBody>
      </p:sp>
    </p:spTree>
    <p:extLst>
      <p:ext uri="{BB962C8B-B14F-4D97-AF65-F5344CB8AC3E}">
        <p14:creationId xmlns:p14="http://schemas.microsoft.com/office/powerpoint/2010/main" val="2229052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35</a:t>
            </a:fld>
            <a:endParaRPr lang="en-US"/>
          </a:p>
        </p:txBody>
      </p:sp>
    </p:spTree>
    <p:extLst>
      <p:ext uri="{BB962C8B-B14F-4D97-AF65-F5344CB8AC3E}">
        <p14:creationId xmlns:p14="http://schemas.microsoft.com/office/powerpoint/2010/main" val="3905208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36</a:t>
            </a:fld>
            <a:endParaRPr lang="en-US"/>
          </a:p>
        </p:txBody>
      </p:sp>
    </p:spTree>
    <p:extLst>
      <p:ext uri="{BB962C8B-B14F-4D97-AF65-F5344CB8AC3E}">
        <p14:creationId xmlns:p14="http://schemas.microsoft.com/office/powerpoint/2010/main" val="2076936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38</a:t>
            </a:fld>
            <a:endParaRPr lang="en-US"/>
          </a:p>
        </p:txBody>
      </p:sp>
    </p:spTree>
    <p:extLst>
      <p:ext uri="{BB962C8B-B14F-4D97-AF65-F5344CB8AC3E}">
        <p14:creationId xmlns:p14="http://schemas.microsoft.com/office/powerpoint/2010/main" val="3708328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39</a:t>
            </a:fld>
            <a:endParaRPr lang="en-US"/>
          </a:p>
        </p:txBody>
      </p:sp>
    </p:spTree>
    <p:extLst>
      <p:ext uri="{BB962C8B-B14F-4D97-AF65-F5344CB8AC3E}">
        <p14:creationId xmlns:p14="http://schemas.microsoft.com/office/powerpoint/2010/main" val="1781990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40</a:t>
            </a:fld>
            <a:endParaRPr lang="en-US"/>
          </a:p>
        </p:txBody>
      </p:sp>
    </p:spTree>
    <p:extLst>
      <p:ext uri="{BB962C8B-B14F-4D97-AF65-F5344CB8AC3E}">
        <p14:creationId xmlns:p14="http://schemas.microsoft.com/office/powerpoint/2010/main" val="1095799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41</a:t>
            </a:fld>
            <a:endParaRPr lang="en-US"/>
          </a:p>
        </p:txBody>
      </p:sp>
    </p:spTree>
    <p:extLst>
      <p:ext uri="{BB962C8B-B14F-4D97-AF65-F5344CB8AC3E}">
        <p14:creationId xmlns:p14="http://schemas.microsoft.com/office/powerpoint/2010/main" val="454307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42</a:t>
            </a:fld>
            <a:endParaRPr lang="en-US"/>
          </a:p>
        </p:txBody>
      </p:sp>
    </p:spTree>
    <p:extLst>
      <p:ext uri="{BB962C8B-B14F-4D97-AF65-F5344CB8AC3E}">
        <p14:creationId xmlns:p14="http://schemas.microsoft.com/office/powerpoint/2010/main" val="533799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pPr/>
              <a:t>12/7/2023</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pPr/>
              <a:t>‹#›</a:t>
            </a:fld>
            <a:endParaRPr lang="en-US"/>
          </a:p>
        </p:txBody>
      </p:sp>
    </p:spTree>
    <p:extLst>
      <p:ext uri="{BB962C8B-B14F-4D97-AF65-F5344CB8AC3E}">
        <p14:creationId xmlns:p14="http://schemas.microsoft.com/office/powerpoint/2010/main" val="222367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12/7/2023</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6701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12/7/2023</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0336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12/7/2023</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304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325562"/>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Add a footer</a:t>
            </a:r>
          </a:p>
        </p:txBody>
      </p:sp>
      <p:sp>
        <p:nvSpPr>
          <p:cNvPr id="7" name="Date Placeholder 6"/>
          <p:cNvSpPr>
            <a:spLocks noGrp="1"/>
          </p:cNvSpPr>
          <p:nvPr>
            <p:ph type="dt" sz="half" idx="10"/>
          </p:nvPr>
        </p:nvSpPr>
        <p:spPr/>
        <p:txBody>
          <a:bodyPr/>
          <a:lstStyle/>
          <a:p>
            <a:fld id="{EDF33987-6305-4E2A-BF18-EF013ECE927B}" type="datetimeFigureOut">
              <a:rPr lang="en-US" smtClean="0"/>
              <a:t>12/7/2023</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44210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Add a footer</a:t>
            </a:r>
          </a:p>
        </p:txBody>
      </p:sp>
      <p:sp>
        <p:nvSpPr>
          <p:cNvPr id="3" name="Date Placeholder 2"/>
          <p:cNvSpPr>
            <a:spLocks noGrp="1"/>
          </p:cNvSpPr>
          <p:nvPr>
            <p:ph type="dt" sz="half" idx="10"/>
          </p:nvPr>
        </p:nvSpPr>
        <p:spPr/>
        <p:txBody>
          <a:bodyPr/>
          <a:lstStyle/>
          <a:p>
            <a:fld id="{EDF33987-6305-4E2A-BF18-EF013ECE927B}" type="datetimeFigureOut">
              <a:rPr lang="en-US" smtClean="0"/>
              <a:t>12/7/2023</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13906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Add a footer</a:t>
            </a:r>
          </a:p>
        </p:txBody>
      </p:sp>
      <p:sp>
        <p:nvSpPr>
          <p:cNvPr id="2" name="Date Placeholder 1"/>
          <p:cNvSpPr>
            <a:spLocks noGrp="1"/>
          </p:cNvSpPr>
          <p:nvPr>
            <p:ph type="dt" sz="half" idx="10"/>
          </p:nvPr>
        </p:nvSpPr>
        <p:spPr/>
        <p:txBody>
          <a:bodyPr/>
          <a:lstStyle/>
          <a:p>
            <a:fld id="{EDF33987-6305-4E2A-BF18-EF013ECE927B}" type="datetimeFigureOut">
              <a:rPr lang="en-US" smtClean="0"/>
              <a:t>12/7/2023</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5297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12/7/2023</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5819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12/7/2023</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029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12/7/2023</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28745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12/7/2023</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2392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9000">
              <a:schemeClr val="bg1"/>
            </a:gs>
            <a:gs pos="40000">
              <a:schemeClr val="bg2"/>
            </a:gs>
            <a:gs pos="10000">
              <a:schemeClr val="bg1">
                <a:lumMod val="95000"/>
              </a:schemeClr>
            </a:gs>
            <a:gs pos="100000">
              <a:schemeClr val="bg2">
                <a:lumMod val="9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8" name="Rectangle 7"/>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12/7/2023</a:t>
            </a:fld>
            <a:endParaRPr lang="en-US"/>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431716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accent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hyperlink" Target="http://b585.info:8080/dhis-web-dashboard/#/titQPfPZVgD" TargetMode="External"/><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hyperlink" Target="https://doi.org/10.1186/1475-2875-13-162"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071100" y="1152657"/>
            <a:ext cx="9968597" cy="2607394"/>
          </a:xfrm>
        </p:spPr>
        <p:txBody>
          <a:bodyPr>
            <a:normAutofit/>
          </a:bodyPr>
          <a:lstStyle/>
          <a:p>
            <a:pPr algn="ctr"/>
            <a:r>
              <a:rPr lang="en-US" sz="4800" b="1">
                <a:ea typeface="+mj-lt"/>
                <a:cs typeface="+mj-lt"/>
              </a:rPr>
              <a:t>Sierra Leone Maternal &amp; Child Health Analysis</a:t>
            </a:r>
            <a:endParaRPr lang="en-US" sz="4800" b="1"/>
          </a:p>
          <a:p>
            <a:pPr algn="ctr"/>
            <a:endParaRPr lang="en-US" b="1"/>
          </a:p>
        </p:txBody>
      </p:sp>
      <p:sp>
        <p:nvSpPr>
          <p:cNvPr id="5" name="Subtitle 4"/>
          <p:cNvSpPr>
            <a:spLocks noGrp="1"/>
          </p:cNvSpPr>
          <p:nvPr>
            <p:ph type="subTitle" idx="1"/>
          </p:nvPr>
        </p:nvSpPr>
        <p:spPr>
          <a:xfrm>
            <a:off x="239486" y="3505168"/>
            <a:ext cx="11717646" cy="3357561"/>
          </a:xfrm>
        </p:spPr>
        <p:txBody>
          <a:bodyPr vert="horz" lIns="91440" tIns="45720" rIns="91440" bIns="45720" rtlCol="0" anchor="t">
            <a:normAutofit/>
          </a:bodyPr>
          <a:lstStyle/>
          <a:p>
            <a:pPr algn="ctr">
              <a:lnSpc>
                <a:spcPct val="100000"/>
              </a:lnSpc>
              <a:spcBef>
                <a:spcPts val="600"/>
              </a:spcBef>
              <a:spcAft>
                <a:spcPts val="600"/>
              </a:spcAft>
            </a:pPr>
            <a:r>
              <a:rPr lang="en-US" sz="2400" b="1" u="sng" dirty="0"/>
              <a:t>GROUP 3</a:t>
            </a:r>
            <a:endParaRPr lang="en-US" sz="2400" u="sng" dirty="0"/>
          </a:p>
          <a:p>
            <a:pPr algn="ctr"/>
            <a:r>
              <a:rPr lang="en-US" b="1" dirty="0">
                <a:ea typeface="+mn-lt"/>
                <a:cs typeface="+mn-lt"/>
              </a:rPr>
              <a:t>Bekezela </a:t>
            </a:r>
            <a:r>
              <a:rPr lang="en-US" b="1" err="1">
                <a:ea typeface="+mn-lt"/>
                <a:cs typeface="+mn-lt"/>
              </a:rPr>
              <a:t>Kusina</a:t>
            </a:r>
            <a:r>
              <a:rPr lang="en-US" b="1" dirty="0">
                <a:ea typeface="+mn-lt"/>
                <a:cs typeface="+mn-lt"/>
              </a:rPr>
              <a:t>, Kruthika Gaddam, Megha Moncy, Sahiti </a:t>
            </a:r>
            <a:r>
              <a:rPr lang="en-US" b="1" err="1">
                <a:ea typeface="+mn-lt"/>
                <a:cs typeface="+mn-lt"/>
              </a:rPr>
              <a:t>Somalraju</a:t>
            </a:r>
            <a:r>
              <a:rPr lang="en-US" b="1" dirty="0">
                <a:ea typeface="+mn-lt"/>
                <a:cs typeface="+mn-lt"/>
              </a:rPr>
              <a:t>, Shikhar Shukla</a:t>
            </a:r>
          </a:p>
          <a:p>
            <a:pPr algn="ctr"/>
            <a:endParaRPr lang="en-US" sz="3200">
              <a:ea typeface="+mn-lt"/>
              <a:cs typeface="+mn-lt"/>
            </a:endParaRPr>
          </a:p>
          <a:p>
            <a:pPr algn="ctr"/>
            <a:endParaRPr lang="en-US" sz="3200">
              <a:ea typeface="+mn-lt"/>
              <a:cs typeface="+mn-lt"/>
            </a:endParaRPr>
          </a:p>
          <a:p>
            <a:pPr algn="ctr"/>
            <a:endParaRPr lang="en-US" sz="3200">
              <a:ea typeface="+mn-lt"/>
              <a:cs typeface="+mn-lt"/>
            </a:endParaRPr>
          </a:p>
          <a:p>
            <a:pPr algn="ctr"/>
            <a:r>
              <a:rPr lang="en-US" sz="2400" dirty="0">
                <a:ea typeface="+mn-lt"/>
                <a:cs typeface="+mn-lt"/>
              </a:rPr>
              <a:t>INFO B585 Biomedical Analytics </a:t>
            </a:r>
          </a:p>
          <a:p>
            <a:pPr algn="ctr"/>
            <a:endParaRPr lang="en-US" sz="2400" dirty="0">
              <a:ea typeface="+mn-lt"/>
              <a:cs typeface="+mn-lt"/>
            </a:endParaRPr>
          </a:p>
          <a:p>
            <a:pPr algn="ctr"/>
            <a:r>
              <a:rPr lang="en-US" dirty="0">
                <a:ea typeface="+mn-lt"/>
                <a:cs typeface="+mn-lt"/>
              </a:rPr>
              <a:t>Instructor- Dr. Saptarshi Purkayastha</a:t>
            </a:r>
            <a:endParaRPr lang="en-US"/>
          </a:p>
          <a:p>
            <a:pPr algn="ctr">
              <a:lnSpc>
                <a:spcPct val="100000"/>
              </a:lnSpc>
              <a:spcBef>
                <a:spcPts val="600"/>
              </a:spcBef>
              <a:spcAft>
                <a:spcPts val="600"/>
              </a:spcAft>
            </a:pPr>
            <a:endParaRPr lang="en-US"/>
          </a:p>
          <a:p>
            <a:pPr algn="ctr">
              <a:lnSpc>
                <a:spcPct val="100000"/>
              </a:lnSpc>
              <a:spcBef>
                <a:spcPts val="600"/>
              </a:spcBef>
              <a:spcAft>
                <a:spcPts val="600"/>
              </a:spcAft>
            </a:pPr>
            <a:endParaRPr lang="en-IN" sz="1800"/>
          </a:p>
        </p:txBody>
      </p:sp>
      <p:sp>
        <p:nvSpPr>
          <p:cNvPr id="2" name="TextBox 1">
            <a:extLst>
              <a:ext uri="{FF2B5EF4-FFF2-40B4-BE49-F238E27FC236}">
                <a16:creationId xmlns:a16="http://schemas.microsoft.com/office/drawing/2014/main" id="{77668810-22D5-6E12-1A40-02F301174D9A}"/>
              </a:ext>
            </a:extLst>
          </p:cNvPr>
          <p:cNvSpPr txBox="1"/>
          <p:nvPr/>
        </p:nvSpPr>
        <p:spPr>
          <a:xfrm>
            <a:off x="2805241" y="128587"/>
            <a:ext cx="6574236" cy="341632"/>
          </a:xfrm>
          <a:prstGeom prst="rect">
            <a:avLst/>
          </a:prstGeom>
          <a:noFill/>
          <a:ln>
            <a:noFill/>
          </a:ln>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nSpc>
                <a:spcPct val="90000"/>
              </a:lnSpc>
            </a:pPr>
            <a:r>
              <a:rPr lang="en-US"/>
              <a:t>Luddy School of Informatics, Computing, and Engineering</a:t>
            </a:r>
          </a:p>
        </p:txBody>
      </p:sp>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985EA4-E506-B08F-E02C-FA8AC1707B94}"/>
              </a:ext>
            </a:extLst>
          </p:cNvPr>
          <p:cNvSpPr txBox="1"/>
          <p:nvPr/>
        </p:nvSpPr>
        <p:spPr>
          <a:xfrm>
            <a:off x="482951" y="1090421"/>
            <a:ext cx="3886200" cy="519503"/>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fontScale="92500" lnSpcReduction="20000"/>
          </a:bodyPr>
          <a:lstStyle/>
          <a:p>
            <a:pPr>
              <a:lnSpc>
                <a:spcPct val="90000"/>
              </a:lnSpc>
              <a:spcBef>
                <a:spcPct val="0"/>
              </a:spcBef>
              <a:spcAft>
                <a:spcPts val="600"/>
              </a:spcAft>
            </a:pPr>
            <a:r>
              <a:rPr lang="en-US" sz="4000" cap="all">
                <a:solidFill>
                  <a:schemeClr val="accent1">
                    <a:lumMod val="50000"/>
                  </a:schemeClr>
                </a:solidFill>
                <a:latin typeface="+mj-lt"/>
                <a:ea typeface="+mj-ea"/>
                <a:cs typeface="+mj-cs"/>
              </a:rPr>
              <a:t>SIERRA LEONE</a:t>
            </a:r>
          </a:p>
        </p:txBody>
      </p:sp>
      <p:pic>
        <p:nvPicPr>
          <p:cNvPr id="5" name="Picture 4" descr="A magnifying glass over a map&#10;&#10;Description automatically generated">
            <a:extLst>
              <a:ext uri="{FF2B5EF4-FFF2-40B4-BE49-F238E27FC236}">
                <a16:creationId xmlns:a16="http://schemas.microsoft.com/office/drawing/2014/main" id="{393F5CAC-6717-C508-CE24-B444A7BEDB38}"/>
              </a:ext>
            </a:extLst>
          </p:cNvPr>
          <p:cNvPicPr>
            <a:picLocks noChangeAspect="1"/>
          </p:cNvPicPr>
          <p:nvPr/>
        </p:nvPicPr>
        <p:blipFill rotWithShape="1">
          <a:blip r:embed="rId2"/>
          <a:srcRect l="17343" r="14052" b="-2"/>
          <a:stretch/>
        </p:blipFill>
        <p:spPr>
          <a:xfrm>
            <a:off x="5865813" y="685800"/>
            <a:ext cx="5638800" cy="5486400"/>
          </a:xfrm>
          <a:prstGeom prst="rect">
            <a:avLst/>
          </a:prstGeom>
          <a:noFill/>
          <a:ln w="3175">
            <a:solidFill>
              <a:schemeClr val="bg1">
                <a:lumMod val="75000"/>
              </a:schemeClr>
            </a:solidFill>
            <a:miter lim="800000"/>
          </a:ln>
        </p:spPr>
      </p:pic>
      <p:sp>
        <p:nvSpPr>
          <p:cNvPr id="4" name="TextBox 3">
            <a:extLst>
              <a:ext uri="{FF2B5EF4-FFF2-40B4-BE49-F238E27FC236}">
                <a16:creationId xmlns:a16="http://schemas.microsoft.com/office/drawing/2014/main" id="{979B8129-7B09-17ED-1022-1AAFC1225A5C}"/>
              </a:ext>
            </a:extLst>
          </p:cNvPr>
          <p:cNvSpPr txBox="1"/>
          <p:nvPr/>
        </p:nvSpPr>
        <p:spPr>
          <a:xfrm>
            <a:off x="492569" y="1772917"/>
            <a:ext cx="3962961" cy="388099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buClr>
                <a:schemeClr val="accent1">
                  <a:lumMod val="50000"/>
                </a:schemeClr>
              </a:buClr>
              <a:buSzPct val="80000"/>
            </a:pPr>
            <a:r>
              <a:rPr lang="en-US" sz="2000" kern="1200" dirty="0">
                <a:latin typeface="+mn-lt"/>
                <a:ea typeface="+mn-ea"/>
                <a:cs typeface="+mn-cs"/>
              </a:rPr>
              <a:t>Sierra Leone, located in West Africa with</a:t>
            </a:r>
            <a:endParaRPr lang="en-US" sz="2000" kern="1200" dirty="0">
              <a:latin typeface="+mn-lt"/>
            </a:endParaRPr>
          </a:p>
          <a:p>
            <a:pPr>
              <a:lnSpc>
                <a:spcPct val="90000"/>
              </a:lnSpc>
              <a:spcAft>
                <a:spcPts val="600"/>
              </a:spcAft>
              <a:buClr>
                <a:schemeClr val="accent1">
                  <a:lumMod val="50000"/>
                </a:schemeClr>
              </a:buClr>
              <a:buSzPct val="80000"/>
            </a:pPr>
            <a:r>
              <a:rPr lang="en-US" sz="2000" kern="1200" dirty="0">
                <a:latin typeface="+mn-lt"/>
                <a:ea typeface="+mn-ea"/>
                <a:cs typeface="+mn-cs"/>
              </a:rPr>
              <a:t>Freetown as its capital, has a population </a:t>
            </a:r>
            <a:endParaRPr lang="en-US" sz="2000" kern="1200" dirty="0">
              <a:latin typeface="+mn-lt"/>
            </a:endParaRPr>
          </a:p>
          <a:p>
            <a:pPr>
              <a:lnSpc>
                <a:spcPct val="90000"/>
              </a:lnSpc>
              <a:spcAft>
                <a:spcPts val="600"/>
              </a:spcAft>
              <a:buClr>
                <a:schemeClr val="accent1">
                  <a:lumMod val="50000"/>
                </a:schemeClr>
              </a:buClr>
              <a:buSzPct val="80000"/>
            </a:pPr>
            <a:r>
              <a:rPr lang="en-US" sz="2000" kern="1200" dirty="0">
                <a:latin typeface="+mn-lt"/>
                <a:ea typeface="+mn-ea"/>
                <a:cs typeface="+mn-cs"/>
              </a:rPr>
              <a:t>of 8.421 million (2021). It ranks 18th globally</a:t>
            </a:r>
            <a:endParaRPr lang="en-US" sz="2000" kern="1200" dirty="0">
              <a:latin typeface="+mn-lt"/>
            </a:endParaRPr>
          </a:p>
          <a:p>
            <a:pPr>
              <a:lnSpc>
                <a:spcPct val="90000"/>
              </a:lnSpc>
              <a:spcAft>
                <a:spcPts val="600"/>
              </a:spcAft>
              <a:buClr>
                <a:schemeClr val="accent1">
                  <a:lumMod val="50000"/>
                </a:schemeClr>
              </a:buClr>
              <a:buSzPct val="80000"/>
            </a:pPr>
            <a:r>
              <a:rPr lang="en-US" sz="2000" kern="1200" dirty="0">
                <a:latin typeface="+mn-lt"/>
                <a:ea typeface="+mn-ea"/>
                <a:cs typeface="+mn-cs"/>
              </a:rPr>
              <a:t>in maternal mortality and 5th in infant mortality, according to the CIA.</a:t>
            </a:r>
            <a:endParaRPr lang="en-US" sz="2000" kern="1200" dirty="0">
              <a:latin typeface="+mn-lt"/>
            </a:endParaRPr>
          </a:p>
        </p:txBody>
      </p:sp>
    </p:spTree>
    <p:extLst>
      <p:ext uri="{BB962C8B-B14F-4D97-AF65-F5344CB8AC3E}">
        <p14:creationId xmlns:p14="http://schemas.microsoft.com/office/powerpoint/2010/main" val="4258429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405780" y="188640"/>
            <a:ext cx="11521280" cy="1325562"/>
          </a:xfrm>
        </p:spPr>
        <p:txBody>
          <a:bodyPr>
            <a:normAutofit/>
          </a:bodyPr>
          <a:lstStyle/>
          <a:p>
            <a:r>
              <a:rPr lang="en-US" sz="1800" b="1"/>
              <a:t>Question 1:</a:t>
            </a:r>
            <a:r>
              <a:rPr lang="en-US" sz="1800"/>
              <a:t> Review the trendline between ANC IPT 1 coverage and ANC IPT 2 coverage for all of Sierra Leone for all the months of 2022 and the first 6 months of 2023 and mention the month in which the trendline met or will meet in the future.</a:t>
            </a:r>
          </a:p>
        </p:txBody>
      </p:sp>
      <p:sp>
        <p:nvSpPr>
          <p:cNvPr id="2" name="Content Placeholder 1"/>
          <p:cNvSpPr>
            <a:spLocks noGrp="1"/>
          </p:cNvSpPr>
          <p:nvPr>
            <p:ph sz="half" idx="1"/>
          </p:nvPr>
        </p:nvSpPr>
        <p:spPr>
          <a:xfrm>
            <a:off x="405536" y="1766241"/>
            <a:ext cx="6273922" cy="4343400"/>
          </a:xfrm>
        </p:spPr>
        <p:txBody>
          <a:bodyPr vert="horz" lIns="91440" tIns="45720" rIns="91440" bIns="45720" rtlCol="0" anchor="t">
            <a:normAutofit/>
          </a:bodyPr>
          <a:lstStyle/>
          <a:p>
            <a:pPr marL="45720" indent="0">
              <a:buNone/>
            </a:pPr>
            <a:r>
              <a:rPr lang="en-US" b="1">
                <a:latin typeface="Century Gothic"/>
              </a:rPr>
              <a:t>Steps</a:t>
            </a:r>
            <a:endParaRPr lang="en-US">
              <a:latin typeface="Century Gothic"/>
            </a:endParaRPr>
          </a:p>
          <a:p>
            <a:pPr marL="388620" indent="-342900">
              <a:buAutoNum type="arabicPeriod"/>
            </a:pPr>
            <a:r>
              <a:rPr lang="en-US" sz="2000">
                <a:latin typeface="Century Gothic"/>
              </a:rPr>
              <a:t>Data Visualizer App</a:t>
            </a:r>
          </a:p>
          <a:p>
            <a:pPr marL="617220" lvl="1">
              <a:buClr>
                <a:srgbClr val="1F4E79"/>
              </a:buClr>
              <a:buFont typeface="Wingdings"/>
              <a:buChar char="q"/>
            </a:pPr>
            <a:r>
              <a:rPr lang="en-US" sz="1800">
                <a:latin typeface="Century Gothic"/>
              </a:rPr>
              <a:t>Data (Series):</a:t>
            </a:r>
          </a:p>
          <a:p>
            <a:pPr marL="845820" lvl="2">
              <a:buClr>
                <a:srgbClr val="1F4E79"/>
              </a:buClr>
              <a:buFont typeface="Wingdings"/>
              <a:buChar char="§"/>
            </a:pPr>
            <a:r>
              <a:rPr lang="en-US" sz="1600">
                <a:latin typeface="Century Gothic"/>
              </a:rPr>
              <a:t>Indicators: ANC IPT1 Coverage &amp; ANC IPT2 Coverage</a:t>
            </a:r>
          </a:p>
          <a:p>
            <a:pPr marL="845820" lvl="2">
              <a:buClr>
                <a:srgbClr val="1F4E79"/>
              </a:buClr>
              <a:buFont typeface="Wingdings"/>
              <a:buChar char="§"/>
            </a:pPr>
            <a:r>
              <a:rPr lang="en-US" sz="1600">
                <a:latin typeface="Century Gothic"/>
              </a:rPr>
              <a:t>Line: Linear Trend line </a:t>
            </a:r>
          </a:p>
          <a:p>
            <a:pPr marL="617220" lvl="1">
              <a:buClr>
                <a:srgbClr val="1F4E79"/>
              </a:buClr>
              <a:buFont typeface="Wingdings"/>
              <a:buChar char="q"/>
            </a:pPr>
            <a:r>
              <a:rPr lang="en-US" sz="1800">
                <a:latin typeface="Century Gothic"/>
              </a:rPr>
              <a:t>Period (Category): </a:t>
            </a:r>
          </a:p>
          <a:p>
            <a:pPr marL="845820" lvl="2">
              <a:buClr>
                <a:srgbClr val="1F4E79"/>
              </a:buClr>
              <a:buFont typeface="Wingdings"/>
              <a:buChar char="§"/>
            </a:pPr>
            <a:r>
              <a:rPr lang="en-US" sz="1600">
                <a:latin typeface="Century Gothic"/>
              </a:rPr>
              <a:t>Monthly from Jan 2022 to June 2023</a:t>
            </a:r>
            <a:endParaRPr lang="en-US" sz="1600"/>
          </a:p>
          <a:p>
            <a:pPr marL="617220" lvl="1">
              <a:buClr>
                <a:srgbClr val="1F4E79"/>
              </a:buClr>
              <a:buFont typeface="Wingdings"/>
              <a:buChar char="q"/>
            </a:pPr>
            <a:r>
              <a:rPr lang="en-US" sz="1800">
                <a:latin typeface="Century Gothic"/>
              </a:rPr>
              <a:t>Org Units (Filter):</a:t>
            </a:r>
          </a:p>
          <a:p>
            <a:pPr marL="845820" lvl="2">
              <a:buClr>
                <a:srgbClr val="1F4E79"/>
              </a:buClr>
              <a:buFont typeface="Wingdings"/>
              <a:buChar char="§"/>
            </a:pPr>
            <a:r>
              <a:rPr lang="en-US" sz="1600">
                <a:latin typeface="Century Gothic"/>
              </a:rPr>
              <a:t>Sierra Leone</a:t>
            </a:r>
            <a:endParaRPr lang="en-US" sz="1600"/>
          </a:p>
          <a:p>
            <a:pPr>
              <a:buAutoNum type="arabicPeriod"/>
            </a:pPr>
            <a:r>
              <a:rPr lang="en-US" sz="2000">
                <a:latin typeface="Century Gothic"/>
              </a:rPr>
              <a:t>Plot: Line Graph</a:t>
            </a:r>
          </a:p>
          <a:p>
            <a:pPr marL="45720" indent="0">
              <a:buNone/>
            </a:pPr>
            <a:endParaRPr lang="en-US" sz="1800">
              <a:latin typeface="Century Gothic"/>
            </a:endParaRPr>
          </a:p>
          <a:p>
            <a:pPr marL="45720" indent="0">
              <a:buNone/>
            </a:pPr>
            <a:endParaRPr lang="en-US" sz="1800">
              <a:latin typeface="Century Gothic"/>
            </a:endParaRPr>
          </a:p>
        </p:txBody>
      </p:sp>
    </p:spTree>
    <p:extLst>
      <p:ext uri="{BB962C8B-B14F-4D97-AF65-F5344CB8AC3E}">
        <p14:creationId xmlns:p14="http://schemas.microsoft.com/office/powerpoint/2010/main" val="11922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1178" y="330200"/>
            <a:ext cx="11521280" cy="625202"/>
          </a:xfrm>
        </p:spPr>
        <p:txBody>
          <a:bodyPr>
            <a:normAutofit/>
          </a:bodyPr>
          <a:lstStyle/>
          <a:p>
            <a:r>
              <a:rPr lang="en-US" sz="2000" b="1"/>
              <a:t>Q1:</a:t>
            </a:r>
            <a:r>
              <a:rPr lang="en-US" sz="2000"/>
              <a:t> Results</a:t>
            </a:r>
          </a:p>
        </p:txBody>
      </p:sp>
      <p:sp>
        <p:nvSpPr>
          <p:cNvPr id="2" name="Content Placeholder 1"/>
          <p:cNvSpPr>
            <a:spLocks noGrp="1"/>
          </p:cNvSpPr>
          <p:nvPr>
            <p:ph sz="half" idx="1"/>
          </p:nvPr>
        </p:nvSpPr>
        <p:spPr>
          <a:xfrm>
            <a:off x="164977" y="1133321"/>
            <a:ext cx="5077583" cy="5608855"/>
          </a:xfrm>
        </p:spPr>
        <p:txBody>
          <a:bodyPr vert="horz" lIns="91440" tIns="45720" rIns="91440" bIns="45720" rtlCol="0" anchor="t">
            <a:noAutofit/>
          </a:bodyPr>
          <a:lstStyle/>
          <a:p>
            <a:pPr marL="45720" indent="0" algn="l">
              <a:buNone/>
            </a:pPr>
            <a:r>
              <a:rPr lang="en-US" sz="1400" b="1" i="0">
                <a:effectLst/>
                <a:latin typeface="Century Gothic"/>
              </a:rPr>
              <a:t>Analysis:</a:t>
            </a:r>
            <a:endParaRPr lang="en-US" sz="1400" b="0" i="0">
              <a:effectLst/>
              <a:latin typeface="Century Gothic"/>
            </a:endParaRPr>
          </a:p>
          <a:p>
            <a:pPr algn="l">
              <a:buFont typeface="Arial" panose="020B0604020202020204" pitchFamily="34" charset="0"/>
              <a:buChar char="•"/>
            </a:pPr>
            <a:r>
              <a:rPr lang="en-US" sz="1400" b="0" i="0">
                <a:effectLst/>
                <a:latin typeface="Century Gothic"/>
              </a:rPr>
              <a:t>Trend lines derived from monthly coverage data indicate the overall direction of each treatment's uptake.</a:t>
            </a:r>
          </a:p>
          <a:p>
            <a:r>
              <a:rPr lang="en-US" sz="1400" b="0" i="0">
                <a:effectLst/>
                <a:latin typeface="Century Gothic"/>
              </a:rPr>
              <a:t>ANC IPT </a:t>
            </a:r>
            <a:r>
              <a:rPr lang="en-US" sz="1400">
                <a:latin typeface="Century Gothic"/>
              </a:rPr>
              <a:t>1: slight</a:t>
            </a:r>
            <a:r>
              <a:rPr lang="en-US" sz="1400" b="0" i="0">
                <a:effectLst/>
                <a:latin typeface="Century Gothic"/>
              </a:rPr>
              <a:t> fluctuations with a general maintenance of coverage levels.</a:t>
            </a:r>
          </a:p>
          <a:p>
            <a:r>
              <a:rPr lang="en-US" sz="1400" b="0" i="0">
                <a:effectLst/>
                <a:latin typeface="Century Gothic"/>
              </a:rPr>
              <a:t>ANC IPT </a:t>
            </a:r>
            <a:r>
              <a:rPr lang="en-US" sz="1400">
                <a:latin typeface="Century Gothic"/>
              </a:rPr>
              <a:t>2: more</a:t>
            </a:r>
            <a:r>
              <a:rPr lang="en-US" sz="1400" b="0" i="0">
                <a:effectLst/>
                <a:latin typeface="Century Gothic"/>
              </a:rPr>
              <a:t> variable pattern, suggesting inconsistent coverage over the same period.</a:t>
            </a:r>
          </a:p>
          <a:p>
            <a:pPr marL="45720" indent="0" algn="l">
              <a:buNone/>
            </a:pPr>
            <a:r>
              <a:rPr lang="en-US" sz="1400" b="1" i="0">
                <a:effectLst/>
                <a:latin typeface="Century Gothic"/>
              </a:rPr>
              <a:t>Key Observation:</a:t>
            </a:r>
            <a:endParaRPr lang="en-US" sz="1400" b="0" i="0">
              <a:effectLst/>
              <a:latin typeface="Century Gothic"/>
            </a:endParaRPr>
          </a:p>
          <a:p>
            <a:r>
              <a:rPr lang="en-US" sz="1400" b="0" i="0">
                <a:effectLst/>
                <a:latin typeface="Century Gothic"/>
              </a:rPr>
              <a:t>The trend lines for ANC IPT 1 and ANC IPT 2 coverage do not converge within the given timeframe.</a:t>
            </a:r>
            <a:endParaRPr lang="en-US" sz="1400">
              <a:latin typeface="Century Gothic"/>
            </a:endParaRPr>
          </a:p>
          <a:p>
            <a:pPr lvl="1">
              <a:buClr>
                <a:srgbClr val="1F4E79"/>
              </a:buClr>
              <a:buFont typeface="Courier New" panose="020B0604020202020204" pitchFamily="34" charset="0"/>
              <a:buChar char="o"/>
            </a:pPr>
            <a:r>
              <a:rPr lang="en-US" sz="1200">
                <a:latin typeface="Century Gothic"/>
              </a:rPr>
              <a:t>There is no</a:t>
            </a:r>
            <a:r>
              <a:rPr lang="en-US" sz="1200" b="0" i="0">
                <a:effectLst/>
                <a:latin typeface="Century Gothic"/>
              </a:rPr>
              <a:t> month where the coverage rates trends for the first and second dose of IPT are equal or cross over.</a:t>
            </a:r>
            <a:endParaRPr lang="en-US" sz="1200">
              <a:latin typeface="Century Gothic"/>
            </a:endParaRPr>
          </a:p>
          <a:p>
            <a:pPr marL="45720" indent="0" algn="l">
              <a:buNone/>
            </a:pPr>
            <a:r>
              <a:rPr lang="en-US" sz="1400" b="1" i="0">
                <a:effectLst/>
                <a:latin typeface="Century Gothic"/>
              </a:rPr>
              <a:t>Implications:</a:t>
            </a:r>
            <a:endParaRPr lang="en-US" sz="1400" b="0" i="0">
              <a:effectLst/>
              <a:latin typeface="Century Gothic"/>
            </a:endParaRPr>
          </a:p>
          <a:p>
            <a:pPr algn="l">
              <a:buFont typeface="Arial" panose="020B0604020202020204" pitchFamily="34" charset="0"/>
              <a:buChar char="•"/>
            </a:pPr>
            <a:r>
              <a:rPr lang="en-US" sz="1400" b="0" i="0">
                <a:effectLst/>
                <a:latin typeface="Century Gothic"/>
              </a:rPr>
              <a:t>The absence of an intersection points to persistent differences in the uptake rates between the first and second IPT doses.</a:t>
            </a:r>
          </a:p>
          <a:p>
            <a:pPr marL="45720" indent="0">
              <a:buNone/>
            </a:pPr>
            <a:endParaRPr lang="en-US" sz="1400">
              <a:latin typeface="Century Gothic"/>
            </a:endParaRPr>
          </a:p>
        </p:txBody>
      </p:sp>
      <p:pic>
        <p:nvPicPr>
          <p:cNvPr id="5" name="Picture 4" descr="A graph of a number of data&#10;&#10;Description automatically generated with medium confidence">
            <a:extLst>
              <a:ext uri="{FF2B5EF4-FFF2-40B4-BE49-F238E27FC236}">
                <a16:creationId xmlns:a16="http://schemas.microsoft.com/office/drawing/2014/main" id="{77B84D58-200F-F792-F052-9D94C3EDD2AC}"/>
              </a:ext>
            </a:extLst>
          </p:cNvPr>
          <p:cNvPicPr>
            <a:picLocks noChangeAspect="1"/>
          </p:cNvPicPr>
          <p:nvPr/>
        </p:nvPicPr>
        <p:blipFill>
          <a:blip r:embed="rId3"/>
          <a:stretch>
            <a:fillRect/>
          </a:stretch>
        </p:blipFill>
        <p:spPr>
          <a:xfrm>
            <a:off x="5400706" y="1436673"/>
            <a:ext cx="6510338" cy="4882754"/>
          </a:xfrm>
          <a:prstGeom prst="rect">
            <a:avLst/>
          </a:prstGeom>
        </p:spPr>
      </p:pic>
    </p:spTree>
    <p:extLst>
      <p:ext uri="{BB962C8B-B14F-4D97-AF65-F5344CB8AC3E}">
        <p14:creationId xmlns:p14="http://schemas.microsoft.com/office/powerpoint/2010/main" val="3796107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33772" y="196850"/>
            <a:ext cx="11521280" cy="599802"/>
          </a:xfrm>
        </p:spPr>
        <p:txBody>
          <a:bodyPr>
            <a:normAutofit/>
          </a:bodyPr>
          <a:lstStyle/>
          <a:p>
            <a:r>
              <a:rPr lang="en-US" sz="2000" b="1"/>
              <a:t>Q1: </a:t>
            </a:r>
            <a:r>
              <a:rPr lang="en-US" sz="2000"/>
              <a:t>Forecasting and Trend Analysis</a:t>
            </a:r>
          </a:p>
        </p:txBody>
      </p:sp>
      <p:pic>
        <p:nvPicPr>
          <p:cNvPr id="6" name="Content Placeholder 5" descr="A screenshot of a computer program&#10;&#10;Description automatically generated">
            <a:extLst>
              <a:ext uri="{FF2B5EF4-FFF2-40B4-BE49-F238E27FC236}">
                <a16:creationId xmlns:a16="http://schemas.microsoft.com/office/drawing/2014/main" id="{6E20759D-3ED5-3C3D-71CB-40AE4C1E00C3}"/>
              </a:ext>
            </a:extLst>
          </p:cNvPr>
          <p:cNvPicPr>
            <a:picLocks noGrp="1" noChangeAspect="1"/>
          </p:cNvPicPr>
          <p:nvPr>
            <p:ph sz="half" idx="1"/>
          </p:nvPr>
        </p:nvPicPr>
        <p:blipFill rotWithShape="1">
          <a:blip r:embed="rId3"/>
          <a:srcRect t="2667" r="-319" b="267"/>
          <a:stretch/>
        </p:blipFill>
        <p:spPr>
          <a:xfrm>
            <a:off x="7336786" y="100718"/>
            <a:ext cx="2877959" cy="3328422"/>
          </a:xfrm>
        </p:spPr>
      </p:pic>
      <p:sp>
        <p:nvSpPr>
          <p:cNvPr id="7" name="TextBox 6">
            <a:extLst>
              <a:ext uri="{FF2B5EF4-FFF2-40B4-BE49-F238E27FC236}">
                <a16:creationId xmlns:a16="http://schemas.microsoft.com/office/drawing/2014/main" id="{20126142-59FE-7896-6D21-6D86A1CCBFDC}"/>
              </a:ext>
            </a:extLst>
          </p:cNvPr>
          <p:cNvSpPr txBox="1"/>
          <p:nvPr/>
        </p:nvSpPr>
        <p:spPr>
          <a:xfrm>
            <a:off x="389243" y="949148"/>
            <a:ext cx="5858075" cy="5472267"/>
          </a:xfrm>
          <a:prstGeom prst="rect">
            <a:avLst/>
          </a:prstGeom>
          <a:noFill/>
          <a:ln>
            <a:solidFill>
              <a:schemeClr val="bg2"/>
            </a:solidFill>
          </a:ln>
        </p:spPr>
        <p:txBody>
          <a:bodyPr wrap="square" lIns="91440" tIns="45720" rIns="91440" bIns="45720" rtlCol="0" anchor="t">
            <a:spAutoFit/>
          </a:bodyPr>
          <a:lstStyle/>
          <a:p>
            <a:pPr>
              <a:lnSpc>
                <a:spcPct val="90000"/>
              </a:lnSpc>
              <a:spcBef>
                <a:spcPts val="1800"/>
              </a:spcBef>
              <a:buClr>
                <a:schemeClr val="accent1">
                  <a:lumMod val="50000"/>
                </a:schemeClr>
              </a:buClr>
              <a:buSzPct val="80000"/>
            </a:pPr>
            <a:r>
              <a:rPr lang="en-US" sz="1400" b="1">
                <a:latin typeface="Century Gothic"/>
              </a:rPr>
              <a:t>Forecasting Approach:</a:t>
            </a:r>
            <a:endParaRPr lang="en-US" sz="1400">
              <a:latin typeface="Century Gothic"/>
            </a:endParaRPr>
          </a:p>
          <a:p>
            <a:pPr>
              <a:lnSpc>
                <a:spcPct val="90000"/>
              </a:lnSpc>
              <a:spcBef>
                <a:spcPts val="1800"/>
              </a:spcBef>
              <a:buClr>
                <a:schemeClr val="accent1">
                  <a:lumMod val="50000"/>
                </a:schemeClr>
              </a:buClr>
              <a:buSzPct val="80000"/>
              <a:buFont typeface="Arial" pitchFamily="34" charset="0"/>
            </a:pPr>
            <a:r>
              <a:rPr lang="en-US" sz="1400">
                <a:latin typeface="Century Gothic"/>
              </a:rPr>
              <a:t>Applied Auto-Regressive Integrated Moving Average (ARIMA) models to capture the time series characteristics of the data.</a:t>
            </a:r>
          </a:p>
          <a:p>
            <a:pPr>
              <a:lnSpc>
                <a:spcPct val="90000"/>
              </a:lnSpc>
              <a:spcBef>
                <a:spcPts val="1800"/>
              </a:spcBef>
              <a:buClr>
                <a:schemeClr val="accent1">
                  <a:lumMod val="50000"/>
                </a:schemeClr>
              </a:buClr>
              <a:buSzPct val="80000"/>
              <a:buFont typeface="Arial" pitchFamily="34" charset="0"/>
            </a:pPr>
            <a:r>
              <a:rPr lang="en-US" sz="1400">
                <a:latin typeface="Century Gothic"/>
              </a:rPr>
              <a:t>Conducted a 12-month forecast to determine future trends and the potential meeting point of coverage rates.</a:t>
            </a:r>
          </a:p>
          <a:p>
            <a:pPr>
              <a:lnSpc>
                <a:spcPct val="90000"/>
              </a:lnSpc>
              <a:spcBef>
                <a:spcPts val="1800"/>
              </a:spcBef>
              <a:buClr>
                <a:schemeClr val="accent1">
                  <a:lumMod val="50000"/>
                </a:schemeClr>
              </a:buClr>
              <a:buSzPct val="80000"/>
            </a:pPr>
            <a:r>
              <a:rPr lang="en-US" sz="1400" b="1">
                <a:latin typeface="Century Gothic"/>
              </a:rPr>
              <a:t>Visualization and Trend Analysis:</a:t>
            </a:r>
            <a:endParaRPr lang="en-US" sz="1400">
              <a:latin typeface="Century Gothic"/>
            </a:endParaRPr>
          </a:p>
          <a:p>
            <a:pPr>
              <a:lnSpc>
                <a:spcPct val="90000"/>
              </a:lnSpc>
              <a:spcBef>
                <a:spcPts val="1800"/>
              </a:spcBef>
              <a:buClr>
                <a:schemeClr val="accent1">
                  <a:lumMod val="50000"/>
                </a:schemeClr>
              </a:buClr>
              <a:buSzPct val="80000"/>
              <a:buFont typeface="Arial" pitchFamily="34" charset="0"/>
            </a:pPr>
            <a:r>
              <a:rPr lang="en-US" sz="1400">
                <a:latin typeface="Century Gothic"/>
              </a:rPr>
              <a:t>Employed ggplot2 to create comprehensive visualizations, illustrating both actual and forecasted coverage data with trendlines.</a:t>
            </a:r>
          </a:p>
          <a:p>
            <a:pPr>
              <a:lnSpc>
                <a:spcPct val="90000"/>
              </a:lnSpc>
              <a:spcBef>
                <a:spcPts val="1800"/>
              </a:spcBef>
              <a:buClr>
                <a:schemeClr val="accent1">
                  <a:lumMod val="50000"/>
                </a:schemeClr>
              </a:buClr>
              <a:buSzPct val="80000"/>
              <a:buFont typeface="Arial" pitchFamily="34" charset="0"/>
            </a:pPr>
            <a:r>
              <a:rPr lang="en-US" sz="1400">
                <a:latin typeface="Century Gothic"/>
              </a:rPr>
              <a:t>The trendlines were calculated using linear regression to highlight the overall direction of the coverage rates over time.</a:t>
            </a:r>
          </a:p>
          <a:p>
            <a:pPr>
              <a:lnSpc>
                <a:spcPct val="90000"/>
              </a:lnSpc>
              <a:spcBef>
                <a:spcPts val="1800"/>
              </a:spcBef>
              <a:buClr>
                <a:schemeClr val="accent1">
                  <a:lumMod val="50000"/>
                </a:schemeClr>
              </a:buClr>
              <a:buSzPct val="80000"/>
            </a:pPr>
            <a:r>
              <a:rPr lang="en-US" sz="1400" b="1">
                <a:latin typeface="Century Gothic"/>
              </a:rPr>
              <a:t>Conclusion:</a:t>
            </a:r>
          </a:p>
          <a:p>
            <a:pPr>
              <a:lnSpc>
                <a:spcPct val="90000"/>
              </a:lnSpc>
              <a:spcBef>
                <a:spcPts val="1800"/>
              </a:spcBef>
              <a:buClr>
                <a:schemeClr val="accent1">
                  <a:lumMod val="50000"/>
                </a:schemeClr>
              </a:buClr>
              <a:buSzPct val="80000"/>
            </a:pPr>
            <a:r>
              <a:rPr lang="en-US" sz="1400">
                <a:latin typeface="Century Gothic"/>
              </a:rPr>
              <a:t>The current trajectory indicates a widening gap between the first and second ANC IPT coverage.</a:t>
            </a:r>
          </a:p>
          <a:p>
            <a:pPr>
              <a:lnSpc>
                <a:spcPct val="90000"/>
              </a:lnSpc>
              <a:spcBef>
                <a:spcPts val="1800"/>
              </a:spcBef>
              <a:buClr>
                <a:schemeClr val="accent1">
                  <a:lumMod val="50000"/>
                </a:schemeClr>
              </a:buClr>
              <a:buSzPct val="80000"/>
            </a:pPr>
            <a:r>
              <a:rPr lang="en-US" sz="1400">
                <a:latin typeface="Century Gothic"/>
              </a:rPr>
              <a:t>Public health officials may utilize these insights to formulate policies aimed at narrowing the coverage disparity.</a:t>
            </a:r>
          </a:p>
          <a:p>
            <a:br>
              <a:rPr lang="en-US" sz="1400"/>
            </a:br>
            <a:endParaRPr lang="en-IN" sz="1400">
              <a:latin typeface="Century Gothic"/>
            </a:endParaRPr>
          </a:p>
        </p:txBody>
      </p:sp>
      <p:pic>
        <p:nvPicPr>
          <p:cNvPr id="9" name="Picture 8" descr="A graph with red line and blue line&#10;&#10;Description automatically generated">
            <a:extLst>
              <a:ext uri="{FF2B5EF4-FFF2-40B4-BE49-F238E27FC236}">
                <a16:creationId xmlns:a16="http://schemas.microsoft.com/office/drawing/2014/main" id="{E1B4E1BA-9441-8822-3344-E6B6726B9416}"/>
              </a:ext>
            </a:extLst>
          </p:cNvPr>
          <p:cNvPicPr>
            <a:picLocks noChangeAspect="1"/>
          </p:cNvPicPr>
          <p:nvPr/>
        </p:nvPicPr>
        <p:blipFill>
          <a:blip r:embed="rId4"/>
          <a:stretch>
            <a:fillRect/>
          </a:stretch>
        </p:blipFill>
        <p:spPr>
          <a:xfrm>
            <a:off x="6908585" y="3468664"/>
            <a:ext cx="3848151" cy="3288618"/>
          </a:xfrm>
          <a:prstGeom prst="rect">
            <a:avLst/>
          </a:prstGeom>
        </p:spPr>
      </p:pic>
    </p:spTree>
    <p:extLst>
      <p:ext uri="{BB962C8B-B14F-4D97-AF65-F5344CB8AC3E}">
        <p14:creationId xmlns:p14="http://schemas.microsoft.com/office/powerpoint/2010/main" val="4259150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7748" y="274638"/>
            <a:ext cx="11809312" cy="895221"/>
          </a:xfrm>
        </p:spPr>
        <p:txBody>
          <a:bodyPr>
            <a:noAutofit/>
          </a:bodyPr>
          <a:lstStyle/>
          <a:p>
            <a:r>
              <a:rPr lang="en-US" sz="1800" b="1"/>
              <a:t>Question 2:</a:t>
            </a:r>
            <a:r>
              <a:rPr lang="en-US" sz="1800"/>
              <a:t> Using SES method, forecast the ANC IPT 2 coverage for the month of Dec 2023 for the Western Area district, using data from all the previous months of 2022 and 2023. (with 2 of your own choices of alpha). Check the error for the last 6 months.</a:t>
            </a:r>
          </a:p>
        </p:txBody>
      </p:sp>
      <p:pic>
        <p:nvPicPr>
          <p:cNvPr id="5" name="Picture 4" descr="A screenshot of a computer&#10;&#10;Description automatically generated">
            <a:extLst>
              <a:ext uri="{FF2B5EF4-FFF2-40B4-BE49-F238E27FC236}">
                <a16:creationId xmlns:a16="http://schemas.microsoft.com/office/drawing/2014/main" id="{D678014C-F2C7-DE81-4FAE-3376A3A42C5A}"/>
              </a:ext>
            </a:extLst>
          </p:cNvPr>
          <p:cNvPicPr>
            <a:picLocks noChangeAspect="1"/>
          </p:cNvPicPr>
          <p:nvPr/>
        </p:nvPicPr>
        <p:blipFill>
          <a:blip r:embed="rId3"/>
          <a:stretch>
            <a:fillRect/>
          </a:stretch>
        </p:blipFill>
        <p:spPr>
          <a:xfrm>
            <a:off x="8543471" y="1280336"/>
            <a:ext cx="1538992" cy="5532964"/>
          </a:xfrm>
          <a:prstGeom prst="rect">
            <a:avLst/>
          </a:prstGeom>
        </p:spPr>
      </p:pic>
      <p:sp>
        <p:nvSpPr>
          <p:cNvPr id="6" name="Content Placeholder 1">
            <a:extLst>
              <a:ext uri="{FF2B5EF4-FFF2-40B4-BE49-F238E27FC236}">
                <a16:creationId xmlns:a16="http://schemas.microsoft.com/office/drawing/2014/main" id="{EE0D9037-0BB0-6256-E40B-F8C0D04AE207}"/>
              </a:ext>
            </a:extLst>
          </p:cNvPr>
          <p:cNvSpPr txBox="1">
            <a:spLocks/>
          </p:cNvSpPr>
          <p:nvPr/>
        </p:nvSpPr>
        <p:spPr>
          <a:xfrm>
            <a:off x="698361" y="2059240"/>
            <a:ext cx="5221584" cy="4343400"/>
          </a:xfrm>
          <a:prstGeom prst="rect">
            <a:avLst/>
          </a:prstGeom>
        </p:spPr>
        <p:txBody>
          <a:bodyPr vert="horz" lIns="91440" tIns="45720" rIns="91440" bIns="45720" rtlCol="0" anchor="t">
            <a:normAutofit/>
          </a:bodyPr>
          <a:lst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a:lstStyle>
          <a:p>
            <a:pPr marL="45720" indent="0">
              <a:buFont typeface="Arial" pitchFamily="34" charset="0"/>
              <a:buNone/>
            </a:pPr>
            <a:r>
              <a:rPr lang="en-US" b="1">
                <a:latin typeface="Century Gothic"/>
              </a:rPr>
              <a:t>Steps</a:t>
            </a:r>
            <a:endParaRPr lang="en-US">
              <a:latin typeface="Century Gothic"/>
            </a:endParaRPr>
          </a:p>
          <a:p>
            <a:pPr marL="388620" indent="-342900">
              <a:buFont typeface="Arial" pitchFamily="34" charset="0"/>
              <a:buAutoNum type="arabicPeriod"/>
            </a:pPr>
            <a:r>
              <a:rPr lang="en-US" sz="2000">
                <a:latin typeface="Century Gothic"/>
              </a:rPr>
              <a:t>Data Visualizer App</a:t>
            </a:r>
          </a:p>
          <a:p>
            <a:pPr marL="617220" lvl="1">
              <a:buClr>
                <a:srgbClr val="1F4E79"/>
              </a:buClr>
              <a:buFont typeface="Wingdings"/>
              <a:buChar char="q"/>
            </a:pPr>
            <a:r>
              <a:rPr lang="en-US" sz="1800">
                <a:latin typeface="Century Gothic"/>
              </a:rPr>
              <a:t>Data (Columns):</a:t>
            </a:r>
          </a:p>
          <a:p>
            <a:pPr marL="845820" lvl="2">
              <a:buClr>
                <a:srgbClr val="1F4E79"/>
              </a:buClr>
              <a:buFont typeface="Wingdings"/>
              <a:buChar char="§"/>
            </a:pPr>
            <a:r>
              <a:rPr lang="en-US" sz="1600">
                <a:latin typeface="Century Gothic"/>
              </a:rPr>
              <a:t>Indicators: ANC IPT2 Coverage</a:t>
            </a:r>
          </a:p>
          <a:p>
            <a:pPr marL="617220" lvl="1">
              <a:buClr>
                <a:srgbClr val="1F4E79"/>
              </a:buClr>
              <a:buFont typeface="Wingdings"/>
              <a:buChar char="q"/>
            </a:pPr>
            <a:r>
              <a:rPr lang="en-US" sz="1800">
                <a:latin typeface="Century Gothic"/>
              </a:rPr>
              <a:t>Period (Category): </a:t>
            </a:r>
          </a:p>
          <a:p>
            <a:pPr marL="845820" lvl="2">
              <a:buClr>
                <a:srgbClr val="1F4E79"/>
              </a:buClr>
              <a:buFont typeface="Wingdings"/>
              <a:buChar char="§"/>
            </a:pPr>
            <a:r>
              <a:rPr lang="en-US" sz="1600">
                <a:latin typeface="Century Gothic"/>
              </a:rPr>
              <a:t>Monthly from Jan 2022 to November 2023</a:t>
            </a:r>
            <a:endParaRPr lang="en-US" sz="1600"/>
          </a:p>
          <a:p>
            <a:pPr marL="617220" lvl="1">
              <a:buClr>
                <a:srgbClr val="1F4E79"/>
              </a:buClr>
              <a:buFont typeface="Wingdings"/>
              <a:buChar char="q"/>
            </a:pPr>
            <a:r>
              <a:rPr lang="en-US" sz="1800">
                <a:latin typeface="Century Gothic"/>
              </a:rPr>
              <a:t>Org Units (Filter):</a:t>
            </a:r>
          </a:p>
          <a:p>
            <a:pPr marL="845820" lvl="2">
              <a:buClr>
                <a:srgbClr val="1F4E79"/>
              </a:buClr>
              <a:buFont typeface="Wingdings"/>
              <a:buChar char="§"/>
            </a:pPr>
            <a:r>
              <a:rPr lang="en-US" sz="1600">
                <a:latin typeface="Century Gothic"/>
              </a:rPr>
              <a:t>Western Area</a:t>
            </a:r>
            <a:endParaRPr lang="en-US" sz="1600"/>
          </a:p>
          <a:p>
            <a:pPr>
              <a:buFont typeface="Arial" pitchFamily="34" charset="0"/>
              <a:buAutoNum type="arabicPeriod"/>
            </a:pPr>
            <a:r>
              <a:rPr lang="en-US" sz="2000">
                <a:latin typeface="Century Gothic"/>
              </a:rPr>
              <a:t>Pivot Table</a:t>
            </a:r>
          </a:p>
          <a:p>
            <a:pPr marL="45720" indent="0">
              <a:buFont typeface="Arial" pitchFamily="34" charset="0"/>
              <a:buNone/>
            </a:pPr>
            <a:endParaRPr lang="en-US" sz="1800">
              <a:latin typeface="Century Gothic"/>
            </a:endParaRPr>
          </a:p>
          <a:p>
            <a:pPr marL="45720" indent="0">
              <a:buFont typeface="Arial" pitchFamily="34" charset="0"/>
              <a:buNone/>
            </a:pPr>
            <a:endParaRPr lang="en-US" sz="1800">
              <a:latin typeface="Century Gothic"/>
            </a:endParaRPr>
          </a:p>
        </p:txBody>
      </p:sp>
    </p:spTree>
    <p:extLst>
      <p:ext uri="{BB962C8B-B14F-4D97-AF65-F5344CB8AC3E}">
        <p14:creationId xmlns:p14="http://schemas.microsoft.com/office/powerpoint/2010/main" val="88309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27275" y="-98024"/>
            <a:ext cx="9753600" cy="649705"/>
          </a:xfrm>
        </p:spPr>
        <p:txBody>
          <a:bodyPr>
            <a:normAutofit/>
          </a:bodyPr>
          <a:lstStyle/>
          <a:p>
            <a:r>
              <a:rPr lang="en-US" sz="2000" b="1"/>
              <a:t>Q2. </a:t>
            </a:r>
            <a:r>
              <a:rPr lang="en-US" sz="2000"/>
              <a:t>Forecasting ANC IPT 2 Coverage for December 2023</a:t>
            </a:r>
          </a:p>
        </p:txBody>
      </p:sp>
      <p:pic>
        <p:nvPicPr>
          <p:cNvPr id="4" name="Content Placeholder 3" descr="A screen shot of a computer&#10;&#10;Description automatically generated">
            <a:extLst>
              <a:ext uri="{FF2B5EF4-FFF2-40B4-BE49-F238E27FC236}">
                <a16:creationId xmlns:a16="http://schemas.microsoft.com/office/drawing/2014/main" id="{F131BA15-8BE7-D877-942F-449F856B0B6F}"/>
              </a:ext>
            </a:extLst>
          </p:cNvPr>
          <p:cNvPicPr>
            <a:picLocks noGrp="1" noChangeAspect="1"/>
          </p:cNvPicPr>
          <p:nvPr>
            <p:ph sz="half" idx="1"/>
          </p:nvPr>
        </p:nvPicPr>
        <p:blipFill>
          <a:blip r:embed="rId3"/>
          <a:stretch>
            <a:fillRect/>
          </a:stretch>
        </p:blipFill>
        <p:spPr>
          <a:xfrm>
            <a:off x="274310" y="603086"/>
            <a:ext cx="4049653" cy="1728476"/>
          </a:xfrm>
        </p:spPr>
      </p:pic>
      <p:pic>
        <p:nvPicPr>
          <p:cNvPr id="8" name="Content Placeholder 7" descr="A screenshot of a computer&#10;&#10;Description automatically generated">
            <a:extLst>
              <a:ext uri="{FF2B5EF4-FFF2-40B4-BE49-F238E27FC236}">
                <a16:creationId xmlns:a16="http://schemas.microsoft.com/office/drawing/2014/main" id="{4058A1CD-7662-A05D-452D-F47A4D984F0F}"/>
              </a:ext>
            </a:extLst>
          </p:cNvPr>
          <p:cNvPicPr>
            <a:picLocks noGrp="1" noChangeAspect="1"/>
          </p:cNvPicPr>
          <p:nvPr>
            <p:ph sz="half" idx="2"/>
          </p:nvPr>
        </p:nvPicPr>
        <p:blipFill>
          <a:blip r:embed="rId4"/>
          <a:stretch>
            <a:fillRect/>
          </a:stretch>
        </p:blipFill>
        <p:spPr>
          <a:xfrm>
            <a:off x="6863919" y="825549"/>
            <a:ext cx="3829636" cy="942947"/>
          </a:xfrm>
        </p:spPr>
      </p:pic>
      <p:pic>
        <p:nvPicPr>
          <p:cNvPr id="10" name="Picture 9" descr="A screenshot of a computer&#10;&#10;Description automatically generated">
            <a:extLst>
              <a:ext uri="{FF2B5EF4-FFF2-40B4-BE49-F238E27FC236}">
                <a16:creationId xmlns:a16="http://schemas.microsoft.com/office/drawing/2014/main" id="{9D27F896-7288-40ED-AEFF-E73224AC0722}"/>
              </a:ext>
            </a:extLst>
          </p:cNvPr>
          <p:cNvPicPr>
            <a:picLocks noChangeAspect="1"/>
          </p:cNvPicPr>
          <p:nvPr/>
        </p:nvPicPr>
        <p:blipFill>
          <a:blip r:embed="rId5"/>
          <a:stretch>
            <a:fillRect/>
          </a:stretch>
        </p:blipFill>
        <p:spPr>
          <a:xfrm>
            <a:off x="6859701" y="1935452"/>
            <a:ext cx="5295957" cy="4816508"/>
          </a:xfrm>
          <a:prstGeom prst="rect">
            <a:avLst/>
          </a:prstGeom>
        </p:spPr>
      </p:pic>
      <p:sp>
        <p:nvSpPr>
          <p:cNvPr id="11" name="TextBox 10">
            <a:extLst>
              <a:ext uri="{FF2B5EF4-FFF2-40B4-BE49-F238E27FC236}">
                <a16:creationId xmlns:a16="http://schemas.microsoft.com/office/drawing/2014/main" id="{27BAE565-9CED-F1DF-38BA-A4F10DE78470}"/>
              </a:ext>
            </a:extLst>
          </p:cNvPr>
          <p:cNvSpPr txBox="1"/>
          <p:nvPr/>
        </p:nvSpPr>
        <p:spPr>
          <a:xfrm>
            <a:off x="168383" y="2392584"/>
            <a:ext cx="6545180" cy="4358116"/>
          </a:xfrm>
          <a:prstGeom prst="rect">
            <a:avLst/>
          </a:prstGeom>
          <a:noFill/>
          <a:ln>
            <a:solidFill>
              <a:schemeClr val="bg2"/>
            </a:solidFill>
          </a:ln>
        </p:spPr>
        <p:txBody>
          <a:bodyPr wrap="square" lIns="91440" tIns="45720" rIns="91440" bIns="45720" rtlCol="0" anchor="t">
            <a:spAutoFit/>
          </a:bodyPr>
          <a:lstStyle/>
          <a:p>
            <a:pPr>
              <a:lnSpc>
                <a:spcPct val="90000"/>
              </a:lnSpc>
            </a:pPr>
            <a:r>
              <a:rPr lang="en-US" sz="1400" b="1">
                <a:latin typeface="Century Gothic"/>
              </a:rPr>
              <a:t>Forecasting Model:</a:t>
            </a:r>
            <a:endParaRPr lang="en-US" sz="1400">
              <a:latin typeface="Century Gothic"/>
            </a:endParaRPr>
          </a:p>
          <a:p>
            <a:pPr>
              <a:lnSpc>
                <a:spcPct val="90000"/>
              </a:lnSpc>
            </a:pPr>
            <a:r>
              <a:rPr lang="en-US" sz="1400">
                <a:latin typeface="Century Gothic"/>
              </a:rPr>
              <a:t>Simple Exponential Smoothing (SES) was applied to ANC IPT 2 coverage data.</a:t>
            </a:r>
          </a:p>
          <a:p>
            <a:pPr>
              <a:lnSpc>
                <a:spcPct val="90000"/>
              </a:lnSpc>
            </a:pPr>
            <a:r>
              <a:rPr lang="en-US" sz="1400">
                <a:latin typeface="Century Gothic"/>
              </a:rPr>
              <a:t>Two models with different smoothing factors (alpha): 0.1 and 0.8.</a:t>
            </a:r>
          </a:p>
          <a:p>
            <a:pPr>
              <a:lnSpc>
                <a:spcPct val="90000"/>
              </a:lnSpc>
            </a:pPr>
            <a:endParaRPr lang="en-US" sz="1400">
              <a:latin typeface="Century Gothic"/>
            </a:endParaRPr>
          </a:p>
          <a:p>
            <a:pPr>
              <a:lnSpc>
                <a:spcPct val="90000"/>
              </a:lnSpc>
            </a:pPr>
            <a:r>
              <a:rPr lang="en-US" sz="1400" b="1">
                <a:latin typeface="Century Gothic"/>
              </a:rPr>
              <a:t>Forecast Results:</a:t>
            </a:r>
          </a:p>
          <a:p>
            <a:pPr marL="285750" indent="-285750">
              <a:lnSpc>
                <a:spcPct val="90000"/>
              </a:lnSpc>
              <a:buFont typeface="Arial"/>
              <a:buChar char="•"/>
            </a:pPr>
            <a:r>
              <a:rPr lang="en-US" sz="1400">
                <a:latin typeface="Century Gothic"/>
              </a:rPr>
              <a:t>Alpha 0.1 Forecast: 131.20</a:t>
            </a:r>
          </a:p>
          <a:p>
            <a:pPr marL="285750" indent="-285750">
              <a:lnSpc>
                <a:spcPct val="90000"/>
              </a:lnSpc>
              <a:buFont typeface="Arial"/>
              <a:buChar char="•"/>
            </a:pPr>
            <a:r>
              <a:rPr lang="en-US" sz="1400">
                <a:latin typeface="Century Gothic"/>
              </a:rPr>
              <a:t>MAE: 56.23</a:t>
            </a:r>
          </a:p>
          <a:p>
            <a:pPr marL="285750" indent="-285750">
              <a:lnSpc>
                <a:spcPct val="90000"/>
              </a:lnSpc>
              <a:buFont typeface="Arial"/>
              <a:buChar char="•"/>
            </a:pPr>
            <a:r>
              <a:rPr lang="en-US" sz="1400">
                <a:latin typeface="Century Gothic"/>
              </a:rPr>
              <a:t>RMSE: 60.14</a:t>
            </a:r>
          </a:p>
          <a:p>
            <a:pPr marL="285750" indent="-285750">
              <a:lnSpc>
                <a:spcPct val="90000"/>
              </a:lnSpc>
              <a:buFont typeface="Arial"/>
              <a:buChar char="•"/>
            </a:pPr>
            <a:r>
              <a:rPr lang="en-US" sz="1400">
                <a:latin typeface="Century Gothic"/>
              </a:rPr>
              <a:t>Alpha 0.8 Forecast: 142.60</a:t>
            </a:r>
          </a:p>
          <a:p>
            <a:pPr marL="285750" indent="-285750">
              <a:lnSpc>
                <a:spcPct val="90000"/>
              </a:lnSpc>
              <a:buFont typeface="Arial"/>
              <a:buChar char="•"/>
            </a:pPr>
            <a:r>
              <a:rPr lang="en-US" sz="1400">
                <a:latin typeface="Century Gothic"/>
              </a:rPr>
              <a:t>MAE: 67.14</a:t>
            </a:r>
          </a:p>
          <a:p>
            <a:pPr marL="285750" indent="-285750">
              <a:lnSpc>
                <a:spcPct val="90000"/>
              </a:lnSpc>
              <a:buFont typeface="Arial"/>
              <a:buChar char="•"/>
            </a:pPr>
            <a:r>
              <a:rPr lang="en-US" sz="1400">
                <a:latin typeface="Century Gothic"/>
              </a:rPr>
              <a:t>RMSE: 78.38</a:t>
            </a:r>
          </a:p>
          <a:p>
            <a:pPr>
              <a:lnSpc>
                <a:spcPct val="90000"/>
              </a:lnSpc>
            </a:pPr>
            <a:endParaRPr lang="en-US" sz="1400">
              <a:latin typeface="Century Gothic"/>
            </a:endParaRPr>
          </a:p>
          <a:p>
            <a:pPr>
              <a:lnSpc>
                <a:spcPct val="90000"/>
              </a:lnSpc>
            </a:pPr>
            <a:r>
              <a:rPr lang="en-US" sz="1400" b="1">
                <a:latin typeface="Century Gothic"/>
              </a:rPr>
              <a:t>Analysis</a:t>
            </a:r>
            <a:r>
              <a:rPr lang="en-US" sz="1400">
                <a:latin typeface="Century Gothic"/>
              </a:rPr>
              <a:t>:</a:t>
            </a:r>
          </a:p>
          <a:p>
            <a:pPr>
              <a:lnSpc>
                <a:spcPct val="90000"/>
              </a:lnSpc>
            </a:pPr>
            <a:r>
              <a:rPr lang="en-US" sz="1400">
                <a:latin typeface="Century Gothic"/>
              </a:rPr>
              <a:t>The model with alpha = 0.1 yields a lower forecast value and demonstrates better accuracy with lower error metrics.</a:t>
            </a:r>
          </a:p>
          <a:p>
            <a:pPr>
              <a:lnSpc>
                <a:spcPct val="90000"/>
              </a:lnSpc>
            </a:pPr>
            <a:r>
              <a:rPr lang="en-US" sz="1400">
                <a:latin typeface="Century Gothic"/>
              </a:rPr>
              <a:t>The model with alpha = 0.8 predicts a higher coverage but with greater errors, indicating less reliability.</a:t>
            </a:r>
          </a:p>
          <a:p>
            <a:pPr>
              <a:lnSpc>
                <a:spcPct val="90000"/>
              </a:lnSpc>
            </a:pPr>
            <a:endParaRPr lang="en-US" sz="1400">
              <a:latin typeface="Century Gothic"/>
            </a:endParaRPr>
          </a:p>
          <a:p>
            <a:pPr>
              <a:lnSpc>
                <a:spcPct val="90000"/>
              </a:lnSpc>
            </a:pPr>
            <a:r>
              <a:rPr lang="en-US" sz="1400" b="1">
                <a:latin typeface="Century Gothic"/>
              </a:rPr>
              <a:t>Conclusion</a:t>
            </a:r>
            <a:r>
              <a:rPr lang="en-US" sz="1400">
                <a:latin typeface="Century Gothic"/>
              </a:rPr>
              <a:t>:</a:t>
            </a:r>
          </a:p>
          <a:p>
            <a:pPr>
              <a:lnSpc>
                <a:spcPct val="90000"/>
              </a:lnSpc>
            </a:pPr>
            <a:r>
              <a:rPr lang="en-US" sz="1400">
                <a:latin typeface="Century Gothic"/>
              </a:rPr>
              <a:t>The choice of alpha significantly impacts forecast accuracy and the model’s responsiveness to recent changes.</a:t>
            </a:r>
          </a:p>
        </p:txBody>
      </p:sp>
    </p:spTree>
    <p:extLst>
      <p:ext uri="{BB962C8B-B14F-4D97-AF65-F5344CB8AC3E}">
        <p14:creationId xmlns:p14="http://schemas.microsoft.com/office/powerpoint/2010/main" val="4897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B1086B-CB31-234E-6E19-D92FCCAD626F}"/>
              </a:ext>
            </a:extLst>
          </p:cNvPr>
          <p:cNvSpPr txBox="1"/>
          <p:nvPr/>
        </p:nvSpPr>
        <p:spPr>
          <a:xfrm>
            <a:off x="99296" y="242500"/>
            <a:ext cx="11990231" cy="101350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buClr>
                <a:schemeClr val="accent1">
                  <a:lumMod val="50000"/>
                </a:schemeClr>
              </a:buClr>
              <a:buSzPct val="80000"/>
            </a:pPr>
            <a:r>
              <a:rPr lang="en-US" sz="1600" b="1">
                <a:solidFill>
                  <a:schemeClr val="accent1">
                    <a:lumMod val="50000"/>
                  </a:schemeClr>
                </a:solidFill>
              </a:rPr>
              <a:t>QUESTION 3A: </a:t>
            </a:r>
            <a:r>
              <a:rPr lang="en-US" sz="1600">
                <a:solidFill>
                  <a:schemeClr val="accent1">
                    <a:lumMod val="50000"/>
                  </a:schemeClr>
                </a:solidFill>
              </a:rPr>
              <a:t>WHERE IS THE CHIEFDOM WITH THE LOWEST MALNUTRITION RATE LOCATED IN THE GEOGRAPHY OF SIERRA LEONE? NAME THE CHIEFDOMS NEAR THE CAPITAL CITY OF SIERRA LEONE WHICH HAVE A HIGH MALNUTRITION RATE. HINT: USE GOOGLE STREETS LAYER TO FIND THE CAPITAL CITY.</a:t>
            </a:r>
          </a:p>
          <a:p>
            <a:pPr>
              <a:lnSpc>
                <a:spcPct val="90000"/>
              </a:lnSpc>
              <a:spcAft>
                <a:spcPts val="600"/>
              </a:spcAft>
            </a:pPr>
            <a:endParaRPr lang="en-US" sz="1600"/>
          </a:p>
          <a:p>
            <a:pPr>
              <a:lnSpc>
                <a:spcPct val="90000"/>
              </a:lnSpc>
              <a:spcAft>
                <a:spcPts val="600"/>
              </a:spcAft>
            </a:pPr>
            <a:endParaRPr lang="en-US" sz="1600"/>
          </a:p>
          <a:p>
            <a:pPr>
              <a:lnSpc>
                <a:spcPct val="90000"/>
              </a:lnSpc>
              <a:spcAft>
                <a:spcPts val="600"/>
              </a:spcAft>
            </a:pPr>
            <a:endParaRPr lang="en-US" sz="1600"/>
          </a:p>
        </p:txBody>
      </p:sp>
      <p:sp>
        <p:nvSpPr>
          <p:cNvPr id="5" name="Content Placeholder 1">
            <a:extLst>
              <a:ext uri="{FF2B5EF4-FFF2-40B4-BE49-F238E27FC236}">
                <a16:creationId xmlns:a16="http://schemas.microsoft.com/office/drawing/2014/main" id="{886B7DA2-5B23-FC74-4762-A6F724BBE03B}"/>
              </a:ext>
            </a:extLst>
          </p:cNvPr>
          <p:cNvSpPr>
            <a:spLocks noGrp="1"/>
          </p:cNvSpPr>
          <p:nvPr>
            <p:ph sz="half" idx="1"/>
          </p:nvPr>
        </p:nvSpPr>
        <p:spPr>
          <a:xfrm>
            <a:off x="359782" y="1638054"/>
            <a:ext cx="6273922" cy="4707665"/>
          </a:xfrm>
        </p:spPr>
        <p:txBody>
          <a:bodyPr vert="horz" lIns="91440" tIns="45720" rIns="91440" bIns="45720" rtlCol="0" anchor="t">
            <a:normAutofit fontScale="92500" lnSpcReduction="20000"/>
          </a:bodyPr>
          <a:lstStyle/>
          <a:p>
            <a:pPr marL="45720" indent="0">
              <a:buNone/>
            </a:pPr>
            <a:r>
              <a:rPr lang="en-US" b="1">
                <a:latin typeface="Century Gothic"/>
              </a:rPr>
              <a:t>Steps</a:t>
            </a:r>
            <a:endParaRPr lang="en-US">
              <a:latin typeface="Century Gothic"/>
            </a:endParaRPr>
          </a:p>
          <a:p>
            <a:pPr marL="388620" indent="-342900">
              <a:buAutoNum type="arabicPeriod"/>
            </a:pPr>
            <a:r>
              <a:rPr lang="en-US" sz="2000">
                <a:latin typeface="Century Gothic"/>
              </a:rPr>
              <a:t>Data Visualizer App</a:t>
            </a:r>
          </a:p>
          <a:p>
            <a:pPr marL="617220" lvl="1">
              <a:buClr>
                <a:srgbClr val="1F4E79"/>
              </a:buClr>
              <a:buFont typeface="Wingdings"/>
              <a:buChar char="q"/>
            </a:pPr>
            <a:r>
              <a:rPr lang="en-US" sz="1800">
                <a:latin typeface="Century Gothic"/>
              </a:rPr>
              <a:t>Data (Series):</a:t>
            </a:r>
          </a:p>
          <a:p>
            <a:pPr marL="845820" lvl="2">
              <a:buClr>
                <a:srgbClr val="1F4E79"/>
              </a:buClr>
              <a:buFont typeface="Wingdings"/>
              <a:buChar char="§"/>
            </a:pPr>
            <a:r>
              <a:rPr lang="en-US" sz="1600">
                <a:latin typeface="Century Gothic"/>
              </a:rPr>
              <a:t>Indicator: Severe malnutrition rate</a:t>
            </a:r>
          </a:p>
          <a:p>
            <a:pPr marL="617220" lvl="1">
              <a:buClr>
                <a:srgbClr val="1F4E79"/>
              </a:buClr>
              <a:buFont typeface="Wingdings"/>
              <a:buChar char="q"/>
            </a:pPr>
            <a:r>
              <a:rPr lang="en-US" sz="1800">
                <a:latin typeface="Century Gothic"/>
              </a:rPr>
              <a:t>Period (Category): </a:t>
            </a:r>
          </a:p>
          <a:p>
            <a:pPr marL="845820" lvl="2">
              <a:buClr>
                <a:srgbClr val="1F4E79"/>
              </a:buClr>
              <a:buFont typeface="Wingdings"/>
              <a:buChar char="§"/>
            </a:pPr>
            <a:r>
              <a:rPr lang="en-US" sz="1600">
                <a:latin typeface="Century Gothic"/>
              </a:rPr>
              <a:t>Relative; last 12 months</a:t>
            </a:r>
            <a:endParaRPr lang="en-US" sz="1600"/>
          </a:p>
          <a:p>
            <a:pPr marL="617220" lvl="1">
              <a:buClr>
                <a:srgbClr val="1F4E79"/>
              </a:buClr>
              <a:buFont typeface="Wingdings"/>
              <a:buChar char="q"/>
            </a:pPr>
            <a:r>
              <a:rPr lang="en-US" sz="1800" err="1">
                <a:latin typeface="Century Gothic"/>
              </a:rPr>
              <a:t>OrgUnits</a:t>
            </a:r>
            <a:r>
              <a:rPr lang="en-US" sz="1800">
                <a:latin typeface="Century Gothic"/>
              </a:rPr>
              <a:t> (Filter):</a:t>
            </a:r>
          </a:p>
          <a:p>
            <a:pPr marL="845820" lvl="2">
              <a:buClr>
                <a:srgbClr val="1F4E79"/>
              </a:buClr>
              <a:buFont typeface="Wingdings"/>
              <a:buChar char="§"/>
            </a:pPr>
            <a:r>
              <a:rPr lang="en-US" sz="1600">
                <a:latin typeface="Century Gothic"/>
              </a:rPr>
              <a:t>Level = Chiefdom</a:t>
            </a:r>
            <a:endParaRPr lang="en-US" sz="1600"/>
          </a:p>
          <a:p>
            <a:pPr>
              <a:buAutoNum type="arabicPeriod"/>
            </a:pPr>
            <a:r>
              <a:rPr lang="en-US" sz="2000">
                <a:latin typeface="Century Gothic"/>
              </a:rPr>
              <a:t>Pivot Table</a:t>
            </a:r>
          </a:p>
          <a:p>
            <a:pPr lvl="1">
              <a:buClr>
                <a:srgbClr val="1F4E79"/>
              </a:buClr>
              <a:buFont typeface="Wingdings" pitchFamily="34" charset="0"/>
              <a:buChar char="q"/>
            </a:pPr>
            <a:r>
              <a:rPr lang="en-US" sz="1600">
                <a:latin typeface="Century Gothic"/>
              </a:rPr>
              <a:t>Sort in ascending order</a:t>
            </a:r>
          </a:p>
          <a:p>
            <a:pPr>
              <a:buClr>
                <a:srgbClr val="1F4E79"/>
              </a:buClr>
              <a:buAutoNum type="arabicPeriod"/>
            </a:pPr>
            <a:r>
              <a:rPr lang="en-US" sz="2000">
                <a:latin typeface="Century Gothic"/>
              </a:rPr>
              <a:t>Map</a:t>
            </a:r>
          </a:p>
          <a:p>
            <a:pPr lvl="1">
              <a:buClr>
                <a:srgbClr val="1F4E79"/>
              </a:buClr>
              <a:buFont typeface="Wingdings,Sans-Serif" pitchFamily="34" charset="0"/>
              <a:buChar char="q"/>
            </a:pPr>
            <a:r>
              <a:rPr lang="en-US" sz="1700">
                <a:latin typeface="Century Gothic"/>
                <a:cs typeface="Arial"/>
              </a:rPr>
              <a:t>Choropleth</a:t>
            </a:r>
          </a:p>
          <a:p>
            <a:pPr lvl="2">
              <a:buClr>
                <a:srgbClr val="1F4E79"/>
              </a:buClr>
              <a:buFont typeface="Wingdings,Sans-Serif" pitchFamily="34" charset="0"/>
              <a:buChar char="§"/>
            </a:pPr>
            <a:r>
              <a:rPr lang="en-US" sz="1500">
                <a:latin typeface="Century Gothic"/>
                <a:cs typeface="Arial"/>
              </a:rPr>
              <a:t>Classes = 9</a:t>
            </a:r>
          </a:p>
          <a:p>
            <a:pPr lvl="2">
              <a:lnSpc>
                <a:spcPct val="80000"/>
              </a:lnSpc>
              <a:buClr>
                <a:srgbClr val="1F4E79"/>
              </a:buClr>
              <a:buFont typeface="Wingdings,Sans-Serif" pitchFamily="34" charset="0"/>
              <a:buChar char="§"/>
            </a:pPr>
            <a:r>
              <a:rPr lang="en-US" sz="1500">
                <a:latin typeface="Century Gothic"/>
                <a:cs typeface="Arial"/>
              </a:rPr>
              <a:t>Display value labels</a:t>
            </a:r>
            <a:endParaRPr lang="en-US" sz="1500">
              <a:latin typeface="Century Gothic"/>
            </a:endParaRPr>
          </a:p>
          <a:p>
            <a:pPr lvl="1">
              <a:buClr>
                <a:srgbClr val="1F4E79"/>
              </a:buClr>
              <a:buFont typeface="Wingdings" pitchFamily="34" charset="0"/>
              <a:buChar char="q"/>
            </a:pPr>
            <a:r>
              <a:rPr lang="en-US" sz="1700">
                <a:latin typeface="Century Gothic"/>
              </a:rPr>
              <a:t>Bing Road Layer</a:t>
            </a:r>
          </a:p>
          <a:p>
            <a:pPr lvl="1">
              <a:buClr>
                <a:srgbClr val="1F4E79"/>
              </a:buClr>
              <a:buFont typeface="Wingdings" pitchFamily="34" charset="0"/>
              <a:buChar char="q"/>
            </a:pPr>
            <a:r>
              <a:rPr lang="en-US" sz="1700">
                <a:latin typeface="Century Gothic"/>
              </a:rPr>
              <a:t>Measurement tool to approximate dis</a:t>
            </a:r>
            <a:r>
              <a:rPr lang="en-US" sz="1600">
                <a:latin typeface="Century Gothic"/>
              </a:rPr>
              <a:t>tances</a:t>
            </a:r>
          </a:p>
          <a:p>
            <a:pPr marL="45720" indent="0">
              <a:buNone/>
            </a:pPr>
            <a:endParaRPr lang="en-US" sz="1800">
              <a:latin typeface="Century Gothic"/>
            </a:endParaRPr>
          </a:p>
          <a:p>
            <a:pPr marL="45720" indent="0">
              <a:buNone/>
            </a:pPr>
            <a:endParaRPr lang="en-US" sz="1800">
              <a:latin typeface="Century Gothic"/>
            </a:endParaRPr>
          </a:p>
        </p:txBody>
      </p:sp>
      <p:grpSp>
        <p:nvGrpSpPr>
          <p:cNvPr id="3" name="Group 2">
            <a:extLst>
              <a:ext uri="{FF2B5EF4-FFF2-40B4-BE49-F238E27FC236}">
                <a16:creationId xmlns:a16="http://schemas.microsoft.com/office/drawing/2014/main" id="{1241558D-8902-A9C1-CB8F-AE7EDB764674}"/>
              </a:ext>
            </a:extLst>
          </p:cNvPr>
          <p:cNvGrpSpPr/>
          <p:nvPr/>
        </p:nvGrpSpPr>
        <p:grpSpPr>
          <a:xfrm>
            <a:off x="5833815" y="1077546"/>
            <a:ext cx="5948790" cy="5646767"/>
            <a:chOff x="4836381" y="1086702"/>
            <a:chExt cx="5948790" cy="5646767"/>
          </a:xfrm>
        </p:grpSpPr>
        <p:pic>
          <p:nvPicPr>
            <p:cNvPr id="4" name="Picture 3" descr="A screenshot of a computer&#10;&#10;Description automatically generated">
              <a:extLst>
                <a:ext uri="{FF2B5EF4-FFF2-40B4-BE49-F238E27FC236}">
                  <a16:creationId xmlns:a16="http://schemas.microsoft.com/office/drawing/2014/main" id="{97376E33-39EF-A15C-DA9B-BEB7F4016775}"/>
                </a:ext>
              </a:extLst>
            </p:cNvPr>
            <p:cNvPicPr>
              <a:picLocks noChangeAspect="1"/>
            </p:cNvPicPr>
            <p:nvPr/>
          </p:nvPicPr>
          <p:blipFill>
            <a:blip r:embed="rId2"/>
            <a:stretch>
              <a:fillRect/>
            </a:stretch>
          </p:blipFill>
          <p:spPr>
            <a:xfrm>
              <a:off x="5029271" y="1086702"/>
              <a:ext cx="5755900" cy="5646767"/>
            </a:xfrm>
            <a:prstGeom prst="rect">
              <a:avLst/>
            </a:prstGeom>
          </p:spPr>
        </p:pic>
        <p:cxnSp>
          <p:nvCxnSpPr>
            <p:cNvPr id="6" name="Straight Arrow Connector 5">
              <a:extLst>
                <a:ext uri="{FF2B5EF4-FFF2-40B4-BE49-F238E27FC236}">
                  <a16:creationId xmlns:a16="http://schemas.microsoft.com/office/drawing/2014/main" id="{AB3DF360-1137-41E9-102D-029E9E6C5240}"/>
                </a:ext>
              </a:extLst>
            </p:cNvPr>
            <p:cNvCxnSpPr/>
            <p:nvPr/>
          </p:nvCxnSpPr>
          <p:spPr>
            <a:xfrm>
              <a:off x="4836381" y="5558750"/>
              <a:ext cx="1520905" cy="8258"/>
            </a:xfrm>
            <a:prstGeom prst="straightConnector1">
              <a:avLst/>
            </a:prstGeom>
            <a:ln>
              <a:solidFill>
                <a:srgbClr val="C00000"/>
              </a:solidFill>
              <a:tailEnd type="triangle"/>
            </a:ln>
          </p:spPr>
          <p:style>
            <a:lnRef idx="3">
              <a:schemeClr val="accent1"/>
            </a:lnRef>
            <a:fillRef idx="0">
              <a:schemeClr val="accent1"/>
            </a:fillRef>
            <a:effectRef idx="2">
              <a:schemeClr val="accent1"/>
            </a:effectRef>
            <a:fontRef idx="minor">
              <a:schemeClr val="tx1"/>
            </a:fontRef>
          </p:style>
        </p:cxnSp>
      </p:grpSp>
    </p:spTree>
    <p:extLst>
      <p:ext uri="{BB962C8B-B14F-4D97-AF65-F5344CB8AC3E}">
        <p14:creationId xmlns:p14="http://schemas.microsoft.com/office/powerpoint/2010/main" val="18037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map of the state of sierra leone&#10;&#10;Description automatically generated">
            <a:extLst>
              <a:ext uri="{FF2B5EF4-FFF2-40B4-BE49-F238E27FC236}">
                <a16:creationId xmlns:a16="http://schemas.microsoft.com/office/drawing/2014/main" id="{35434FDB-C3FE-40EF-82D5-EA5B175182F5}"/>
              </a:ext>
            </a:extLst>
          </p:cNvPr>
          <p:cNvPicPr>
            <a:picLocks noChangeAspect="1"/>
          </p:cNvPicPr>
          <p:nvPr/>
        </p:nvPicPr>
        <p:blipFill>
          <a:blip r:embed="rId2"/>
          <a:stretch>
            <a:fillRect/>
          </a:stretch>
        </p:blipFill>
        <p:spPr>
          <a:xfrm>
            <a:off x="2698458" y="730110"/>
            <a:ext cx="9220150" cy="5391964"/>
          </a:xfrm>
          <a:prstGeom prst="rect">
            <a:avLst/>
          </a:prstGeom>
        </p:spPr>
      </p:pic>
      <p:sp>
        <p:nvSpPr>
          <p:cNvPr id="3" name="TextBox 2">
            <a:extLst>
              <a:ext uri="{FF2B5EF4-FFF2-40B4-BE49-F238E27FC236}">
                <a16:creationId xmlns:a16="http://schemas.microsoft.com/office/drawing/2014/main" id="{98A65059-F07E-998F-49B5-B1D080936D6B}"/>
              </a:ext>
            </a:extLst>
          </p:cNvPr>
          <p:cNvSpPr txBox="1"/>
          <p:nvPr/>
        </p:nvSpPr>
        <p:spPr>
          <a:xfrm>
            <a:off x="134749" y="2084002"/>
            <a:ext cx="2510978" cy="535531"/>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1600">
                <a:ea typeface="+mn-lt"/>
                <a:cs typeface="+mn-lt"/>
              </a:rPr>
              <a:t>Highest near Free town: considering 75mi radius</a:t>
            </a:r>
            <a:endParaRPr lang="en-US" sz="1600"/>
          </a:p>
        </p:txBody>
      </p:sp>
      <p:graphicFrame>
        <p:nvGraphicFramePr>
          <p:cNvPr id="5" name="Table 4">
            <a:extLst>
              <a:ext uri="{FF2B5EF4-FFF2-40B4-BE49-F238E27FC236}">
                <a16:creationId xmlns:a16="http://schemas.microsoft.com/office/drawing/2014/main" id="{CF540145-9EF4-6C1B-5FB3-AD1F5EC4A1E0}"/>
              </a:ext>
            </a:extLst>
          </p:cNvPr>
          <p:cNvGraphicFramePr>
            <a:graphicFrameLocks noGrp="1"/>
          </p:cNvGraphicFramePr>
          <p:nvPr>
            <p:extLst>
              <p:ext uri="{D42A27DB-BD31-4B8C-83A1-F6EECF244321}">
                <p14:modId xmlns:p14="http://schemas.microsoft.com/office/powerpoint/2010/main" val="2663717759"/>
              </p:ext>
            </p:extLst>
          </p:nvPr>
        </p:nvGraphicFramePr>
        <p:xfrm>
          <a:off x="254732" y="2672648"/>
          <a:ext cx="2274328" cy="2214880"/>
        </p:xfrm>
        <a:graphic>
          <a:graphicData uri="http://schemas.openxmlformats.org/drawingml/2006/table">
            <a:tbl>
              <a:tblPr firstRow="1" bandRow="1">
                <a:tableStyleId>{3B4B98B0-60AC-42C2-AFA5-B58CD77FA1E5}</a:tableStyleId>
              </a:tblPr>
              <a:tblGrid>
                <a:gridCol w="1137164">
                  <a:extLst>
                    <a:ext uri="{9D8B030D-6E8A-4147-A177-3AD203B41FA5}">
                      <a16:colId xmlns:a16="http://schemas.microsoft.com/office/drawing/2014/main" val="2367673007"/>
                    </a:ext>
                  </a:extLst>
                </a:gridCol>
                <a:gridCol w="1137164">
                  <a:extLst>
                    <a:ext uri="{9D8B030D-6E8A-4147-A177-3AD203B41FA5}">
                      <a16:colId xmlns:a16="http://schemas.microsoft.com/office/drawing/2014/main" val="3598988049"/>
                    </a:ext>
                  </a:extLst>
                </a:gridCol>
              </a:tblGrid>
              <a:tr h="370840">
                <a:tc>
                  <a:txBody>
                    <a:bodyPr/>
                    <a:lstStyle/>
                    <a:p>
                      <a:pPr algn="ctr"/>
                      <a:r>
                        <a:rPr lang="en-US" sz="1400"/>
                        <a:t>Chiefdom</a:t>
                      </a:r>
                    </a:p>
                  </a:txBody>
                  <a:tcPr/>
                </a:tc>
                <a:tc>
                  <a:txBody>
                    <a:bodyPr/>
                    <a:lstStyle/>
                    <a:p>
                      <a:pPr algn="ctr"/>
                      <a:r>
                        <a:rPr lang="en-US" sz="1400"/>
                        <a:t>Distance to Capital City</a:t>
                      </a:r>
                    </a:p>
                  </a:txBody>
                  <a:tcPr/>
                </a:tc>
                <a:extLst>
                  <a:ext uri="{0D108BD9-81ED-4DB2-BD59-A6C34878D82A}">
                    <a16:rowId xmlns:a16="http://schemas.microsoft.com/office/drawing/2014/main" val="1404438045"/>
                  </a:ext>
                </a:extLst>
              </a:tr>
              <a:tr h="370840">
                <a:tc>
                  <a:txBody>
                    <a:bodyPr/>
                    <a:lstStyle/>
                    <a:p>
                      <a:pPr algn="ctr"/>
                      <a:r>
                        <a:rPr lang="en-US" sz="1400" err="1"/>
                        <a:t>Masimera</a:t>
                      </a:r>
                      <a:endParaRPr lang="en-US" sz="1400"/>
                    </a:p>
                  </a:txBody>
                  <a:tcPr/>
                </a:tc>
                <a:tc>
                  <a:txBody>
                    <a:bodyPr/>
                    <a:lstStyle/>
                    <a:p>
                      <a:pPr algn="ctr"/>
                      <a:r>
                        <a:rPr lang="en-US" sz="1400"/>
                        <a:t>52 miles</a:t>
                      </a:r>
                    </a:p>
                  </a:txBody>
                  <a:tcPr/>
                </a:tc>
                <a:extLst>
                  <a:ext uri="{0D108BD9-81ED-4DB2-BD59-A6C34878D82A}">
                    <a16:rowId xmlns:a16="http://schemas.microsoft.com/office/drawing/2014/main" val="4210863097"/>
                  </a:ext>
                </a:extLst>
              </a:tr>
              <a:tr h="370840">
                <a:tc>
                  <a:txBody>
                    <a:bodyPr/>
                    <a:lstStyle/>
                    <a:p>
                      <a:pPr algn="ctr"/>
                      <a:r>
                        <a:rPr lang="en-US" sz="1400"/>
                        <a:t>Dibia</a:t>
                      </a:r>
                    </a:p>
                  </a:txBody>
                  <a:tcPr/>
                </a:tc>
                <a:tc>
                  <a:txBody>
                    <a:bodyPr/>
                    <a:lstStyle/>
                    <a:p>
                      <a:pPr algn="ctr"/>
                      <a:r>
                        <a:rPr lang="en-US" sz="1400"/>
                        <a:t>58 miles</a:t>
                      </a:r>
                    </a:p>
                  </a:txBody>
                  <a:tcPr/>
                </a:tc>
                <a:extLst>
                  <a:ext uri="{0D108BD9-81ED-4DB2-BD59-A6C34878D82A}">
                    <a16:rowId xmlns:a16="http://schemas.microsoft.com/office/drawing/2014/main" val="3652562661"/>
                  </a:ext>
                </a:extLst>
              </a:tr>
              <a:tr h="370840">
                <a:tc>
                  <a:txBody>
                    <a:bodyPr/>
                    <a:lstStyle/>
                    <a:p>
                      <a:pPr algn="ctr"/>
                      <a:r>
                        <a:rPr lang="en-US" sz="1400"/>
                        <a:t>Faunya</a:t>
                      </a:r>
                    </a:p>
                  </a:txBody>
                  <a:tcPr/>
                </a:tc>
                <a:tc>
                  <a:txBody>
                    <a:bodyPr/>
                    <a:lstStyle/>
                    <a:p>
                      <a:pPr algn="ctr"/>
                      <a:r>
                        <a:rPr lang="en-US" sz="1400"/>
                        <a:t>64 miles</a:t>
                      </a:r>
                    </a:p>
                  </a:txBody>
                  <a:tcPr/>
                </a:tc>
                <a:extLst>
                  <a:ext uri="{0D108BD9-81ED-4DB2-BD59-A6C34878D82A}">
                    <a16:rowId xmlns:a16="http://schemas.microsoft.com/office/drawing/2014/main" val="3635861882"/>
                  </a:ext>
                </a:extLst>
              </a:tr>
              <a:tr h="370840">
                <a:tc>
                  <a:txBody>
                    <a:bodyPr/>
                    <a:lstStyle/>
                    <a:p>
                      <a:pPr algn="ctr"/>
                      <a:r>
                        <a:rPr lang="en-US" sz="1400"/>
                        <a:t>Dema</a:t>
                      </a:r>
                    </a:p>
                  </a:txBody>
                  <a:tcPr/>
                </a:tc>
                <a:tc>
                  <a:txBody>
                    <a:bodyPr/>
                    <a:lstStyle/>
                    <a:p>
                      <a:pPr algn="ctr"/>
                      <a:r>
                        <a:rPr lang="en-US" sz="1400"/>
                        <a:t>72 miles</a:t>
                      </a:r>
                    </a:p>
                  </a:txBody>
                  <a:tcPr/>
                </a:tc>
                <a:extLst>
                  <a:ext uri="{0D108BD9-81ED-4DB2-BD59-A6C34878D82A}">
                    <a16:rowId xmlns:a16="http://schemas.microsoft.com/office/drawing/2014/main" val="863968603"/>
                  </a:ext>
                </a:extLst>
              </a:tr>
            </a:tbl>
          </a:graphicData>
        </a:graphic>
      </p:graphicFrame>
    </p:spTree>
    <p:extLst>
      <p:ext uri="{BB962C8B-B14F-4D97-AF65-F5344CB8AC3E}">
        <p14:creationId xmlns:p14="http://schemas.microsoft.com/office/powerpoint/2010/main" val="2936458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B1086B-CB31-234E-6E19-D92FCCAD626F}"/>
              </a:ext>
            </a:extLst>
          </p:cNvPr>
          <p:cNvSpPr txBox="1"/>
          <p:nvPr/>
        </p:nvSpPr>
        <p:spPr>
          <a:xfrm>
            <a:off x="99296" y="178407"/>
            <a:ext cx="11990231" cy="101350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1600" b="1">
                <a:solidFill>
                  <a:schemeClr val="accent1">
                    <a:lumMod val="50000"/>
                  </a:schemeClr>
                </a:solidFill>
                <a:ea typeface="+mn-lt"/>
                <a:cs typeface="+mn-lt"/>
              </a:rPr>
              <a:t>QUESTION 3A: </a:t>
            </a:r>
            <a:r>
              <a:rPr lang="en-US" sz="1600">
                <a:solidFill>
                  <a:schemeClr val="accent1">
                    <a:lumMod val="50000"/>
                  </a:schemeClr>
                </a:solidFill>
                <a:ea typeface="+mn-lt"/>
                <a:cs typeface="+mn-lt"/>
              </a:rPr>
              <a:t>WHERE IS THE CHIEFDOM WITH THE LOWEST MALNUTRITION RATE LOCATED IN THE GEOGRAPHY OF SIERRA LEONE? NAME THE CHIEFDOMS NEAR THE CAPITAL CITY OF SIERRA LEONE WHICH HAVE A HIGH MALNUTRITION RATE. HINT: USE GOOGLE STREETS LAYER TO FIND THE CAPITAL CITY.</a:t>
            </a:r>
          </a:p>
          <a:p>
            <a:pPr>
              <a:lnSpc>
                <a:spcPct val="90000"/>
              </a:lnSpc>
              <a:spcAft>
                <a:spcPts val="600"/>
              </a:spcAft>
            </a:pPr>
            <a:endParaRPr lang="en-US" sz="1600">
              <a:solidFill>
                <a:srgbClr val="000000"/>
              </a:solidFill>
              <a:ea typeface="+mn-lt"/>
              <a:cs typeface="+mn-lt"/>
            </a:endParaRPr>
          </a:p>
          <a:p>
            <a:pPr>
              <a:lnSpc>
                <a:spcPct val="90000"/>
              </a:lnSpc>
              <a:spcAft>
                <a:spcPts val="600"/>
              </a:spcAft>
            </a:pPr>
            <a:endParaRPr lang="en-US" sz="1600">
              <a:ea typeface="+mn-lt"/>
              <a:cs typeface="+mn-lt"/>
            </a:endParaRPr>
          </a:p>
          <a:p>
            <a:pPr>
              <a:lnSpc>
                <a:spcPct val="90000"/>
              </a:lnSpc>
              <a:spcAft>
                <a:spcPts val="600"/>
              </a:spcAft>
            </a:pPr>
            <a:endParaRPr lang="en-US" sz="1600">
              <a:ea typeface="+mn-lt"/>
              <a:cs typeface="+mn-lt"/>
            </a:endParaRPr>
          </a:p>
          <a:p>
            <a:pPr>
              <a:lnSpc>
                <a:spcPct val="90000"/>
              </a:lnSpc>
              <a:spcAft>
                <a:spcPts val="600"/>
              </a:spcAft>
            </a:pPr>
            <a:endParaRPr lang="en-US" sz="1600">
              <a:solidFill>
                <a:schemeClr val="accent1">
                  <a:lumMod val="50000"/>
                </a:schemeClr>
              </a:solidFill>
            </a:endParaRPr>
          </a:p>
        </p:txBody>
      </p:sp>
      <p:grpSp>
        <p:nvGrpSpPr>
          <p:cNvPr id="3" name="Group 2">
            <a:extLst>
              <a:ext uri="{FF2B5EF4-FFF2-40B4-BE49-F238E27FC236}">
                <a16:creationId xmlns:a16="http://schemas.microsoft.com/office/drawing/2014/main" id="{D39A988F-46CE-2D83-6EE4-5E5729C4A195}"/>
              </a:ext>
            </a:extLst>
          </p:cNvPr>
          <p:cNvGrpSpPr/>
          <p:nvPr/>
        </p:nvGrpSpPr>
        <p:grpSpPr>
          <a:xfrm>
            <a:off x="5858543" y="1003737"/>
            <a:ext cx="6079783" cy="5783317"/>
            <a:chOff x="5858543" y="1003737"/>
            <a:chExt cx="6079783" cy="5783317"/>
          </a:xfrm>
        </p:grpSpPr>
        <p:pic>
          <p:nvPicPr>
            <p:cNvPr id="4" name="Picture 3" descr="A screenshot of a calendar&#10;&#10;Description automatically generated">
              <a:extLst>
                <a:ext uri="{FF2B5EF4-FFF2-40B4-BE49-F238E27FC236}">
                  <a16:creationId xmlns:a16="http://schemas.microsoft.com/office/drawing/2014/main" id="{C2F67D93-69C2-283E-9EA9-CFDCE61C92F2}"/>
                </a:ext>
              </a:extLst>
            </p:cNvPr>
            <p:cNvPicPr>
              <a:picLocks noChangeAspect="1"/>
            </p:cNvPicPr>
            <p:nvPr/>
          </p:nvPicPr>
          <p:blipFill>
            <a:blip r:embed="rId2"/>
            <a:stretch>
              <a:fillRect/>
            </a:stretch>
          </p:blipFill>
          <p:spPr>
            <a:xfrm>
              <a:off x="6193704" y="1003737"/>
              <a:ext cx="5744622" cy="5783317"/>
            </a:xfrm>
            <a:prstGeom prst="rect">
              <a:avLst/>
            </a:prstGeom>
          </p:spPr>
        </p:pic>
        <p:cxnSp>
          <p:nvCxnSpPr>
            <p:cNvPr id="6" name="Straight Arrow Connector 5">
              <a:extLst>
                <a:ext uri="{FF2B5EF4-FFF2-40B4-BE49-F238E27FC236}">
                  <a16:creationId xmlns:a16="http://schemas.microsoft.com/office/drawing/2014/main" id="{0BFCB87C-3038-E9A7-28A2-A882849EAE3E}"/>
                </a:ext>
              </a:extLst>
            </p:cNvPr>
            <p:cNvCxnSpPr/>
            <p:nvPr/>
          </p:nvCxnSpPr>
          <p:spPr>
            <a:xfrm>
              <a:off x="5858543" y="4672781"/>
              <a:ext cx="1520905" cy="8258"/>
            </a:xfrm>
            <a:prstGeom prst="straightConnector1">
              <a:avLst/>
            </a:prstGeom>
            <a:ln>
              <a:solidFill>
                <a:srgbClr val="C00000"/>
              </a:solidFill>
              <a:tailEnd type="triangle"/>
            </a:ln>
          </p:spPr>
          <p:style>
            <a:lnRef idx="3">
              <a:schemeClr val="accent1"/>
            </a:lnRef>
            <a:fillRef idx="0">
              <a:schemeClr val="accent1"/>
            </a:fillRef>
            <a:effectRef idx="2">
              <a:schemeClr val="accent1"/>
            </a:effectRef>
            <a:fontRef idx="minor">
              <a:schemeClr val="tx1"/>
            </a:fontRef>
          </p:style>
        </p:cxnSp>
      </p:grpSp>
      <p:sp>
        <p:nvSpPr>
          <p:cNvPr id="10" name="Content Placeholder 1">
            <a:extLst>
              <a:ext uri="{FF2B5EF4-FFF2-40B4-BE49-F238E27FC236}">
                <a16:creationId xmlns:a16="http://schemas.microsoft.com/office/drawing/2014/main" id="{A70800EB-E1C4-D996-171C-EACF4CE2CB1A}"/>
              </a:ext>
            </a:extLst>
          </p:cNvPr>
          <p:cNvSpPr txBox="1">
            <a:spLocks/>
          </p:cNvSpPr>
          <p:nvPr/>
        </p:nvSpPr>
        <p:spPr>
          <a:xfrm>
            <a:off x="359782" y="1537336"/>
            <a:ext cx="6273922" cy="4707665"/>
          </a:xfrm>
          <a:prstGeom prst="rect">
            <a:avLst/>
          </a:prstGeom>
        </p:spPr>
        <p:txBody>
          <a:bodyPr vert="horz" lIns="91440" tIns="45720" rIns="91440" bIns="45720" rtlCol="0" anchor="t">
            <a:normAutofit fontScale="92500" lnSpcReduction="20000"/>
          </a:bodyPr>
          <a:lst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a:lstStyle>
          <a:p>
            <a:pPr marL="45720" indent="0">
              <a:buFont typeface="Arial" pitchFamily="34" charset="0"/>
              <a:buNone/>
            </a:pPr>
            <a:r>
              <a:rPr lang="en-US" b="1">
                <a:latin typeface="Century Gothic"/>
              </a:rPr>
              <a:t>Steps</a:t>
            </a:r>
            <a:endParaRPr lang="en-US">
              <a:latin typeface="Century Gothic"/>
            </a:endParaRPr>
          </a:p>
          <a:p>
            <a:pPr marL="388620" indent="-342900">
              <a:buFont typeface="Arial" pitchFamily="34" charset="0"/>
              <a:buAutoNum type="arabicPeriod"/>
            </a:pPr>
            <a:r>
              <a:rPr lang="en-US" sz="2000">
                <a:latin typeface="Century Gothic"/>
              </a:rPr>
              <a:t>Data Visualizer App</a:t>
            </a:r>
          </a:p>
          <a:p>
            <a:pPr marL="617220" lvl="1">
              <a:buClr>
                <a:srgbClr val="1F4E79"/>
              </a:buClr>
              <a:buFont typeface="Wingdings"/>
              <a:buChar char="q"/>
            </a:pPr>
            <a:r>
              <a:rPr lang="en-US" sz="1800">
                <a:latin typeface="Century Gothic"/>
              </a:rPr>
              <a:t>Data (Series):</a:t>
            </a:r>
          </a:p>
          <a:p>
            <a:pPr marL="845820" lvl="2">
              <a:buClr>
                <a:srgbClr val="1F4E79"/>
              </a:buClr>
              <a:buFont typeface="Wingdings"/>
              <a:buChar char="§"/>
            </a:pPr>
            <a:r>
              <a:rPr lang="en-US" sz="1600">
                <a:latin typeface="Century Gothic"/>
              </a:rPr>
              <a:t>Indicator: Moderate malnutrition rate</a:t>
            </a:r>
          </a:p>
          <a:p>
            <a:pPr marL="617220" lvl="1">
              <a:buClr>
                <a:srgbClr val="1F4E79"/>
              </a:buClr>
              <a:buFont typeface="Wingdings"/>
              <a:buChar char="q"/>
            </a:pPr>
            <a:r>
              <a:rPr lang="en-US" sz="1800">
                <a:latin typeface="Century Gothic"/>
              </a:rPr>
              <a:t>Period (Category): </a:t>
            </a:r>
          </a:p>
          <a:p>
            <a:pPr marL="845820" lvl="2">
              <a:buClr>
                <a:srgbClr val="1F4E79"/>
              </a:buClr>
              <a:buFont typeface="Wingdings"/>
              <a:buChar char="§"/>
            </a:pPr>
            <a:r>
              <a:rPr lang="en-US" sz="1600">
                <a:latin typeface="Century Gothic"/>
              </a:rPr>
              <a:t>Relative; last 12 months</a:t>
            </a:r>
            <a:endParaRPr lang="en-US" sz="1600"/>
          </a:p>
          <a:p>
            <a:pPr marL="617220" lvl="1">
              <a:buClr>
                <a:srgbClr val="1F4E79"/>
              </a:buClr>
              <a:buFont typeface="Wingdings"/>
              <a:buChar char="q"/>
            </a:pPr>
            <a:r>
              <a:rPr lang="en-US" sz="1800" err="1">
                <a:latin typeface="Century Gothic"/>
              </a:rPr>
              <a:t>OrgUnits</a:t>
            </a:r>
            <a:r>
              <a:rPr lang="en-US" sz="1800">
                <a:latin typeface="Century Gothic"/>
              </a:rPr>
              <a:t> (Filter):</a:t>
            </a:r>
          </a:p>
          <a:p>
            <a:pPr marL="845820" lvl="2">
              <a:buClr>
                <a:srgbClr val="1F4E79"/>
              </a:buClr>
              <a:buFont typeface="Wingdings"/>
              <a:buChar char="§"/>
            </a:pPr>
            <a:r>
              <a:rPr lang="en-US" sz="1600">
                <a:latin typeface="Century Gothic"/>
              </a:rPr>
              <a:t>Level = Chiefdom</a:t>
            </a:r>
            <a:endParaRPr lang="en-US" sz="1600"/>
          </a:p>
          <a:p>
            <a:pPr>
              <a:buFont typeface="Arial" pitchFamily="34" charset="0"/>
              <a:buAutoNum type="arabicPeriod"/>
            </a:pPr>
            <a:r>
              <a:rPr lang="en-US" sz="2000">
                <a:latin typeface="Century Gothic"/>
              </a:rPr>
              <a:t>Pivot Table</a:t>
            </a:r>
          </a:p>
          <a:p>
            <a:pPr lvl="1">
              <a:buClr>
                <a:srgbClr val="1F4E79"/>
              </a:buClr>
              <a:buFont typeface="Wingdings" pitchFamily="34" charset="0"/>
              <a:buChar char="q"/>
            </a:pPr>
            <a:r>
              <a:rPr lang="en-US" sz="1600">
                <a:latin typeface="Century Gothic"/>
              </a:rPr>
              <a:t>Sort in ascending order</a:t>
            </a:r>
          </a:p>
          <a:p>
            <a:pPr>
              <a:buClr>
                <a:srgbClr val="1F4E79"/>
              </a:buClr>
              <a:buFont typeface="Arial" pitchFamily="34" charset="0"/>
              <a:buAutoNum type="arabicPeriod"/>
            </a:pPr>
            <a:r>
              <a:rPr lang="en-US" sz="2000">
                <a:latin typeface="Century Gothic"/>
              </a:rPr>
              <a:t>Map</a:t>
            </a:r>
          </a:p>
          <a:p>
            <a:pPr lvl="1">
              <a:buClr>
                <a:srgbClr val="1F4E79"/>
              </a:buClr>
              <a:buFont typeface="Wingdings,Sans-Serif" pitchFamily="34" charset="0"/>
              <a:buChar char="q"/>
            </a:pPr>
            <a:r>
              <a:rPr lang="en-US" sz="1700">
                <a:latin typeface="Century Gothic"/>
                <a:cs typeface="Arial"/>
              </a:rPr>
              <a:t>Choropleth</a:t>
            </a:r>
          </a:p>
          <a:p>
            <a:pPr lvl="2">
              <a:buClr>
                <a:srgbClr val="1F4E79"/>
              </a:buClr>
              <a:buFont typeface="Wingdings,Sans-Serif" pitchFamily="34" charset="0"/>
              <a:buChar char="§"/>
            </a:pPr>
            <a:r>
              <a:rPr lang="en-US" sz="1500">
                <a:latin typeface="Century Gothic"/>
                <a:cs typeface="Arial"/>
              </a:rPr>
              <a:t>Classes = 9</a:t>
            </a:r>
          </a:p>
          <a:p>
            <a:pPr lvl="2">
              <a:lnSpc>
                <a:spcPct val="80000"/>
              </a:lnSpc>
              <a:buClr>
                <a:srgbClr val="1F4E79"/>
              </a:buClr>
              <a:buFont typeface="Wingdings,Sans-Serif" pitchFamily="34" charset="0"/>
              <a:buChar char="§"/>
            </a:pPr>
            <a:r>
              <a:rPr lang="en-US" sz="1500">
                <a:latin typeface="Century Gothic"/>
                <a:cs typeface="Arial"/>
              </a:rPr>
              <a:t>Display value labels</a:t>
            </a:r>
            <a:endParaRPr lang="en-US" sz="1500">
              <a:latin typeface="Century Gothic"/>
            </a:endParaRPr>
          </a:p>
          <a:p>
            <a:pPr lvl="1">
              <a:buClr>
                <a:srgbClr val="1F4E79"/>
              </a:buClr>
              <a:buFont typeface="Wingdings" pitchFamily="34" charset="0"/>
              <a:buChar char="q"/>
            </a:pPr>
            <a:r>
              <a:rPr lang="en-US" sz="1700">
                <a:latin typeface="Century Gothic"/>
              </a:rPr>
              <a:t>Bing Road Layer</a:t>
            </a:r>
          </a:p>
          <a:p>
            <a:pPr lvl="1">
              <a:buClr>
                <a:srgbClr val="1F4E79"/>
              </a:buClr>
              <a:buFont typeface="Wingdings" pitchFamily="34" charset="0"/>
              <a:buChar char="q"/>
            </a:pPr>
            <a:r>
              <a:rPr lang="en-US" sz="1700">
                <a:latin typeface="Century Gothic"/>
              </a:rPr>
              <a:t>Measurement tool to approximate dis</a:t>
            </a:r>
            <a:r>
              <a:rPr lang="en-US" sz="1600">
                <a:latin typeface="Century Gothic"/>
              </a:rPr>
              <a:t>tances</a:t>
            </a:r>
          </a:p>
          <a:p>
            <a:pPr marL="45720" indent="0">
              <a:buFont typeface="Arial" pitchFamily="34" charset="0"/>
              <a:buNone/>
            </a:pPr>
            <a:endParaRPr lang="en-US" sz="1800">
              <a:latin typeface="Century Gothic"/>
            </a:endParaRPr>
          </a:p>
          <a:p>
            <a:pPr marL="45720" indent="0">
              <a:buFont typeface="Arial" pitchFamily="34" charset="0"/>
              <a:buNone/>
            </a:pPr>
            <a:endParaRPr lang="en-US" sz="1800">
              <a:latin typeface="Century Gothic"/>
            </a:endParaRPr>
          </a:p>
        </p:txBody>
      </p:sp>
    </p:spTree>
    <p:extLst>
      <p:ext uri="{BB962C8B-B14F-4D97-AF65-F5344CB8AC3E}">
        <p14:creationId xmlns:p14="http://schemas.microsoft.com/office/powerpoint/2010/main" val="417830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map of a country&#10;&#10;Description automatically generated">
            <a:extLst>
              <a:ext uri="{FF2B5EF4-FFF2-40B4-BE49-F238E27FC236}">
                <a16:creationId xmlns:a16="http://schemas.microsoft.com/office/drawing/2014/main" id="{BD77028F-2405-9811-48FD-DC9C72E23565}"/>
              </a:ext>
            </a:extLst>
          </p:cNvPr>
          <p:cNvPicPr>
            <a:picLocks noChangeAspect="1"/>
          </p:cNvPicPr>
          <p:nvPr/>
        </p:nvPicPr>
        <p:blipFill>
          <a:blip r:embed="rId2"/>
          <a:stretch>
            <a:fillRect/>
          </a:stretch>
        </p:blipFill>
        <p:spPr>
          <a:xfrm>
            <a:off x="2648308" y="857451"/>
            <a:ext cx="9362584" cy="5153293"/>
          </a:xfrm>
          <a:prstGeom prst="rect">
            <a:avLst/>
          </a:prstGeom>
        </p:spPr>
      </p:pic>
      <p:sp>
        <p:nvSpPr>
          <p:cNvPr id="4" name="TextBox 3">
            <a:extLst>
              <a:ext uri="{FF2B5EF4-FFF2-40B4-BE49-F238E27FC236}">
                <a16:creationId xmlns:a16="http://schemas.microsoft.com/office/drawing/2014/main" id="{D647CBE9-E4E4-D7E2-C1D0-0F5E50569BE8}"/>
              </a:ext>
            </a:extLst>
          </p:cNvPr>
          <p:cNvSpPr txBox="1"/>
          <p:nvPr/>
        </p:nvSpPr>
        <p:spPr>
          <a:xfrm>
            <a:off x="244559" y="1662817"/>
            <a:ext cx="2337114" cy="3194721"/>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1600">
                <a:ea typeface="+mn-lt"/>
                <a:cs typeface="+mn-lt"/>
              </a:rPr>
              <a:t>Highest near Free town: considering 75mi radius</a:t>
            </a:r>
          </a:p>
          <a:p>
            <a:pPr marL="285750" indent="-285750">
              <a:lnSpc>
                <a:spcPct val="90000"/>
              </a:lnSpc>
              <a:buFont typeface="Arial"/>
              <a:buChar char="•"/>
            </a:pPr>
            <a:r>
              <a:rPr lang="en-US" sz="1600" err="1">
                <a:latin typeface="Century Gothic"/>
                <a:cs typeface="Arial"/>
              </a:rPr>
              <a:t>Lokomasama</a:t>
            </a:r>
            <a:r>
              <a:rPr lang="en-US" sz="1600">
                <a:latin typeface="Century Gothic"/>
                <a:cs typeface="Arial"/>
              </a:rPr>
              <a:t>- 24 miles</a:t>
            </a:r>
          </a:p>
          <a:p>
            <a:pPr marL="285750" indent="-285750">
              <a:lnSpc>
                <a:spcPct val="90000"/>
              </a:lnSpc>
              <a:buFont typeface="Arial"/>
              <a:buChar char="•"/>
            </a:pPr>
            <a:r>
              <a:rPr lang="en-US" sz="1600" err="1">
                <a:latin typeface="Century Gothic"/>
                <a:cs typeface="Arial"/>
              </a:rPr>
              <a:t>Bumpeh</a:t>
            </a:r>
            <a:r>
              <a:rPr lang="en-US" sz="1600">
                <a:latin typeface="Century Gothic"/>
                <a:cs typeface="Arial"/>
              </a:rPr>
              <a:t>- 40 miles</a:t>
            </a:r>
          </a:p>
          <a:p>
            <a:pPr marL="285750" indent="-285750">
              <a:lnSpc>
                <a:spcPct val="90000"/>
              </a:lnSpc>
              <a:buFont typeface="Arial"/>
              <a:buChar char="•"/>
            </a:pPr>
            <a:r>
              <a:rPr lang="en-US" sz="1600" err="1">
                <a:latin typeface="Century Gothic"/>
                <a:cs typeface="Arial"/>
              </a:rPr>
              <a:t>Bagruwa</a:t>
            </a:r>
            <a:r>
              <a:rPr lang="en-US" sz="1600">
                <a:latin typeface="Century Gothic"/>
                <a:cs typeface="Arial"/>
              </a:rPr>
              <a:t>- 57 miles</a:t>
            </a:r>
          </a:p>
          <a:p>
            <a:pPr marL="285750" indent="-285750">
              <a:lnSpc>
                <a:spcPct val="90000"/>
              </a:lnSpc>
              <a:buFont typeface="Arial"/>
              <a:buChar char="•"/>
            </a:pPr>
            <a:r>
              <a:rPr lang="en-US" sz="1600" err="1">
                <a:latin typeface="Century Gothic"/>
                <a:cs typeface="Arial"/>
              </a:rPr>
              <a:t>Timidale</a:t>
            </a:r>
            <a:r>
              <a:rPr lang="en-US" sz="1600">
                <a:latin typeface="Century Gothic"/>
                <a:cs typeface="Arial"/>
              </a:rPr>
              <a:t>- 59 miles</a:t>
            </a:r>
          </a:p>
          <a:p>
            <a:pPr marL="285750" indent="-285750">
              <a:lnSpc>
                <a:spcPct val="90000"/>
              </a:lnSpc>
              <a:buFont typeface="Arial"/>
              <a:buChar char="•"/>
            </a:pPr>
            <a:r>
              <a:rPr lang="en-US" sz="1600">
                <a:cs typeface="Arial"/>
              </a:rPr>
              <a:t>Dibia- 60 miles</a:t>
            </a:r>
          </a:p>
          <a:p>
            <a:pPr marL="285750" indent="-285750">
              <a:lnSpc>
                <a:spcPct val="90000"/>
              </a:lnSpc>
              <a:buFont typeface="Arial"/>
              <a:buChar char="•"/>
            </a:pPr>
            <a:r>
              <a:rPr lang="en-US" sz="1600">
                <a:cs typeface="Arial"/>
              </a:rPr>
              <a:t>Dema- 64 miles</a:t>
            </a:r>
          </a:p>
          <a:p>
            <a:pPr marL="285750" indent="-285750">
              <a:lnSpc>
                <a:spcPct val="90000"/>
              </a:lnSpc>
              <a:buFont typeface="Arial"/>
              <a:buChar char="•"/>
            </a:pPr>
            <a:r>
              <a:rPr lang="en-US" sz="1600" err="1">
                <a:ea typeface="+mn-lt"/>
                <a:cs typeface="+mn-lt"/>
              </a:rPr>
              <a:t>Masimera</a:t>
            </a:r>
            <a:r>
              <a:rPr lang="en-US" sz="1600">
                <a:ea typeface="+mn-lt"/>
                <a:cs typeface="+mn-lt"/>
              </a:rPr>
              <a:t>- 69 miles</a:t>
            </a:r>
            <a:endParaRPr lang="en-US" sz="1600">
              <a:cs typeface="Arial"/>
            </a:endParaRPr>
          </a:p>
          <a:p>
            <a:pPr marL="285750" indent="-285750">
              <a:lnSpc>
                <a:spcPct val="90000"/>
              </a:lnSpc>
              <a:buFont typeface="Arial"/>
              <a:buChar char="•"/>
            </a:pPr>
            <a:r>
              <a:rPr lang="en-US" sz="1600" err="1">
                <a:cs typeface="Arial"/>
              </a:rPr>
              <a:t>Sittia</a:t>
            </a:r>
            <a:r>
              <a:rPr lang="en-US" sz="1600">
                <a:cs typeface="Arial"/>
              </a:rPr>
              <a:t>- 70 miles</a:t>
            </a:r>
          </a:p>
          <a:p>
            <a:pPr marL="285750" indent="-285750">
              <a:lnSpc>
                <a:spcPct val="90000"/>
              </a:lnSpc>
              <a:buFont typeface="Arial"/>
              <a:buChar char="•"/>
            </a:pPr>
            <a:r>
              <a:rPr lang="en-US" sz="1600">
                <a:cs typeface="Arial"/>
              </a:rPr>
              <a:t>Upper Banta- 71 miles</a:t>
            </a:r>
          </a:p>
        </p:txBody>
      </p:sp>
    </p:spTree>
    <p:extLst>
      <p:ext uri="{BB962C8B-B14F-4D97-AF65-F5344CB8AC3E}">
        <p14:creationId xmlns:p14="http://schemas.microsoft.com/office/powerpoint/2010/main" val="1249561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 y="274638"/>
            <a:ext cx="11881184" cy="1041720"/>
          </a:xfrm>
        </p:spPr>
        <p:txBody>
          <a:bodyPr>
            <a:noAutofit/>
          </a:bodyPr>
          <a:lstStyle/>
          <a:p>
            <a:r>
              <a:rPr lang="en-US" sz="1600" b="1"/>
              <a:t>Question 3b:</a:t>
            </a:r>
            <a:r>
              <a:rPr lang="en-US" sz="1600"/>
              <a:t> By analyzing the monthly choropleth maps of 2022 and 2023 for severe malnutrition rate by district using a computer vision algorithm, how well can you predict (given the same legend) the severe malnutrition rate of Bo district for November 2023, if all the other districts malnutrition rate is shown on the map.</a:t>
            </a:r>
          </a:p>
        </p:txBody>
      </p:sp>
      <p:pic>
        <p:nvPicPr>
          <p:cNvPr id="10" name="Content Placeholder 9" descr="A map of the united states&#10;&#10;Description automatically generated">
            <a:extLst>
              <a:ext uri="{FF2B5EF4-FFF2-40B4-BE49-F238E27FC236}">
                <a16:creationId xmlns:a16="http://schemas.microsoft.com/office/drawing/2014/main" id="{7B30B972-6B31-F66F-3914-7DB9DE65C7DF}"/>
              </a:ext>
            </a:extLst>
          </p:cNvPr>
          <p:cNvPicPr>
            <a:picLocks noGrp="1" noChangeAspect="1"/>
          </p:cNvPicPr>
          <p:nvPr>
            <p:ph sz="half" idx="2"/>
          </p:nvPr>
        </p:nvPicPr>
        <p:blipFill>
          <a:blip r:embed="rId3"/>
          <a:stretch>
            <a:fillRect/>
          </a:stretch>
        </p:blipFill>
        <p:spPr>
          <a:xfrm>
            <a:off x="5995627" y="2122643"/>
            <a:ext cx="5999401" cy="3861456"/>
          </a:xfrm>
        </p:spPr>
      </p:pic>
      <p:pic>
        <p:nvPicPr>
          <p:cNvPr id="12" name="Picture 11" descr="A graph of a number of months&#10;&#10;Description automatically generated with medium confidence">
            <a:extLst>
              <a:ext uri="{FF2B5EF4-FFF2-40B4-BE49-F238E27FC236}">
                <a16:creationId xmlns:a16="http://schemas.microsoft.com/office/drawing/2014/main" id="{1117F190-526F-05BF-2CCD-F87939E3912E}"/>
              </a:ext>
            </a:extLst>
          </p:cNvPr>
          <p:cNvPicPr>
            <a:picLocks noChangeAspect="1"/>
          </p:cNvPicPr>
          <p:nvPr/>
        </p:nvPicPr>
        <p:blipFill>
          <a:blip r:embed="rId4"/>
          <a:stretch>
            <a:fillRect/>
          </a:stretch>
        </p:blipFill>
        <p:spPr>
          <a:xfrm>
            <a:off x="6189424" y="1715131"/>
            <a:ext cx="1510352" cy="1250653"/>
          </a:xfrm>
          <a:prstGeom prst="rect">
            <a:avLst/>
          </a:prstGeom>
        </p:spPr>
      </p:pic>
      <p:sp>
        <p:nvSpPr>
          <p:cNvPr id="7" name="Content Placeholder 1">
            <a:extLst>
              <a:ext uri="{FF2B5EF4-FFF2-40B4-BE49-F238E27FC236}">
                <a16:creationId xmlns:a16="http://schemas.microsoft.com/office/drawing/2014/main" id="{EDC3E2AD-B09F-1664-E3A6-FCF2CAAC976A}"/>
              </a:ext>
            </a:extLst>
          </p:cNvPr>
          <p:cNvSpPr txBox="1">
            <a:spLocks/>
          </p:cNvSpPr>
          <p:nvPr/>
        </p:nvSpPr>
        <p:spPr>
          <a:xfrm>
            <a:off x="268274" y="2004303"/>
            <a:ext cx="6273922" cy="4707665"/>
          </a:xfrm>
          <a:prstGeom prst="rect">
            <a:avLst/>
          </a:prstGeom>
        </p:spPr>
        <p:txBody>
          <a:bodyPr vert="horz" lIns="91440" tIns="45720" rIns="91440" bIns="45720" rtlCol="0" anchor="t">
            <a:normAutofit/>
          </a:bodyPr>
          <a:lst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a:lstStyle>
          <a:p>
            <a:pPr marL="45720" indent="0">
              <a:buNone/>
            </a:pPr>
            <a:r>
              <a:rPr lang="en-US" b="1">
                <a:latin typeface="Century Gothic"/>
              </a:rPr>
              <a:t>Steps</a:t>
            </a:r>
            <a:endParaRPr lang="en-US">
              <a:latin typeface="Century Gothic"/>
            </a:endParaRPr>
          </a:p>
          <a:p>
            <a:pPr>
              <a:buClr>
                <a:srgbClr val="1F4E79"/>
              </a:buClr>
              <a:buFont typeface="Arial" pitchFamily="34" charset="0"/>
              <a:buAutoNum type="arabicPeriod"/>
            </a:pPr>
            <a:r>
              <a:rPr lang="en-US" sz="2000">
                <a:latin typeface="Century Gothic"/>
              </a:rPr>
              <a:t>Map</a:t>
            </a:r>
          </a:p>
          <a:p>
            <a:pPr lvl="1">
              <a:buClr>
                <a:srgbClr val="1F4E79"/>
              </a:buClr>
              <a:buFont typeface="Wingdings,Sans-Serif" pitchFamily="34" charset="0"/>
              <a:buChar char="q"/>
            </a:pPr>
            <a:r>
              <a:rPr lang="en-US" sz="1700">
                <a:latin typeface="Century Gothic"/>
                <a:cs typeface="Arial"/>
              </a:rPr>
              <a:t>Thematic Layer</a:t>
            </a:r>
          </a:p>
          <a:p>
            <a:pPr lvl="1">
              <a:buClr>
                <a:srgbClr val="1F4E79"/>
              </a:buClr>
              <a:buFont typeface="Wingdings,Sans-Serif" pitchFamily="34" charset="0"/>
              <a:buChar char="q"/>
            </a:pPr>
            <a:r>
              <a:rPr lang="en-US" sz="1700">
                <a:latin typeface="Century Gothic"/>
                <a:cs typeface="Arial"/>
              </a:rPr>
              <a:t>Data: Item type - Indicator</a:t>
            </a:r>
          </a:p>
          <a:p>
            <a:pPr lvl="2">
              <a:buClr>
                <a:srgbClr val="1F4E79"/>
              </a:buClr>
              <a:buFont typeface="Wingdings" pitchFamily="34" charset="0"/>
              <a:buChar char="§"/>
            </a:pPr>
            <a:r>
              <a:rPr lang="en-US" sz="1500">
                <a:latin typeface="Century Gothic"/>
                <a:cs typeface="Arial"/>
              </a:rPr>
              <a:t>Indicator Group – Nutrition</a:t>
            </a:r>
          </a:p>
          <a:p>
            <a:pPr lvl="2">
              <a:buClr>
                <a:srgbClr val="1F4E79"/>
              </a:buClr>
              <a:buFont typeface="Wingdings" pitchFamily="34" charset="0"/>
              <a:buChar char="§"/>
            </a:pPr>
            <a:r>
              <a:rPr lang="en-US" sz="1500">
                <a:latin typeface="Century Gothic"/>
                <a:cs typeface="Arial"/>
              </a:rPr>
              <a:t>Indicator – Severe malnutrition rates</a:t>
            </a:r>
          </a:p>
          <a:p>
            <a:pPr lvl="3">
              <a:buClr>
                <a:srgbClr val="1F4E79"/>
              </a:buClr>
              <a:buAutoNum type="arabicPeriod"/>
            </a:pPr>
            <a:r>
              <a:rPr lang="en-US" sz="1300">
                <a:latin typeface="Century Gothic"/>
                <a:cs typeface="Arial"/>
              </a:rPr>
              <a:t>Aggregated by data element</a:t>
            </a:r>
          </a:p>
          <a:p>
            <a:pPr lvl="1">
              <a:buClr>
                <a:srgbClr val="1F4E79"/>
              </a:buClr>
              <a:buFont typeface="Wingdings,Sans-Serif" pitchFamily="34" charset="0"/>
              <a:buChar char="q"/>
            </a:pPr>
            <a:r>
              <a:rPr lang="en-US" sz="1700">
                <a:latin typeface="Century Gothic"/>
                <a:cs typeface="Arial"/>
              </a:rPr>
              <a:t>Period: Monthly from Jan 22 to Sept 23</a:t>
            </a:r>
          </a:p>
          <a:p>
            <a:pPr lvl="1">
              <a:buClr>
                <a:srgbClr val="1F4E79"/>
              </a:buClr>
              <a:buFont typeface="Wingdings,Sans-Serif" pitchFamily="34" charset="0"/>
              <a:buChar char="q"/>
            </a:pPr>
            <a:r>
              <a:rPr lang="en-US" sz="1700" err="1">
                <a:latin typeface="Century Gothic"/>
                <a:cs typeface="Arial"/>
              </a:rPr>
              <a:t>OrgUnits</a:t>
            </a:r>
            <a:r>
              <a:rPr lang="en-US" sz="1700">
                <a:latin typeface="Century Gothic"/>
                <a:cs typeface="Arial"/>
              </a:rPr>
              <a:t>: Sierra Leone</a:t>
            </a:r>
          </a:p>
          <a:p>
            <a:pPr lvl="2">
              <a:buClr>
                <a:srgbClr val="1F4E79"/>
              </a:buClr>
              <a:buFont typeface="Wingdings" pitchFamily="34" charset="0"/>
              <a:buChar char="§"/>
            </a:pPr>
            <a:r>
              <a:rPr lang="en-US" sz="1500">
                <a:latin typeface="Century Gothic"/>
                <a:cs typeface="Arial"/>
              </a:rPr>
              <a:t>Level = District</a:t>
            </a:r>
          </a:p>
          <a:p>
            <a:pPr lvl="1">
              <a:buClr>
                <a:srgbClr val="1F4E79"/>
              </a:buClr>
              <a:buFont typeface="Wingdings,Sans-Serif" pitchFamily="34" charset="0"/>
              <a:buChar char="q"/>
            </a:pPr>
            <a:r>
              <a:rPr lang="en-US" sz="1700">
                <a:latin typeface="Century Gothic"/>
                <a:cs typeface="Arial"/>
              </a:rPr>
              <a:t>Style: Pre-defined color legend</a:t>
            </a:r>
          </a:p>
          <a:p>
            <a:pPr lvl="2">
              <a:buClr>
                <a:srgbClr val="1F4E79"/>
              </a:buClr>
              <a:buFont typeface="Wingdings" pitchFamily="34" charset="0"/>
              <a:buChar char="§"/>
            </a:pPr>
            <a:r>
              <a:rPr lang="en-US" sz="1500">
                <a:latin typeface="Century Gothic"/>
                <a:cs typeface="Arial"/>
              </a:rPr>
              <a:t>Created a legend that will be fixed for every month</a:t>
            </a:r>
          </a:p>
          <a:p>
            <a:pPr marL="45720" indent="0">
              <a:buClr>
                <a:srgbClr val="5B9BD5">
                  <a:lumMod val="50000"/>
                </a:srgbClr>
              </a:buClr>
              <a:buNone/>
            </a:pPr>
            <a:endParaRPr lang="en-US" sz="1800">
              <a:latin typeface="Century Gothic"/>
              <a:cs typeface="Arial"/>
            </a:endParaRPr>
          </a:p>
          <a:p>
            <a:pPr marL="45720" indent="0">
              <a:buClr>
                <a:srgbClr val="5B9BD5">
                  <a:lumMod val="50000"/>
                </a:srgbClr>
              </a:buClr>
              <a:buNone/>
            </a:pPr>
            <a:endParaRPr lang="en-US" sz="1800">
              <a:latin typeface="Century Gothic"/>
              <a:cs typeface="Arial"/>
            </a:endParaRPr>
          </a:p>
        </p:txBody>
      </p:sp>
    </p:spTree>
    <p:extLst>
      <p:ext uri="{BB962C8B-B14F-4D97-AF65-F5344CB8AC3E}">
        <p14:creationId xmlns:p14="http://schemas.microsoft.com/office/powerpoint/2010/main" val="404019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F59F7-253A-3413-D84C-B50E7E115C69}"/>
              </a:ext>
            </a:extLst>
          </p:cNvPr>
          <p:cNvSpPr>
            <a:spLocks noGrp="1"/>
          </p:cNvSpPr>
          <p:nvPr>
            <p:ph type="title"/>
          </p:nvPr>
        </p:nvSpPr>
        <p:spPr>
          <a:xfrm>
            <a:off x="1217612" y="0"/>
            <a:ext cx="9753600" cy="831127"/>
          </a:xfrm>
        </p:spPr>
        <p:txBody>
          <a:bodyPr/>
          <a:lstStyle/>
          <a:p>
            <a:r>
              <a:rPr lang="en-US" sz="2000" b="1" dirty="0"/>
              <a:t>Q3B: Predicting Malnutrition Rates in Bo District Using Deep Learning</a:t>
            </a:r>
            <a:endParaRPr lang="en-IN" sz="2000" b="1"/>
          </a:p>
        </p:txBody>
      </p:sp>
      <p:pic>
        <p:nvPicPr>
          <p:cNvPr id="6" name="Content Placeholder 5" descr="A screenshot of a computer program&#10;&#10;Description automatically generated">
            <a:extLst>
              <a:ext uri="{FF2B5EF4-FFF2-40B4-BE49-F238E27FC236}">
                <a16:creationId xmlns:a16="http://schemas.microsoft.com/office/drawing/2014/main" id="{065D244C-8BC5-5D8E-3926-974065EA141D}"/>
              </a:ext>
            </a:extLst>
          </p:cNvPr>
          <p:cNvPicPr>
            <a:picLocks noGrp="1" noChangeAspect="1"/>
          </p:cNvPicPr>
          <p:nvPr>
            <p:ph sz="half" idx="1"/>
          </p:nvPr>
        </p:nvPicPr>
        <p:blipFill>
          <a:blip r:embed="rId2"/>
          <a:stretch>
            <a:fillRect/>
          </a:stretch>
        </p:blipFill>
        <p:spPr>
          <a:xfrm>
            <a:off x="6788959" y="1688997"/>
            <a:ext cx="4708525" cy="3938577"/>
          </a:xfrm>
        </p:spPr>
      </p:pic>
      <p:sp>
        <p:nvSpPr>
          <p:cNvPr id="8" name="TextBox 7">
            <a:extLst>
              <a:ext uri="{FF2B5EF4-FFF2-40B4-BE49-F238E27FC236}">
                <a16:creationId xmlns:a16="http://schemas.microsoft.com/office/drawing/2014/main" id="{1B6650FB-06A2-668D-6392-BC5AC2B81E6C}"/>
              </a:ext>
            </a:extLst>
          </p:cNvPr>
          <p:cNvSpPr txBox="1"/>
          <p:nvPr/>
        </p:nvSpPr>
        <p:spPr>
          <a:xfrm>
            <a:off x="243639" y="1307201"/>
            <a:ext cx="6093994" cy="4801314"/>
          </a:xfrm>
          <a:prstGeom prst="rect">
            <a:avLst/>
          </a:prstGeom>
          <a:noFill/>
          <a:ln>
            <a:solidFill>
              <a:schemeClr val="bg2"/>
            </a:solidFill>
          </a:ln>
        </p:spPr>
        <p:txBody>
          <a:bodyPr wrap="square" lIns="91440" tIns="45720" rIns="91440" bIns="45720" anchor="t">
            <a:spAutoFit/>
          </a:bodyPr>
          <a:lstStyle/>
          <a:p>
            <a:r>
              <a:rPr lang="en-US" b="1">
                <a:solidFill>
                  <a:srgbClr val="343541"/>
                </a:solidFill>
                <a:latin typeface="Century Gothic"/>
              </a:rPr>
              <a:t>Data Source</a:t>
            </a:r>
            <a:r>
              <a:rPr lang="en-US">
                <a:solidFill>
                  <a:srgbClr val="343541"/>
                </a:solidFill>
                <a:latin typeface="Century Gothic"/>
              </a:rPr>
              <a:t>: Choropleth maps representing malnutrition rates across all districts, including Bo, for various months.</a:t>
            </a:r>
          </a:p>
          <a:p>
            <a:endParaRPr lang="en-US">
              <a:solidFill>
                <a:srgbClr val="343541"/>
              </a:solidFill>
              <a:latin typeface="Century Gothic"/>
            </a:endParaRPr>
          </a:p>
          <a:p>
            <a:r>
              <a:rPr lang="en-US" b="1">
                <a:solidFill>
                  <a:srgbClr val="343541"/>
                </a:solidFill>
                <a:latin typeface="Century Gothic"/>
              </a:rPr>
              <a:t>Methodology</a:t>
            </a:r>
            <a:r>
              <a:rPr lang="en-US">
                <a:solidFill>
                  <a:srgbClr val="343541"/>
                </a:solidFill>
                <a:latin typeface="Century Gothic"/>
              </a:rPr>
              <a:t>:</a:t>
            </a:r>
          </a:p>
          <a:p>
            <a:r>
              <a:rPr lang="en-US">
                <a:solidFill>
                  <a:srgbClr val="343541"/>
                </a:solidFill>
                <a:latin typeface="Century Gothic"/>
              </a:rPr>
              <a:t>Image Preprocessing: Each map image is resized to 224x224 pixels and normalized for consistent input into the neural network.</a:t>
            </a:r>
          </a:p>
          <a:p>
            <a:endParaRPr lang="en-US">
              <a:solidFill>
                <a:srgbClr val="343541"/>
              </a:solidFill>
              <a:latin typeface="Century Gothic"/>
            </a:endParaRPr>
          </a:p>
          <a:p>
            <a:r>
              <a:rPr lang="en-US" b="1">
                <a:solidFill>
                  <a:srgbClr val="343541"/>
                </a:solidFill>
                <a:latin typeface="Century Gothic"/>
              </a:rPr>
              <a:t>Category Assignment</a:t>
            </a:r>
            <a:r>
              <a:rPr lang="en-US">
                <a:solidFill>
                  <a:srgbClr val="343541"/>
                </a:solidFill>
                <a:latin typeface="Century Gothic"/>
              </a:rPr>
              <a:t>: Malnutrition rates are categorized into ranges (0-3, 3-6, 6-9, 9-12, 12-15) based on predefined legend criteria.</a:t>
            </a:r>
          </a:p>
          <a:p>
            <a:endParaRPr lang="en-US">
              <a:solidFill>
                <a:srgbClr val="343541"/>
              </a:solidFill>
              <a:latin typeface="Century Gothic"/>
            </a:endParaRPr>
          </a:p>
          <a:p>
            <a:r>
              <a:rPr lang="en-US" b="1">
                <a:solidFill>
                  <a:srgbClr val="343541"/>
                </a:solidFill>
                <a:latin typeface="Century Gothic"/>
              </a:rPr>
              <a:t>Model Architecture</a:t>
            </a:r>
            <a:r>
              <a:rPr lang="en-US">
                <a:solidFill>
                  <a:srgbClr val="343541"/>
                </a:solidFill>
                <a:latin typeface="Century Gothic"/>
              </a:rPr>
              <a:t>: Utilization of the Inception </a:t>
            </a:r>
            <a:r>
              <a:rPr lang="en-US" err="1">
                <a:solidFill>
                  <a:srgbClr val="343541"/>
                </a:solidFill>
                <a:latin typeface="Century Gothic"/>
              </a:rPr>
              <a:t>ResNet</a:t>
            </a:r>
            <a:r>
              <a:rPr lang="en-US">
                <a:solidFill>
                  <a:srgbClr val="343541"/>
                </a:solidFill>
                <a:latin typeface="Century Gothic"/>
              </a:rPr>
              <a:t> V2 model pre-trained on ImageNet, combined with additional trainable layers for specific task adaptation.</a:t>
            </a:r>
            <a:endParaRPr lang="en-IN">
              <a:solidFill>
                <a:srgbClr val="343541"/>
              </a:solidFill>
              <a:latin typeface="Century Gothic"/>
            </a:endParaRPr>
          </a:p>
        </p:txBody>
      </p:sp>
    </p:spTree>
    <p:extLst>
      <p:ext uri="{BB962C8B-B14F-4D97-AF65-F5344CB8AC3E}">
        <p14:creationId xmlns:p14="http://schemas.microsoft.com/office/powerpoint/2010/main" val="41105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 program&#10;&#10;Description automatically generated">
            <a:extLst>
              <a:ext uri="{FF2B5EF4-FFF2-40B4-BE49-F238E27FC236}">
                <a16:creationId xmlns:a16="http://schemas.microsoft.com/office/drawing/2014/main" id="{25467716-ADB2-927C-A037-D9A0C02DDC90}"/>
              </a:ext>
            </a:extLst>
          </p:cNvPr>
          <p:cNvPicPr>
            <a:picLocks noGrp="1" noChangeAspect="1"/>
          </p:cNvPicPr>
          <p:nvPr>
            <p:ph sz="half" idx="1"/>
          </p:nvPr>
        </p:nvPicPr>
        <p:blipFill>
          <a:blip r:embed="rId2"/>
          <a:stretch>
            <a:fillRect/>
          </a:stretch>
        </p:blipFill>
        <p:spPr>
          <a:xfrm>
            <a:off x="6730240" y="146308"/>
            <a:ext cx="4894516" cy="6565383"/>
          </a:xfrm>
        </p:spPr>
      </p:pic>
      <p:sp>
        <p:nvSpPr>
          <p:cNvPr id="8" name="TextBox 7">
            <a:extLst>
              <a:ext uri="{FF2B5EF4-FFF2-40B4-BE49-F238E27FC236}">
                <a16:creationId xmlns:a16="http://schemas.microsoft.com/office/drawing/2014/main" id="{C0616554-1DF7-4CA9-1952-315B5741C864}"/>
              </a:ext>
            </a:extLst>
          </p:cNvPr>
          <p:cNvSpPr txBox="1"/>
          <p:nvPr/>
        </p:nvSpPr>
        <p:spPr>
          <a:xfrm>
            <a:off x="394489" y="397053"/>
            <a:ext cx="6094902" cy="6247864"/>
          </a:xfrm>
          <a:prstGeom prst="rect">
            <a:avLst/>
          </a:prstGeom>
          <a:noFill/>
          <a:ln>
            <a:solidFill>
              <a:schemeClr val="bg2"/>
            </a:solidFill>
          </a:ln>
        </p:spPr>
        <p:txBody>
          <a:bodyPr wrap="square" lIns="91440" tIns="45720" rIns="91440" bIns="45720" anchor="t">
            <a:spAutoFit/>
          </a:bodyPr>
          <a:lstStyle/>
          <a:p>
            <a:r>
              <a:rPr lang="en-US" sz="1600" b="1">
                <a:solidFill>
                  <a:srgbClr val="343541"/>
                </a:solidFill>
                <a:latin typeface="Century Gothic"/>
              </a:rPr>
              <a:t>Data Preparation:</a:t>
            </a:r>
          </a:p>
          <a:p>
            <a:pPr marL="0" lvl="1" indent="-285750">
              <a:buFont typeface="Arial" panose="020B0604020202020204" pitchFamily="34" charset="0"/>
              <a:buChar char="•"/>
            </a:pPr>
            <a:r>
              <a:rPr lang="en-US" sz="1600">
                <a:solidFill>
                  <a:srgbClr val="343541"/>
                </a:solidFill>
                <a:latin typeface="Century Gothic"/>
              </a:rPr>
              <a:t>Images loaded and preprocessed to extract features (e.g., color intensities and patterns).</a:t>
            </a:r>
          </a:p>
          <a:p>
            <a:pPr marL="0" lvl="1" indent="-285750">
              <a:buFont typeface="Arial" panose="020B0604020202020204" pitchFamily="34" charset="0"/>
              <a:buChar char="•"/>
            </a:pPr>
            <a:r>
              <a:rPr lang="en-US" sz="1600">
                <a:solidFill>
                  <a:srgbClr val="343541"/>
                </a:solidFill>
                <a:latin typeface="Century Gothic"/>
              </a:rPr>
              <a:t>Malnutrition rates for the Bo district categorized and converted into one-hot encoded labels.</a:t>
            </a:r>
          </a:p>
          <a:p>
            <a:pPr marL="0" lvl="1" indent="-285750">
              <a:buFont typeface="Arial" panose="020B0604020202020204" pitchFamily="34" charset="0"/>
              <a:buChar char="•"/>
            </a:pPr>
            <a:endParaRPr lang="en-US" sz="1600">
              <a:solidFill>
                <a:srgbClr val="343541"/>
              </a:solidFill>
              <a:latin typeface="Century Gothic"/>
            </a:endParaRPr>
          </a:p>
          <a:p>
            <a:r>
              <a:rPr lang="en-US" sz="1600" b="1">
                <a:solidFill>
                  <a:srgbClr val="343541"/>
                </a:solidFill>
                <a:latin typeface="Century Gothic"/>
              </a:rPr>
              <a:t>Training Approach:</a:t>
            </a:r>
          </a:p>
          <a:p>
            <a:pPr marL="0" lvl="1" indent="-285750">
              <a:buFont typeface="Arial" panose="020B0604020202020204" pitchFamily="34" charset="0"/>
              <a:buChar char="•"/>
            </a:pPr>
            <a:r>
              <a:rPr lang="en-US" sz="1600">
                <a:solidFill>
                  <a:srgbClr val="343541"/>
                </a:solidFill>
                <a:latin typeface="Century Gothic"/>
              </a:rPr>
              <a:t>Transfer Learning: Leveraging the Inception </a:t>
            </a:r>
            <a:r>
              <a:rPr lang="en-US" sz="1600" err="1">
                <a:solidFill>
                  <a:srgbClr val="343541"/>
                </a:solidFill>
                <a:latin typeface="Century Gothic"/>
              </a:rPr>
              <a:t>ResNet</a:t>
            </a:r>
            <a:r>
              <a:rPr lang="en-US" sz="1600">
                <a:solidFill>
                  <a:srgbClr val="343541"/>
                </a:solidFill>
                <a:latin typeface="Century Gothic"/>
              </a:rPr>
              <a:t> V2 model for feature extraction.</a:t>
            </a:r>
          </a:p>
          <a:p>
            <a:pPr marL="0" lvl="1" indent="-285750">
              <a:buFont typeface="Arial" panose="020B0604020202020204" pitchFamily="34" charset="0"/>
              <a:buChar char="•"/>
            </a:pPr>
            <a:r>
              <a:rPr lang="en-US" sz="1600">
                <a:solidFill>
                  <a:srgbClr val="343541"/>
                </a:solidFill>
                <a:latin typeface="Century Gothic"/>
              </a:rPr>
              <a:t>Data Augmentation: Applied to increase the diversity of the training data, including rotations and zooms, enhancing model robustness.</a:t>
            </a:r>
          </a:p>
          <a:p>
            <a:pPr marL="0" lvl="1" indent="-285750">
              <a:buFont typeface="Arial" panose="020B0604020202020204" pitchFamily="34" charset="0"/>
              <a:buChar char="•"/>
            </a:pPr>
            <a:r>
              <a:rPr lang="en-US" sz="1600">
                <a:solidFill>
                  <a:srgbClr val="343541"/>
                </a:solidFill>
                <a:latin typeface="Century Gothic"/>
              </a:rPr>
              <a:t>Trainable Top Layers: Additional layers added to fine-tune the model on the specific dataset, with a dropout rate of 0.5 to mitigate overfitting.</a:t>
            </a:r>
          </a:p>
          <a:p>
            <a:pPr marL="0" lvl="1" indent="-285750">
              <a:buFont typeface="Arial" panose="020B0604020202020204" pitchFamily="34" charset="0"/>
              <a:buChar char="•"/>
            </a:pPr>
            <a:r>
              <a:rPr lang="en-US" sz="1600">
                <a:solidFill>
                  <a:srgbClr val="343541"/>
                </a:solidFill>
                <a:latin typeface="Century Gothic"/>
              </a:rPr>
              <a:t>Early Stopping: Implemented to prevent overtraining, monitoring validation loss with a patience of 5 epochs.</a:t>
            </a:r>
          </a:p>
          <a:p>
            <a:pPr marL="0" lvl="1" indent="-285750">
              <a:buFont typeface="Arial" panose="020B0604020202020204" pitchFamily="34" charset="0"/>
              <a:buChar char="•"/>
            </a:pPr>
            <a:endParaRPr lang="en-US" sz="1600">
              <a:solidFill>
                <a:srgbClr val="343541"/>
              </a:solidFill>
              <a:latin typeface="Century Gothic"/>
            </a:endParaRPr>
          </a:p>
          <a:p>
            <a:r>
              <a:rPr lang="en-US" sz="1600" b="1">
                <a:solidFill>
                  <a:srgbClr val="343541"/>
                </a:solidFill>
                <a:latin typeface="Century Gothic"/>
              </a:rPr>
              <a:t>Model Compilation:</a:t>
            </a:r>
          </a:p>
          <a:p>
            <a:pPr marL="0" lvl="1" indent="-285750">
              <a:buFont typeface="Arial" panose="020B0604020202020204" pitchFamily="34" charset="0"/>
              <a:buChar char="•"/>
            </a:pPr>
            <a:r>
              <a:rPr lang="en-US" sz="1600">
                <a:solidFill>
                  <a:srgbClr val="343541"/>
                </a:solidFill>
                <a:latin typeface="Century Gothic"/>
              </a:rPr>
              <a:t>Loss Function: Categorical </a:t>
            </a:r>
            <a:r>
              <a:rPr lang="en-US" sz="1600" err="1">
                <a:solidFill>
                  <a:srgbClr val="343541"/>
                </a:solidFill>
                <a:latin typeface="Century Gothic"/>
              </a:rPr>
              <a:t>Crossentropy</a:t>
            </a:r>
            <a:r>
              <a:rPr lang="en-US" sz="1600">
                <a:solidFill>
                  <a:srgbClr val="343541"/>
                </a:solidFill>
                <a:latin typeface="Century Gothic"/>
              </a:rPr>
              <a:t>.</a:t>
            </a:r>
          </a:p>
          <a:p>
            <a:pPr marL="0" lvl="1" indent="-285750">
              <a:buFont typeface="Arial" panose="020B0604020202020204" pitchFamily="34" charset="0"/>
              <a:buChar char="•"/>
            </a:pPr>
            <a:r>
              <a:rPr lang="en-US" sz="1600">
                <a:solidFill>
                  <a:srgbClr val="343541"/>
                </a:solidFill>
                <a:latin typeface="Century Gothic"/>
              </a:rPr>
              <a:t>Optimizer: RMSprop with a learning rate of 1e-5.</a:t>
            </a:r>
          </a:p>
          <a:p>
            <a:pPr marL="0" lvl="1" indent="-285750">
              <a:buFont typeface="Arial" panose="020B0604020202020204" pitchFamily="34" charset="0"/>
              <a:buChar char="•"/>
            </a:pPr>
            <a:r>
              <a:rPr lang="en-US" sz="1600">
                <a:solidFill>
                  <a:srgbClr val="343541"/>
                </a:solidFill>
                <a:latin typeface="Century Gothic"/>
              </a:rPr>
              <a:t>Evaluation Metrics: Accuracy.</a:t>
            </a:r>
          </a:p>
          <a:p>
            <a:pPr marL="0" lvl="1" indent="-285750">
              <a:buFont typeface="Arial" panose="020B0604020202020204" pitchFamily="34" charset="0"/>
              <a:buChar char="•"/>
            </a:pPr>
            <a:endParaRPr lang="en-US" sz="1600">
              <a:solidFill>
                <a:srgbClr val="343541"/>
              </a:solidFill>
              <a:latin typeface="Century Gothic"/>
            </a:endParaRPr>
          </a:p>
          <a:p>
            <a:r>
              <a:rPr lang="en-US" sz="1600" b="1">
                <a:solidFill>
                  <a:srgbClr val="343541"/>
                </a:solidFill>
                <a:latin typeface="Century Gothic"/>
              </a:rPr>
              <a:t>Training Execution</a:t>
            </a:r>
            <a:r>
              <a:rPr lang="en-US" sz="1600">
                <a:solidFill>
                  <a:srgbClr val="343541"/>
                </a:solidFill>
                <a:latin typeface="Century Gothic"/>
              </a:rPr>
              <a:t>: The model is trained over 20 epochs with batch size 32, validated against a separate test set.</a:t>
            </a:r>
          </a:p>
        </p:txBody>
      </p:sp>
    </p:spTree>
    <p:extLst>
      <p:ext uri="{BB962C8B-B14F-4D97-AF65-F5344CB8AC3E}">
        <p14:creationId xmlns:p14="http://schemas.microsoft.com/office/powerpoint/2010/main" val="10180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 shot of a computer code&#10;&#10;Description automatically generated">
            <a:extLst>
              <a:ext uri="{FF2B5EF4-FFF2-40B4-BE49-F238E27FC236}">
                <a16:creationId xmlns:a16="http://schemas.microsoft.com/office/drawing/2014/main" id="{D1562AFF-5171-C333-9C4D-EC423C3D94CC}"/>
              </a:ext>
            </a:extLst>
          </p:cNvPr>
          <p:cNvPicPr>
            <a:picLocks noGrp="1" noChangeAspect="1"/>
          </p:cNvPicPr>
          <p:nvPr>
            <p:ph sz="half" idx="1"/>
          </p:nvPr>
        </p:nvPicPr>
        <p:blipFill>
          <a:blip r:embed="rId2"/>
          <a:stretch>
            <a:fillRect/>
          </a:stretch>
        </p:blipFill>
        <p:spPr>
          <a:xfrm>
            <a:off x="7285538" y="94643"/>
            <a:ext cx="4708525" cy="885434"/>
          </a:xfrm>
        </p:spPr>
      </p:pic>
      <p:pic>
        <p:nvPicPr>
          <p:cNvPr id="8" name="Picture 7" descr="A screenshot of a computer code&#10;&#10;Description automatically generated">
            <a:extLst>
              <a:ext uri="{FF2B5EF4-FFF2-40B4-BE49-F238E27FC236}">
                <a16:creationId xmlns:a16="http://schemas.microsoft.com/office/drawing/2014/main" id="{29B90804-80E3-ED22-AF39-430FB55166D5}"/>
              </a:ext>
            </a:extLst>
          </p:cNvPr>
          <p:cNvPicPr>
            <a:picLocks noChangeAspect="1"/>
          </p:cNvPicPr>
          <p:nvPr/>
        </p:nvPicPr>
        <p:blipFill>
          <a:blip r:embed="rId3"/>
          <a:stretch>
            <a:fillRect/>
          </a:stretch>
        </p:blipFill>
        <p:spPr>
          <a:xfrm>
            <a:off x="8231163" y="980077"/>
            <a:ext cx="3762900" cy="1562318"/>
          </a:xfrm>
          <a:prstGeom prst="rect">
            <a:avLst/>
          </a:prstGeom>
        </p:spPr>
      </p:pic>
      <p:pic>
        <p:nvPicPr>
          <p:cNvPr id="10" name="Picture 9" descr="A graph of data and data&#10;&#10;Description automatically generated with medium confidence">
            <a:extLst>
              <a:ext uri="{FF2B5EF4-FFF2-40B4-BE49-F238E27FC236}">
                <a16:creationId xmlns:a16="http://schemas.microsoft.com/office/drawing/2014/main" id="{5E51FC53-8FF7-D705-3C58-5EA4B83790F6}"/>
              </a:ext>
            </a:extLst>
          </p:cNvPr>
          <p:cNvPicPr>
            <a:picLocks noChangeAspect="1"/>
          </p:cNvPicPr>
          <p:nvPr/>
        </p:nvPicPr>
        <p:blipFill>
          <a:blip r:embed="rId4"/>
          <a:stretch>
            <a:fillRect/>
          </a:stretch>
        </p:blipFill>
        <p:spPr>
          <a:xfrm>
            <a:off x="8245920" y="2542396"/>
            <a:ext cx="3748143" cy="3546420"/>
          </a:xfrm>
          <a:prstGeom prst="rect">
            <a:avLst/>
          </a:prstGeom>
        </p:spPr>
      </p:pic>
      <p:sp>
        <p:nvSpPr>
          <p:cNvPr id="12" name="TextBox 11">
            <a:extLst>
              <a:ext uri="{FF2B5EF4-FFF2-40B4-BE49-F238E27FC236}">
                <a16:creationId xmlns:a16="http://schemas.microsoft.com/office/drawing/2014/main" id="{43549A12-FA85-A027-6305-93A8056A5780}"/>
              </a:ext>
            </a:extLst>
          </p:cNvPr>
          <p:cNvSpPr txBox="1"/>
          <p:nvPr/>
        </p:nvSpPr>
        <p:spPr>
          <a:xfrm>
            <a:off x="63165" y="99250"/>
            <a:ext cx="7282114" cy="1323439"/>
          </a:xfrm>
          <a:prstGeom prst="rect">
            <a:avLst/>
          </a:prstGeom>
          <a:noFill/>
          <a:ln>
            <a:solidFill>
              <a:schemeClr val="bg2"/>
            </a:solidFill>
          </a:ln>
        </p:spPr>
        <p:txBody>
          <a:bodyPr wrap="square" lIns="91440" tIns="45720" rIns="91440" bIns="45720" anchor="t">
            <a:spAutoFit/>
          </a:bodyPr>
          <a:lstStyle/>
          <a:p>
            <a:pPr indent="-285750">
              <a:buFont typeface="Arial" panose="020B0604020202020204" pitchFamily="34" charset="0"/>
              <a:buChar char="•"/>
            </a:pPr>
            <a:r>
              <a:rPr lang="en-US" sz="1600" b="1">
                <a:solidFill>
                  <a:srgbClr val="343541"/>
                </a:solidFill>
                <a:latin typeface="Century Gothic"/>
              </a:rPr>
              <a:t>Prediction</a:t>
            </a:r>
            <a:r>
              <a:rPr lang="en-US" sz="1600">
                <a:solidFill>
                  <a:srgbClr val="343541"/>
                </a:solidFill>
                <a:latin typeface="Century Gothic"/>
              </a:rPr>
              <a:t>: Application of the model to predict the malnutrition category for Bo district in September 2023.</a:t>
            </a:r>
          </a:p>
          <a:p>
            <a:pPr indent="-285750">
              <a:buFont typeface="Arial" panose="020B0604020202020204" pitchFamily="34" charset="0"/>
              <a:buChar char="•"/>
            </a:pPr>
            <a:endParaRPr lang="en-US" sz="1600">
              <a:solidFill>
                <a:srgbClr val="343541"/>
              </a:solidFill>
              <a:latin typeface="Century Gothic"/>
            </a:endParaRPr>
          </a:p>
          <a:p>
            <a:r>
              <a:rPr lang="en-US" sz="1600">
                <a:solidFill>
                  <a:srgbClr val="343541"/>
                </a:solidFill>
                <a:latin typeface="Century Gothic"/>
              </a:rPr>
              <a:t>Predicted category output [2] ‘3-6’, indicating the model’s accurate assessment of malnutrition severity based on the map's color patterns.</a:t>
            </a:r>
          </a:p>
        </p:txBody>
      </p:sp>
      <p:pic>
        <p:nvPicPr>
          <p:cNvPr id="14" name="Picture 13" descr="A screenshot of a graph&#10;&#10;Description automatically generated">
            <a:extLst>
              <a:ext uri="{FF2B5EF4-FFF2-40B4-BE49-F238E27FC236}">
                <a16:creationId xmlns:a16="http://schemas.microsoft.com/office/drawing/2014/main" id="{36D5B522-132D-8FA2-59B9-4E9AA07FCFB1}"/>
              </a:ext>
            </a:extLst>
          </p:cNvPr>
          <p:cNvPicPr>
            <a:picLocks noChangeAspect="1"/>
          </p:cNvPicPr>
          <p:nvPr/>
        </p:nvPicPr>
        <p:blipFill>
          <a:blip r:embed="rId5"/>
          <a:stretch>
            <a:fillRect/>
          </a:stretch>
        </p:blipFill>
        <p:spPr>
          <a:xfrm>
            <a:off x="5080195" y="2542395"/>
            <a:ext cx="3143590" cy="2892916"/>
          </a:xfrm>
          <a:prstGeom prst="rect">
            <a:avLst/>
          </a:prstGeom>
        </p:spPr>
      </p:pic>
      <p:pic>
        <p:nvPicPr>
          <p:cNvPr id="16" name="Picture 15" descr="A number and numbers on a white background&#10;&#10;Description automatically generated">
            <a:extLst>
              <a:ext uri="{FF2B5EF4-FFF2-40B4-BE49-F238E27FC236}">
                <a16:creationId xmlns:a16="http://schemas.microsoft.com/office/drawing/2014/main" id="{3608450E-5F62-305C-6304-3FDF1D56B0DF}"/>
              </a:ext>
            </a:extLst>
          </p:cNvPr>
          <p:cNvPicPr>
            <a:picLocks noChangeAspect="1"/>
          </p:cNvPicPr>
          <p:nvPr/>
        </p:nvPicPr>
        <p:blipFill>
          <a:blip r:embed="rId6"/>
          <a:stretch>
            <a:fillRect/>
          </a:stretch>
        </p:blipFill>
        <p:spPr>
          <a:xfrm>
            <a:off x="5765992" y="5435311"/>
            <a:ext cx="2457793" cy="676369"/>
          </a:xfrm>
          <a:prstGeom prst="rect">
            <a:avLst/>
          </a:prstGeom>
        </p:spPr>
      </p:pic>
      <p:sp>
        <p:nvSpPr>
          <p:cNvPr id="18" name="TextBox 17">
            <a:extLst>
              <a:ext uri="{FF2B5EF4-FFF2-40B4-BE49-F238E27FC236}">
                <a16:creationId xmlns:a16="http://schemas.microsoft.com/office/drawing/2014/main" id="{02B26496-4AB3-8118-F562-1424CF15E6CA}"/>
              </a:ext>
            </a:extLst>
          </p:cNvPr>
          <p:cNvSpPr txBox="1"/>
          <p:nvPr/>
        </p:nvSpPr>
        <p:spPr>
          <a:xfrm>
            <a:off x="0" y="1422689"/>
            <a:ext cx="5058060" cy="5262979"/>
          </a:xfrm>
          <a:prstGeom prst="rect">
            <a:avLst/>
          </a:prstGeom>
          <a:noFill/>
          <a:ln>
            <a:solidFill>
              <a:schemeClr val="bg2"/>
            </a:solidFill>
          </a:ln>
        </p:spPr>
        <p:txBody>
          <a:bodyPr wrap="square" lIns="91440" tIns="45720" rIns="91440" bIns="45720" anchor="t">
            <a:spAutoFit/>
          </a:bodyPr>
          <a:lstStyle/>
          <a:p>
            <a:r>
              <a:rPr lang="en-US" sz="1600" b="1">
                <a:solidFill>
                  <a:srgbClr val="343541"/>
                </a:solidFill>
                <a:latin typeface="Century Gothic"/>
              </a:rPr>
              <a:t>Performance Metrics</a:t>
            </a:r>
          </a:p>
          <a:p>
            <a:endParaRPr lang="en-US" sz="1600" b="1">
              <a:solidFill>
                <a:srgbClr val="343541"/>
              </a:solidFill>
              <a:latin typeface="Century Gothic"/>
            </a:endParaRPr>
          </a:p>
          <a:p>
            <a:pPr>
              <a:buFont typeface="Arial" panose="020B0604020202020204" pitchFamily="34" charset="0"/>
              <a:buChar char="•"/>
            </a:pPr>
            <a:r>
              <a:rPr lang="en-US" sz="1600" b="1">
                <a:solidFill>
                  <a:srgbClr val="343541"/>
                </a:solidFill>
                <a:latin typeface="Century Gothic"/>
              </a:rPr>
              <a:t>Accuracy</a:t>
            </a:r>
            <a:r>
              <a:rPr lang="en-US" sz="1600">
                <a:solidFill>
                  <a:srgbClr val="343541"/>
                </a:solidFill>
                <a:latin typeface="Century Gothic"/>
              </a:rPr>
              <a:t>: 75% - This indicates that the model correctly predicted the malnutrition category for 75% of the test images.</a:t>
            </a:r>
          </a:p>
          <a:p>
            <a:pPr>
              <a:buFont typeface="Arial" panose="020B0604020202020204" pitchFamily="34" charset="0"/>
              <a:buChar char="•"/>
            </a:pPr>
            <a:r>
              <a:rPr lang="en-US" sz="1600" b="1">
                <a:solidFill>
                  <a:srgbClr val="343541"/>
                </a:solidFill>
                <a:latin typeface="Century Gothic"/>
              </a:rPr>
              <a:t>Precision</a:t>
            </a:r>
            <a:r>
              <a:rPr lang="en-US" sz="1600">
                <a:solidFill>
                  <a:srgbClr val="343541"/>
                </a:solidFill>
                <a:latin typeface="Century Gothic"/>
              </a:rPr>
              <a:t>: 75% - Precision measures the accuracy of positive predictions. In this context, when the model predicts a certain category, it is correct 75% of the time.</a:t>
            </a:r>
          </a:p>
          <a:p>
            <a:pPr>
              <a:buFont typeface="Arial" panose="020B0604020202020204" pitchFamily="34" charset="0"/>
              <a:buChar char="•"/>
            </a:pPr>
            <a:r>
              <a:rPr lang="en-US" sz="1600" b="1">
                <a:solidFill>
                  <a:srgbClr val="343541"/>
                </a:solidFill>
                <a:latin typeface="Century Gothic"/>
              </a:rPr>
              <a:t>Recall</a:t>
            </a:r>
            <a:r>
              <a:rPr lang="en-US" sz="1600">
                <a:solidFill>
                  <a:srgbClr val="343541"/>
                </a:solidFill>
                <a:latin typeface="Century Gothic"/>
              </a:rPr>
              <a:t>: 100% - Recall assesses the model's ability to find all relevant instances. Here, it successfully identified all test instances of category ‘3-6'.</a:t>
            </a:r>
          </a:p>
          <a:p>
            <a:pPr>
              <a:buFont typeface="Arial" panose="020B0604020202020204" pitchFamily="34" charset="0"/>
              <a:buChar char="•"/>
            </a:pPr>
            <a:r>
              <a:rPr lang="en-US" sz="1600" b="1">
                <a:solidFill>
                  <a:srgbClr val="343541"/>
                </a:solidFill>
                <a:latin typeface="Century Gothic"/>
              </a:rPr>
              <a:t>F1 Score</a:t>
            </a:r>
            <a:r>
              <a:rPr lang="en-US" sz="1600">
                <a:solidFill>
                  <a:srgbClr val="343541"/>
                </a:solidFill>
                <a:latin typeface="Century Gothic"/>
              </a:rPr>
              <a:t>: 85.71% - The F1 Score is a balance between precision and recall. A higher F1 score indicates better model performance, with 100% being perfect precision and recall.</a:t>
            </a:r>
          </a:p>
          <a:p>
            <a:pPr>
              <a:buFont typeface="Arial" panose="020B0604020202020204" pitchFamily="34" charset="0"/>
              <a:buChar char="•"/>
            </a:pPr>
            <a:endParaRPr lang="en-US" sz="1600">
              <a:solidFill>
                <a:srgbClr val="343541"/>
              </a:solidFill>
              <a:latin typeface="Century Gothic"/>
            </a:endParaRPr>
          </a:p>
          <a:p>
            <a:r>
              <a:rPr lang="en-US" sz="1600" b="1">
                <a:solidFill>
                  <a:srgbClr val="343541"/>
                </a:solidFill>
                <a:latin typeface="Century Gothic"/>
              </a:rPr>
              <a:t>Implications:</a:t>
            </a:r>
          </a:p>
          <a:p>
            <a:r>
              <a:rPr lang="en-US" sz="1600">
                <a:solidFill>
                  <a:srgbClr val="343541"/>
                </a:solidFill>
                <a:latin typeface="Century Gothic"/>
              </a:rPr>
              <a:t>High recall (100%) and F1 score of 85.71%, suggest that the model is very good at identifying the ‘3-6' category.</a:t>
            </a:r>
          </a:p>
        </p:txBody>
      </p:sp>
    </p:spTree>
    <p:extLst>
      <p:ext uri="{BB962C8B-B14F-4D97-AF65-F5344CB8AC3E}">
        <p14:creationId xmlns:p14="http://schemas.microsoft.com/office/powerpoint/2010/main" val="3473119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14206" y="276727"/>
            <a:ext cx="11960414" cy="1034716"/>
          </a:xfrm>
        </p:spPr>
        <p:txBody>
          <a:bodyPr anchor="b">
            <a:normAutofit/>
          </a:bodyPr>
          <a:lstStyle/>
          <a:p>
            <a:r>
              <a:rPr lang="en-US" sz="1600" b="1"/>
              <a:t>Question 4:</a:t>
            </a:r>
            <a:r>
              <a:rPr lang="en-US" sz="1600"/>
              <a:t> Perform a visualization-based analysis of Measles coverage for children less than 1yr in all of Sierra Leone. In this analysis, we also want to see in which months in 2022 and 2023 the coverage target of 60% were missed.</a:t>
            </a:r>
            <a:br>
              <a:rPr lang="en-US" sz="1600"/>
            </a:br>
            <a:endParaRPr lang="en-US" sz="1600"/>
          </a:p>
        </p:txBody>
      </p:sp>
      <p:sp>
        <p:nvSpPr>
          <p:cNvPr id="8" name="TextBox 7">
            <a:extLst>
              <a:ext uri="{FF2B5EF4-FFF2-40B4-BE49-F238E27FC236}">
                <a16:creationId xmlns:a16="http://schemas.microsoft.com/office/drawing/2014/main" id="{5104FE8A-C9E8-7190-E01B-5D577EF87F57}"/>
              </a:ext>
            </a:extLst>
          </p:cNvPr>
          <p:cNvSpPr txBox="1"/>
          <p:nvPr/>
        </p:nvSpPr>
        <p:spPr>
          <a:xfrm>
            <a:off x="110989" y="1467426"/>
            <a:ext cx="4887232" cy="4358116"/>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b="1"/>
              <a:t>Steps to answer:</a:t>
            </a:r>
          </a:p>
          <a:p>
            <a:pPr marL="285750" indent="-285750">
              <a:lnSpc>
                <a:spcPct val="90000"/>
              </a:lnSpc>
              <a:buFont typeface="Wingdings" pitchFamily="2" charset="2"/>
              <a:buChar char="Ø"/>
            </a:pPr>
            <a:r>
              <a:rPr lang="en-US"/>
              <a:t>Data visualizer app</a:t>
            </a:r>
          </a:p>
          <a:p>
            <a:pPr marL="285750" indent="-285750">
              <a:lnSpc>
                <a:spcPct val="90000"/>
              </a:lnSpc>
              <a:buFont typeface="Wingdings" pitchFamily="2" charset="2"/>
              <a:buChar char="Ø"/>
            </a:pPr>
            <a:r>
              <a:rPr lang="en-US"/>
              <a:t>Data: Indicator: Measles Coverage &lt; 1 year, </a:t>
            </a:r>
          </a:p>
          <a:p>
            <a:pPr marL="285750" indent="-285750">
              <a:lnSpc>
                <a:spcPct val="90000"/>
              </a:lnSpc>
              <a:buFont typeface="Wingdings" pitchFamily="2" charset="2"/>
              <a:buChar char="Ø"/>
            </a:pPr>
            <a:r>
              <a:rPr lang="en-US"/>
              <a:t>Period: 2022 and 2023 monthly data</a:t>
            </a:r>
          </a:p>
          <a:p>
            <a:pPr marL="285750" indent="-285750">
              <a:lnSpc>
                <a:spcPct val="90000"/>
              </a:lnSpc>
              <a:buFont typeface="Wingdings" pitchFamily="2" charset="2"/>
              <a:buChar char="Ø"/>
            </a:pPr>
            <a:r>
              <a:rPr lang="en-US" err="1"/>
              <a:t>OrgUnits</a:t>
            </a:r>
            <a:r>
              <a:rPr lang="en-US"/>
              <a:t>: all Sierra Leone at National Level</a:t>
            </a:r>
          </a:p>
          <a:p>
            <a:pPr marL="742950" lvl="1" indent="-285750">
              <a:lnSpc>
                <a:spcPct val="90000"/>
              </a:lnSpc>
              <a:buFont typeface="Courier New" panose="02070309020205020404" pitchFamily="49" charset="0"/>
              <a:buChar char="o"/>
            </a:pPr>
            <a:r>
              <a:rPr lang="en-US"/>
              <a:t>Data is in percent</a:t>
            </a:r>
          </a:p>
          <a:p>
            <a:pPr marL="742950" lvl="1" indent="-285750">
              <a:lnSpc>
                <a:spcPct val="90000"/>
              </a:lnSpc>
              <a:buFont typeface="Courier New" panose="02070309020205020404" pitchFamily="49" charset="0"/>
              <a:buChar char="o"/>
            </a:pPr>
            <a:r>
              <a:rPr lang="en-US"/>
              <a:t>Target line is set at 60%</a:t>
            </a:r>
          </a:p>
          <a:p>
            <a:pPr>
              <a:lnSpc>
                <a:spcPct val="90000"/>
              </a:lnSpc>
            </a:pPr>
            <a:endParaRPr lang="en-US"/>
          </a:p>
          <a:p>
            <a:pPr>
              <a:lnSpc>
                <a:spcPct val="90000"/>
              </a:lnSpc>
            </a:pPr>
            <a:endParaRPr lang="en-US"/>
          </a:p>
          <a:p>
            <a:pPr>
              <a:lnSpc>
                <a:spcPct val="90000"/>
              </a:lnSpc>
            </a:pPr>
            <a:endParaRPr lang="en-US"/>
          </a:p>
          <a:p>
            <a:pPr>
              <a:lnSpc>
                <a:spcPct val="90000"/>
              </a:lnSpc>
            </a:pPr>
            <a:r>
              <a:rPr lang="en-US" b="1"/>
              <a:t>Interpretation: </a:t>
            </a:r>
            <a:r>
              <a:rPr lang="en-US"/>
              <a:t>If we consider all the Sierra Leone without any level, then it is evident that in all the</a:t>
            </a:r>
            <a:r>
              <a:rPr lang="en-US" sz="2000"/>
              <a:t> </a:t>
            </a:r>
            <a:r>
              <a:rPr lang="en-US"/>
              <a:t>months, the target of 60% is missed</a:t>
            </a:r>
          </a:p>
          <a:p>
            <a:pPr>
              <a:lnSpc>
                <a:spcPct val="90000"/>
              </a:lnSpc>
            </a:pPr>
            <a:endParaRPr lang="en-US"/>
          </a:p>
        </p:txBody>
      </p:sp>
      <p:pic>
        <p:nvPicPr>
          <p:cNvPr id="16" name="Picture 15" descr="A graph with green and white numbers&#10;&#10;Description automatically generated">
            <a:extLst>
              <a:ext uri="{FF2B5EF4-FFF2-40B4-BE49-F238E27FC236}">
                <a16:creationId xmlns:a16="http://schemas.microsoft.com/office/drawing/2014/main" id="{EC5C5F82-FC4B-8A07-F264-65E5B4033135}"/>
              </a:ext>
            </a:extLst>
          </p:cNvPr>
          <p:cNvPicPr>
            <a:picLocks noChangeAspect="1"/>
          </p:cNvPicPr>
          <p:nvPr/>
        </p:nvPicPr>
        <p:blipFill>
          <a:blip r:embed="rId3"/>
          <a:stretch>
            <a:fillRect/>
          </a:stretch>
        </p:blipFill>
        <p:spPr>
          <a:xfrm>
            <a:off x="5218233" y="1098661"/>
            <a:ext cx="6789806" cy="5094315"/>
          </a:xfrm>
          <a:prstGeom prst="rect">
            <a:avLst/>
          </a:prstGeom>
        </p:spPr>
      </p:pic>
    </p:spTree>
    <p:extLst>
      <p:ext uri="{BB962C8B-B14F-4D97-AF65-F5344CB8AC3E}">
        <p14:creationId xmlns:p14="http://schemas.microsoft.com/office/powerpoint/2010/main" val="2553946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AABFD-FC7D-6F8D-46F1-E877A24AFE9C}"/>
              </a:ext>
            </a:extLst>
          </p:cNvPr>
          <p:cNvSpPr>
            <a:spLocks noGrp="1"/>
          </p:cNvSpPr>
          <p:nvPr>
            <p:ph type="title"/>
          </p:nvPr>
        </p:nvSpPr>
        <p:spPr>
          <a:xfrm>
            <a:off x="192049" y="822991"/>
            <a:ext cx="6602913" cy="549525"/>
          </a:xfrm>
        </p:spPr>
        <p:txBody>
          <a:bodyPr>
            <a:normAutofit/>
          </a:bodyPr>
          <a:lstStyle/>
          <a:p>
            <a:r>
              <a:rPr lang="en-IN" sz="1600"/>
              <a:t>Trend Lines for the Measles Coverage &lt;1yr for all of Sierra Leone</a:t>
            </a:r>
          </a:p>
        </p:txBody>
      </p:sp>
      <p:pic>
        <p:nvPicPr>
          <p:cNvPr id="6" name="Content Placeholder 5" descr="A graph of a number of months&#10;&#10;Description automatically generated with medium confidence">
            <a:extLst>
              <a:ext uri="{FF2B5EF4-FFF2-40B4-BE49-F238E27FC236}">
                <a16:creationId xmlns:a16="http://schemas.microsoft.com/office/drawing/2014/main" id="{3643EB14-EAC3-F072-EB3D-5B6C0DB751FF}"/>
              </a:ext>
            </a:extLst>
          </p:cNvPr>
          <p:cNvPicPr>
            <a:picLocks noGrp="1" noChangeAspect="1"/>
          </p:cNvPicPr>
          <p:nvPr>
            <p:ph sz="half" idx="1"/>
          </p:nvPr>
        </p:nvPicPr>
        <p:blipFill>
          <a:blip r:embed="rId2"/>
          <a:stretch>
            <a:fillRect/>
          </a:stretch>
        </p:blipFill>
        <p:spPr>
          <a:xfrm>
            <a:off x="6962211" y="264462"/>
            <a:ext cx="4708525" cy="3059403"/>
          </a:xfrm>
        </p:spPr>
      </p:pic>
      <p:pic>
        <p:nvPicPr>
          <p:cNvPr id="8" name="Picture 7" descr="A graph of a graph showing a number of measles&#10;&#10;Description automatically generated">
            <a:extLst>
              <a:ext uri="{FF2B5EF4-FFF2-40B4-BE49-F238E27FC236}">
                <a16:creationId xmlns:a16="http://schemas.microsoft.com/office/drawing/2014/main" id="{FC1D3AAA-B176-88A8-40FD-EE11F36BD0F8}"/>
              </a:ext>
            </a:extLst>
          </p:cNvPr>
          <p:cNvPicPr>
            <a:picLocks noChangeAspect="1"/>
          </p:cNvPicPr>
          <p:nvPr/>
        </p:nvPicPr>
        <p:blipFill>
          <a:blip r:embed="rId3"/>
          <a:stretch>
            <a:fillRect/>
          </a:stretch>
        </p:blipFill>
        <p:spPr>
          <a:xfrm>
            <a:off x="6852402" y="3476372"/>
            <a:ext cx="4921459" cy="3176688"/>
          </a:xfrm>
          <a:prstGeom prst="rect">
            <a:avLst/>
          </a:prstGeom>
        </p:spPr>
      </p:pic>
      <p:sp>
        <p:nvSpPr>
          <p:cNvPr id="9" name="TextBox 8">
            <a:extLst>
              <a:ext uri="{FF2B5EF4-FFF2-40B4-BE49-F238E27FC236}">
                <a16:creationId xmlns:a16="http://schemas.microsoft.com/office/drawing/2014/main" id="{6B42791E-B911-E4AA-F0AE-51BADFDA15E3}"/>
              </a:ext>
            </a:extLst>
          </p:cNvPr>
          <p:cNvSpPr txBox="1"/>
          <p:nvPr/>
        </p:nvSpPr>
        <p:spPr>
          <a:xfrm>
            <a:off x="298417" y="4236337"/>
            <a:ext cx="5763126" cy="313932"/>
          </a:xfrm>
          <a:prstGeom prst="rect">
            <a:avLst/>
          </a:prstGeom>
          <a:noFill/>
          <a:ln>
            <a:solidFill>
              <a:schemeClr val="bg2"/>
            </a:solidFill>
          </a:ln>
        </p:spPr>
        <p:txBody>
          <a:bodyPr wrap="square" rtlCol="0">
            <a:spAutoFit/>
          </a:bodyPr>
          <a:lstStyle/>
          <a:p>
            <a:pPr>
              <a:lnSpc>
                <a:spcPct val="90000"/>
              </a:lnSpc>
              <a:spcBef>
                <a:spcPct val="0"/>
              </a:spcBef>
            </a:pPr>
            <a:r>
              <a:rPr lang="en-IN" sz="1600" cap="all">
                <a:solidFill>
                  <a:schemeClr val="accent1">
                    <a:lumMod val="50000"/>
                  </a:schemeClr>
                </a:solidFill>
                <a:latin typeface="+mj-lt"/>
                <a:ea typeface="+mj-ea"/>
                <a:cs typeface="+mj-cs"/>
              </a:rPr>
              <a:t>Measles Coverage &lt;1yr: Rural vs Urban</a:t>
            </a:r>
          </a:p>
        </p:txBody>
      </p:sp>
      <p:sp>
        <p:nvSpPr>
          <p:cNvPr id="10" name="TextBox 9">
            <a:extLst>
              <a:ext uri="{FF2B5EF4-FFF2-40B4-BE49-F238E27FC236}">
                <a16:creationId xmlns:a16="http://schemas.microsoft.com/office/drawing/2014/main" id="{713D5FAD-0D2F-8907-AFF8-F8331DE24BFC}"/>
              </a:ext>
            </a:extLst>
          </p:cNvPr>
          <p:cNvSpPr txBox="1"/>
          <p:nvPr/>
        </p:nvSpPr>
        <p:spPr>
          <a:xfrm>
            <a:off x="261814" y="1448867"/>
            <a:ext cx="6533148" cy="1837426"/>
          </a:xfrm>
          <a:prstGeom prst="rect">
            <a:avLst/>
          </a:prstGeom>
          <a:noFill/>
          <a:ln>
            <a:solidFill>
              <a:schemeClr val="bg2"/>
            </a:solidFill>
          </a:ln>
        </p:spPr>
        <p:txBody>
          <a:bodyPr wrap="square" lIns="91440" tIns="45720" rIns="91440" bIns="45720" rtlCol="0" anchor="t">
            <a:spAutoFit/>
          </a:bodyPr>
          <a:lstStyle/>
          <a:p>
            <a:pPr>
              <a:lnSpc>
                <a:spcPct val="90000"/>
              </a:lnSpc>
            </a:pPr>
            <a:r>
              <a:rPr lang="en-US" sz="1400"/>
              <a:t>Measles vaccination coverage for children under 1 year exhibited consistent performance in 2022, maintaining a stable trend throughout the year. </a:t>
            </a:r>
          </a:p>
          <a:p>
            <a:pPr>
              <a:lnSpc>
                <a:spcPct val="90000"/>
              </a:lnSpc>
            </a:pPr>
            <a:endParaRPr lang="en-US" sz="1400"/>
          </a:p>
          <a:p>
            <a:pPr>
              <a:lnSpc>
                <a:spcPct val="90000"/>
              </a:lnSpc>
            </a:pPr>
            <a:r>
              <a:rPr lang="en-US" sz="1400"/>
              <a:t>In 2023, the trend showed an initial decrease compared to 2022 but improved significantly, exceeding 2022's levels by May. The coverage continued to rise thereafter, suggesting an upward trend. However, the absence of data for October to December 2023 makes it challenging to conclusively determine the trend for the latter part of the year.</a:t>
            </a:r>
            <a:endParaRPr lang="en-IN" sz="1400"/>
          </a:p>
        </p:txBody>
      </p:sp>
      <p:sp>
        <p:nvSpPr>
          <p:cNvPr id="11" name="TextBox 10">
            <a:extLst>
              <a:ext uri="{FF2B5EF4-FFF2-40B4-BE49-F238E27FC236}">
                <a16:creationId xmlns:a16="http://schemas.microsoft.com/office/drawing/2014/main" id="{434258A3-B5E1-C88B-C10E-95F82042EB10}"/>
              </a:ext>
            </a:extLst>
          </p:cNvPr>
          <p:cNvSpPr txBox="1"/>
          <p:nvPr/>
        </p:nvSpPr>
        <p:spPr>
          <a:xfrm>
            <a:off x="298417" y="4634133"/>
            <a:ext cx="6033837" cy="1449628"/>
          </a:xfrm>
          <a:prstGeom prst="rect">
            <a:avLst/>
          </a:prstGeom>
          <a:noFill/>
          <a:ln>
            <a:solidFill>
              <a:schemeClr val="bg2"/>
            </a:solidFill>
          </a:ln>
        </p:spPr>
        <p:txBody>
          <a:bodyPr wrap="square" lIns="91440" tIns="45720" rIns="91440" bIns="45720" rtlCol="0" anchor="t">
            <a:spAutoFit/>
          </a:bodyPr>
          <a:lstStyle/>
          <a:p>
            <a:pPr>
              <a:lnSpc>
                <a:spcPct val="90000"/>
              </a:lnSpc>
            </a:pPr>
            <a:r>
              <a:rPr lang="en-US" sz="1400"/>
              <a:t>The bar graph depicts the measles vaccination coverage for children under 1 year in Sierra Leone, comparing rural and urban areas from January 2022 to December 2023. </a:t>
            </a:r>
          </a:p>
          <a:p>
            <a:pPr>
              <a:lnSpc>
                <a:spcPct val="90000"/>
              </a:lnSpc>
            </a:pPr>
            <a:endParaRPr lang="en-US" sz="1400"/>
          </a:p>
          <a:p>
            <a:pPr>
              <a:lnSpc>
                <a:spcPct val="90000"/>
              </a:lnSpc>
            </a:pPr>
            <a:r>
              <a:rPr lang="en-US" sz="1400"/>
              <a:t>The coverage in urban areas (25.5%) significantly surpasses that in rural areas (18.9%), indicating a disparity in vaccination rates between the two regions over the specified period.</a:t>
            </a:r>
            <a:endParaRPr lang="en-IN" sz="1400" err="1"/>
          </a:p>
        </p:txBody>
      </p:sp>
    </p:spTree>
    <p:extLst>
      <p:ext uri="{BB962C8B-B14F-4D97-AF65-F5344CB8AC3E}">
        <p14:creationId xmlns:p14="http://schemas.microsoft.com/office/powerpoint/2010/main" val="662955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2A23706E-ADE2-D5BE-F370-E17CFE25D2DA}"/>
              </a:ext>
            </a:extLst>
          </p:cNvPr>
          <p:cNvPicPr>
            <a:picLocks noGrp="1" noChangeAspect="1"/>
          </p:cNvPicPr>
          <p:nvPr>
            <p:ph sz="half" idx="1"/>
          </p:nvPr>
        </p:nvPicPr>
        <p:blipFill>
          <a:blip r:embed="rId2"/>
          <a:stretch>
            <a:fillRect/>
          </a:stretch>
        </p:blipFill>
        <p:spPr>
          <a:xfrm>
            <a:off x="210541" y="2086092"/>
            <a:ext cx="5801498" cy="3740648"/>
          </a:xfrm>
        </p:spPr>
      </p:pic>
      <p:pic>
        <p:nvPicPr>
          <p:cNvPr id="14" name="Picture 13" descr="A screenshot of a phone&#10;&#10;Description automatically generated">
            <a:extLst>
              <a:ext uri="{FF2B5EF4-FFF2-40B4-BE49-F238E27FC236}">
                <a16:creationId xmlns:a16="http://schemas.microsoft.com/office/drawing/2014/main" id="{7D73E768-1011-0230-F0D8-757125FE023E}"/>
              </a:ext>
            </a:extLst>
          </p:cNvPr>
          <p:cNvPicPr>
            <a:picLocks noChangeAspect="1"/>
          </p:cNvPicPr>
          <p:nvPr/>
        </p:nvPicPr>
        <p:blipFill>
          <a:blip r:embed="rId3"/>
          <a:stretch>
            <a:fillRect/>
          </a:stretch>
        </p:blipFill>
        <p:spPr>
          <a:xfrm>
            <a:off x="210541" y="4374360"/>
            <a:ext cx="1174634" cy="1452380"/>
          </a:xfrm>
          <a:prstGeom prst="rect">
            <a:avLst/>
          </a:prstGeom>
        </p:spPr>
      </p:pic>
      <p:pic>
        <p:nvPicPr>
          <p:cNvPr id="16" name="Picture 15" descr="A map of a country with many colored dots&#10;&#10;Description automatically generated">
            <a:extLst>
              <a:ext uri="{FF2B5EF4-FFF2-40B4-BE49-F238E27FC236}">
                <a16:creationId xmlns:a16="http://schemas.microsoft.com/office/drawing/2014/main" id="{AF89B75D-2C17-B4A3-0862-945FA6548325}"/>
              </a:ext>
            </a:extLst>
          </p:cNvPr>
          <p:cNvPicPr>
            <a:picLocks noChangeAspect="1"/>
          </p:cNvPicPr>
          <p:nvPr/>
        </p:nvPicPr>
        <p:blipFill>
          <a:blip r:embed="rId4"/>
          <a:stretch>
            <a:fillRect/>
          </a:stretch>
        </p:blipFill>
        <p:spPr>
          <a:xfrm>
            <a:off x="6131015" y="2086092"/>
            <a:ext cx="5755259" cy="3730494"/>
          </a:xfrm>
          <a:prstGeom prst="rect">
            <a:avLst/>
          </a:prstGeom>
        </p:spPr>
      </p:pic>
      <p:pic>
        <p:nvPicPr>
          <p:cNvPr id="18" name="Picture 17" descr="A chart of a number of different colored bars&#10;&#10;Description automatically generated with medium confidence">
            <a:extLst>
              <a:ext uri="{FF2B5EF4-FFF2-40B4-BE49-F238E27FC236}">
                <a16:creationId xmlns:a16="http://schemas.microsoft.com/office/drawing/2014/main" id="{736291A3-0B17-E9E4-78E2-9D128E8983FA}"/>
              </a:ext>
            </a:extLst>
          </p:cNvPr>
          <p:cNvPicPr>
            <a:picLocks noChangeAspect="1"/>
          </p:cNvPicPr>
          <p:nvPr/>
        </p:nvPicPr>
        <p:blipFill>
          <a:blip r:embed="rId5"/>
          <a:stretch>
            <a:fillRect/>
          </a:stretch>
        </p:blipFill>
        <p:spPr>
          <a:xfrm>
            <a:off x="6131015" y="4450580"/>
            <a:ext cx="1182224" cy="1368002"/>
          </a:xfrm>
          <a:prstGeom prst="rect">
            <a:avLst/>
          </a:prstGeom>
        </p:spPr>
      </p:pic>
      <p:sp>
        <p:nvSpPr>
          <p:cNvPr id="21" name="TextBox 20">
            <a:extLst>
              <a:ext uri="{FF2B5EF4-FFF2-40B4-BE49-F238E27FC236}">
                <a16:creationId xmlns:a16="http://schemas.microsoft.com/office/drawing/2014/main" id="{6D71741C-00F7-CABC-B4DC-B807031EB508}"/>
              </a:ext>
            </a:extLst>
          </p:cNvPr>
          <p:cNvSpPr txBox="1"/>
          <p:nvPr/>
        </p:nvSpPr>
        <p:spPr>
          <a:xfrm>
            <a:off x="1735088" y="1154695"/>
            <a:ext cx="8421934" cy="757130"/>
          </a:xfrm>
          <a:prstGeom prst="rect">
            <a:avLst/>
          </a:prstGeom>
          <a:noFill/>
          <a:ln>
            <a:solidFill>
              <a:schemeClr val="bg2"/>
            </a:solidFill>
          </a:ln>
        </p:spPr>
        <p:txBody>
          <a:bodyPr wrap="square" lIns="91440" tIns="45720" rIns="91440" bIns="45720" rtlCol="0" anchor="t">
            <a:spAutoFit/>
          </a:bodyPr>
          <a:lstStyle/>
          <a:p>
            <a:pPr algn="ctr">
              <a:lnSpc>
                <a:spcPct val="90000"/>
              </a:lnSpc>
              <a:spcBef>
                <a:spcPct val="0"/>
              </a:spcBef>
            </a:pPr>
            <a:r>
              <a:rPr lang="en-IN" sz="2400" cap="all">
                <a:solidFill>
                  <a:schemeClr val="accent1">
                    <a:lumMod val="50000"/>
                  </a:schemeClr>
                </a:solidFill>
                <a:latin typeface="+mj-lt"/>
                <a:ea typeface="+mj-ea"/>
                <a:cs typeface="+mj-cs"/>
              </a:rPr>
              <a:t>Measles Coverage &lt;1yr at the Facility level for all of Sierra Leone</a:t>
            </a:r>
            <a:endParaRPr lang="en-US" sz="2400">
              <a:solidFill>
                <a:schemeClr val="accent1">
                  <a:lumMod val="50000"/>
                </a:schemeClr>
              </a:solidFill>
              <a:ea typeface="+mj-ea"/>
              <a:cs typeface="+mj-cs"/>
            </a:endParaRPr>
          </a:p>
        </p:txBody>
      </p:sp>
    </p:spTree>
    <p:extLst>
      <p:ext uri="{BB962C8B-B14F-4D97-AF65-F5344CB8AC3E}">
        <p14:creationId xmlns:p14="http://schemas.microsoft.com/office/powerpoint/2010/main" val="43388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health facility structure&#10;&#10;Description automatically generated">
            <a:extLst>
              <a:ext uri="{FF2B5EF4-FFF2-40B4-BE49-F238E27FC236}">
                <a16:creationId xmlns:a16="http://schemas.microsoft.com/office/drawing/2014/main" id="{03FB46FC-8F59-2C1E-BC08-D305D581A0F3}"/>
              </a:ext>
            </a:extLst>
          </p:cNvPr>
          <p:cNvPicPr>
            <a:picLocks noGrp="1" noChangeAspect="1"/>
          </p:cNvPicPr>
          <p:nvPr>
            <p:ph sz="half" idx="1"/>
          </p:nvPr>
        </p:nvPicPr>
        <p:blipFill>
          <a:blip r:embed="rId2"/>
          <a:stretch>
            <a:fillRect/>
          </a:stretch>
        </p:blipFill>
        <p:spPr>
          <a:xfrm>
            <a:off x="1154559" y="526820"/>
            <a:ext cx="4462123" cy="3927819"/>
          </a:xfrm>
        </p:spPr>
      </p:pic>
      <p:pic>
        <p:nvPicPr>
          <p:cNvPr id="5" name="Picture 4" descr="A graph with numbers and lines&#10;&#10;Description automatically generated">
            <a:extLst>
              <a:ext uri="{FF2B5EF4-FFF2-40B4-BE49-F238E27FC236}">
                <a16:creationId xmlns:a16="http://schemas.microsoft.com/office/drawing/2014/main" id="{0D2E708E-64F9-BB88-3E89-416B39FB57C0}"/>
              </a:ext>
            </a:extLst>
          </p:cNvPr>
          <p:cNvPicPr>
            <a:picLocks noChangeAspect="1"/>
          </p:cNvPicPr>
          <p:nvPr/>
        </p:nvPicPr>
        <p:blipFill>
          <a:blip r:embed="rId3"/>
          <a:stretch>
            <a:fillRect/>
          </a:stretch>
        </p:blipFill>
        <p:spPr>
          <a:xfrm>
            <a:off x="6092719" y="523189"/>
            <a:ext cx="5229727" cy="3922295"/>
          </a:xfrm>
          <a:prstGeom prst="rect">
            <a:avLst/>
          </a:prstGeom>
        </p:spPr>
      </p:pic>
      <p:sp>
        <p:nvSpPr>
          <p:cNvPr id="8" name="TextBox 7">
            <a:extLst>
              <a:ext uri="{FF2B5EF4-FFF2-40B4-BE49-F238E27FC236}">
                <a16:creationId xmlns:a16="http://schemas.microsoft.com/office/drawing/2014/main" id="{542F2044-5457-7E58-3E43-782A8119AE27}"/>
              </a:ext>
            </a:extLst>
          </p:cNvPr>
          <p:cNvSpPr txBox="1"/>
          <p:nvPr/>
        </p:nvSpPr>
        <p:spPr>
          <a:xfrm>
            <a:off x="57567" y="6423049"/>
            <a:ext cx="12073690" cy="424732"/>
          </a:xfrm>
          <a:prstGeom prst="rect">
            <a:avLst/>
          </a:prstGeom>
          <a:noFill/>
          <a:ln>
            <a:solidFill>
              <a:schemeClr val="bg2"/>
            </a:solidFill>
          </a:ln>
        </p:spPr>
        <p:txBody>
          <a:bodyPr wrap="square" rtlCol="0">
            <a:spAutoFit/>
          </a:bodyPr>
          <a:lstStyle/>
          <a:p>
            <a:pPr>
              <a:lnSpc>
                <a:spcPct val="90000"/>
              </a:lnSpc>
            </a:pPr>
            <a:r>
              <a:rPr lang="en-IN" sz="800" b="1">
                <a:effectLst/>
                <a:latin typeface="Calibri" panose="020F0502020204030204" pitchFamily="34" charset="0"/>
                <a:ea typeface="Calibri" panose="020F0502020204030204" pitchFamily="34" charset="0"/>
                <a:cs typeface="Times New Roman" panose="02020603050405020304" pitchFamily="18" charset="0"/>
              </a:rPr>
              <a:t>Health Facility Structure in Sierra Leone - Image courtesy:</a:t>
            </a:r>
          </a:p>
          <a:p>
            <a:pPr>
              <a:lnSpc>
                <a:spcPct val="90000"/>
              </a:lnSpc>
            </a:pPr>
            <a:r>
              <a:rPr lang="en-IN" sz="80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Babughirana, Geoffrey &amp; Amponsah, Monica &amp; Banura, Evelyn &amp; Egoeh, Seth &amp; Barrie, Mohammed &amp; Kanwagi, Robert. (2018). Assessment of the Readiness of Community Health Workers to Participate in a Mobile Training and Support Services Innovation: Results of a Functionality Assessment in Bo District, Sierra Leone 2018. American Journal of Computer Science and Information Technology. 06. 10.21767/2349-3917.100028.</a:t>
            </a:r>
            <a:endParaRPr lang="en-IN" sz="800">
              <a:solidFill>
                <a:schemeClr val="tx2"/>
              </a:solidFill>
            </a:endParaRPr>
          </a:p>
        </p:txBody>
      </p:sp>
      <p:sp>
        <p:nvSpPr>
          <p:cNvPr id="9" name="TextBox 8">
            <a:extLst>
              <a:ext uri="{FF2B5EF4-FFF2-40B4-BE49-F238E27FC236}">
                <a16:creationId xmlns:a16="http://schemas.microsoft.com/office/drawing/2014/main" id="{5CAD8D40-C7FA-FE5F-EE5F-C40829DD3757}"/>
              </a:ext>
            </a:extLst>
          </p:cNvPr>
          <p:cNvSpPr txBox="1"/>
          <p:nvPr/>
        </p:nvSpPr>
        <p:spPr>
          <a:xfrm>
            <a:off x="568909" y="4624969"/>
            <a:ext cx="11509010" cy="1643527"/>
          </a:xfrm>
          <a:prstGeom prst="rect">
            <a:avLst/>
          </a:prstGeom>
          <a:noFill/>
          <a:ln>
            <a:solidFill>
              <a:schemeClr val="bg2"/>
            </a:solidFill>
          </a:ln>
        </p:spPr>
        <p:txBody>
          <a:bodyPr wrap="square" lIns="91440" tIns="45720" rIns="91440" bIns="45720" rtlCol="0" anchor="t">
            <a:spAutoFit/>
          </a:bodyPr>
          <a:lstStyle/>
          <a:p>
            <a:pPr marL="285750" indent="-285750">
              <a:lnSpc>
                <a:spcPct val="90000"/>
              </a:lnSpc>
              <a:buFont typeface="Arial"/>
              <a:buChar char="•"/>
            </a:pPr>
            <a:r>
              <a:rPr lang="en-US" sz="1400" dirty="0"/>
              <a:t>The figure indicates that Maternal and Child Health Posts (MCHPs), which are crucial contact points within Sierra Leone's health system (</a:t>
            </a:r>
            <a:r>
              <a:rPr lang="en-US" sz="1400" err="1"/>
              <a:t>Babughirana</a:t>
            </a:r>
            <a:r>
              <a:rPr lang="en-US" sz="1400" dirty="0"/>
              <a:t> et al., 2018), are not represented in the measles vaccination coverage data for children under one year.</a:t>
            </a:r>
            <a:endParaRPr lang="en-US"/>
          </a:p>
          <a:p>
            <a:pPr marL="285750" indent="-285750">
              <a:lnSpc>
                <a:spcPct val="90000"/>
              </a:lnSpc>
              <a:buFont typeface="Arial"/>
              <a:buChar char="•"/>
            </a:pPr>
            <a:endParaRPr lang="en-US" sz="1400" dirty="0"/>
          </a:p>
          <a:p>
            <a:pPr marL="285750" indent="-285750">
              <a:lnSpc>
                <a:spcPct val="90000"/>
              </a:lnSpc>
              <a:buFont typeface="Arial"/>
              <a:buChar char="•"/>
            </a:pPr>
            <a:r>
              <a:rPr lang="en-US" sz="1400" dirty="0"/>
              <a:t>This absence could signify either a lack of data for MCHPs or zero coverage in these facilities, which may contribute to lower overall vaccination rates. </a:t>
            </a:r>
          </a:p>
          <a:p>
            <a:pPr marL="285750" indent="-285750">
              <a:lnSpc>
                <a:spcPct val="90000"/>
              </a:lnSpc>
              <a:buFont typeface="Arial"/>
              <a:buChar char="•"/>
            </a:pPr>
            <a:endParaRPr lang="en-US" sz="1400" dirty="0"/>
          </a:p>
          <a:p>
            <a:pPr marL="285750" indent="-285750">
              <a:lnSpc>
                <a:spcPct val="90000"/>
              </a:lnSpc>
              <a:buFont typeface="Arial"/>
              <a:buChar char="•"/>
            </a:pPr>
            <a:r>
              <a:rPr lang="en-US" sz="1400" dirty="0"/>
              <a:t>Conversely, Clinics and Community Health Centers (CHCs) exhibit higher measles coverage, suggesting they play a significant role in vaccination efforts.</a:t>
            </a:r>
            <a:endParaRPr lang="en-IN" sz="1400" dirty="0"/>
          </a:p>
        </p:txBody>
      </p:sp>
    </p:spTree>
    <p:extLst>
      <p:ext uri="{BB962C8B-B14F-4D97-AF65-F5344CB8AC3E}">
        <p14:creationId xmlns:p14="http://schemas.microsoft.com/office/powerpoint/2010/main" val="3363001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ADBE00-5EB9-F0A8-516B-C31620DAC374}"/>
              </a:ext>
            </a:extLst>
          </p:cNvPr>
          <p:cNvSpPr txBox="1"/>
          <p:nvPr/>
        </p:nvSpPr>
        <p:spPr>
          <a:xfrm>
            <a:off x="126561" y="66098"/>
            <a:ext cx="11933959" cy="728716"/>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just">
              <a:lnSpc>
                <a:spcPct val="90000"/>
              </a:lnSpc>
              <a:spcBef>
                <a:spcPct val="0"/>
              </a:spcBef>
              <a:spcAft>
                <a:spcPts val="600"/>
              </a:spcAft>
            </a:pPr>
            <a:r>
              <a:rPr lang="en-US" b="1" cap="all">
                <a:solidFill>
                  <a:schemeClr val="accent1">
                    <a:lumMod val="50000"/>
                  </a:schemeClr>
                </a:solidFill>
                <a:latin typeface="Century Gothic"/>
                <a:ea typeface="+mj-ea"/>
                <a:cs typeface="+mj-cs"/>
              </a:rPr>
              <a:t>Question 5</a:t>
            </a:r>
            <a:r>
              <a:rPr lang="en-US" cap="all">
                <a:solidFill>
                  <a:schemeClr val="accent1">
                    <a:lumMod val="50000"/>
                  </a:schemeClr>
                </a:solidFill>
                <a:latin typeface="Century Gothic"/>
                <a:ea typeface="+mj-ea"/>
                <a:cs typeface="+mj-cs"/>
              </a:rPr>
              <a:t>: Can you drill-down and identify specific districts, chiefdoms, and facilities that missed the target? What are some characteristics of these districts, chiefdoms, and facilities.</a:t>
            </a:r>
          </a:p>
        </p:txBody>
      </p:sp>
      <p:sp>
        <p:nvSpPr>
          <p:cNvPr id="5" name="TextBox 4">
            <a:extLst>
              <a:ext uri="{FF2B5EF4-FFF2-40B4-BE49-F238E27FC236}">
                <a16:creationId xmlns:a16="http://schemas.microsoft.com/office/drawing/2014/main" id="{832EA4F0-A4F2-70D8-DA4E-A551076D319E}"/>
              </a:ext>
            </a:extLst>
          </p:cNvPr>
          <p:cNvSpPr txBox="1"/>
          <p:nvPr/>
        </p:nvSpPr>
        <p:spPr>
          <a:xfrm>
            <a:off x="296076" y="1003678"/>
            <a:ext cx="5793594" cy="2086725"/>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b="1">
                <a:cs typeface="Segoe UI"/>
              </a:rPr>
              <a:t>Steps to answer:</a:t>
            </a:r>
            <a:r>
              <a:rPr lang="en-US">
                <a:cs typeface="Segoe UI"/>
              </a:rPr>
              <a:t>​</a:t>
            </a:r>
          </a:p>
          <a:p>
            <a:pPr marL="285750" indent="-285750">
              <a:lnSpc>
                <a:spcPct val="90000"/>
              </a:lnSpc>
              <a:buChar char="•"/>
            </a:pPr>
            <a:r>
              <a:rPr lang="en-US">
                <a:cs typeface="Arial"/>
              </a:rPr>
              <a:t>Data visualizer app​</a:t>
            </a:r>
          </a:p>
          <a:p>
            <a:pPr marL="285750" indent="-285750">
              <a:lnSpc>
                <a:spcPct val="90000"/>
              </a:lnSpc>
              <a:buChar char="•"/>
            </a:pPr>
            <a:r>
              <a:rPr lang="en-US">
                <a:cs typeface="Arial"/>
              </a:rPr>
              <a:t>Data: Indicator: Measles Coverage &lt; 1 year, ​</a:t>
            </a:r>
          </a:p>
          <a:p>
            <a:pPr marL="285750" indent="-285750">
              <a:lnSpc>
                <a:spcPct val="90000"/>
              </a:lnSpc>
              <a:buChar char="•"/>
            </a:pPr>
            <a:r>
              <a:rPr lang="en-US">
                <a:cs typeface="Arial"/>
              </a:rPr>
              <a:t>Period: 2022 and 2023 monthly data​</a:t>
            </a:r>
          </a:p>
          <a:p>
            <a:pPr marL="285750" indent="-285750">
              <a:lnSpc>
                <a:spcPct val="90000"/>
              </a:lnSpc>
              <a:buChar char="•"/>
            </a:pPr>
            <a:r>
              <a:rPr lang="en-US">
                <a:cs typeface="Arial"/>
              </a:rPr>
              <a:t>Org Units: all Sierra Leone at District Level​</a:t>
            </a:r>
          </a:p>
          <a:p>
            <a:pPr marL="742950" lvl="1" indent="-285750">
              <a:lnSpc>
                <a:spcPct val="90000"/>
              </a:lnSpc>
              <a:buChar char="•"/>
            </a:pPr>
            <a:r>
              <a:rPr lang="en-US">
                <a:cs typeface="Arial"/>
              </a:rPr>
              <a:t>Data is in percent​</a:t>
            </a:r>
          </a:p>
          <a:p>
            <a:pPr marL="742950" lvl="1" indent="-285750">
              <a:lnSpc>
                <a:spcPct val="90000"/>
              </a:lnSpc>
              <a:buChar char="•"/>
            </a:pPr>
            <a:r>
              <a:rPr lang="en-US">
                <a:cs typeface="Arial"/>
              </a:rPr>
              <a:t>Target line is set at 60%</a:t>
            </a:r>
          </a:p>
          <a:p>
            <a:pPr marL="742950" lvl="1" indent="-285750">
              <a:lnSpc>
                <a:spcPct val="90000"/>
              </a:lnSpc>
              <a:buChar char="•"/>
            </a:pPr>
            <a:r>
              <a:rPr lang="en-US">
                <a:cs typeface="Arial"/>
              </a:rPr>
              <a:t>Drilldown by changing org unit</a:t>
            </a:r>
          </a:p>
        </p:txBody>
      </p:sp>
      <p:pic>
        <p:nvPicPr>
          <p:cNvPr id="7" name="Picture 6">
            <a:extLst>
              <a:ext uri="{FF2B5EF4-FFF2-40B4-BE49-F238E27FC236}">
                <a16:creationId xmlns:a16="http://schemas.microsoft.com/office/drawing/2014/main" id="{94EB74EB-54FF-8AE5-47D9-82FD2CAA57C8}"/>
              </a:ext>
            </a:extLst>
          </p:cNvPr>
          <p:cNvPicPr>
            <a:picLocks noChangeAspect="1"/>
          </p:cNvPicPr>
          <p:nvPr/>
        </p:nvPicPr>
        <p:blipFill>
          <a:blip r:embed="rId2"/>
          <a:stretch>
            <a:fillRect/>
          </a:stretch>
        </p:blipFill>
        <p:spPr>
          <a:xfrm>
            <a:off x="854067" y="3228757"/>
            <a:ext cx="10462921" cy="3517742"/>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CB9C90AC-19E4-7353-556E-6696B8F730FC}"/>
              </a:ext>
            </a:extLst>
          </p:cNvPr>
          <p:cNvPicPr>
            <a:picLocks noChangeAspect="1"/>
          </p:cNvPicPr>
          <p:nvPr/>
        </p:nvPicPr>
        <p:blipFill>
          <a:blip r:embed="rId3"/>
          <a:stretch>
            <a:fillRect/>
          </a:stretch>
        </p:blipFill>
        <p:spPr>
          <a:xfrm>
            <a:off x="6284579" y="1183140"/>
            <a:ext cx="4463497" cy="1913790"/>
          </a:xfrm>
          <a:prstGeom prst="rect">
            <a:avLst/>
          </a:prstGeom>
        </p:spPr>
      </p:pic>
      <p:cxnSp>
        <p:nvCxnSpPr>
          <p:cNvPr id="2" name="Straight Arrow Connector 1">
            <a:extLst>
              <a:ext uri="{FF2B5EF4-FFF2-40B4-BE49-F238E27FC236}">
                <a16:creationId xmlns:a16="http://schemas.microsoft.com/office/drawing/2014/main" id="{5ED27020-3B47-5D94-4BDB-798BBD898AF0}"/>
              </a:ext>
            </a:extLst>
          </p:cNvPr>
          <p:cNvCxnSpPr/>
          <p:nvPr/>
        </p:nvCxnSpPr>
        <p:spPr>
          <a:xfrm flipV="1">
            <a:off x="4598631" y="2561189"/>
            <a:ext cx="1677525" cy="42116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34408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BF9BC2-D29F-680E-E256-DA5C1A6C0E11}"/>
              </a:ext>
            </a:extLst>
          </p:cNvPr>
          <p:cNvSpPr txBox="1"/>
          <p:nvPr/>
        </p:nvSpPr>
        <p:spPr>
          <a:xfrm>
            <a:off x="72597" y="586320"/>
            <a:ext cx="12117354" cy="3102388"/>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1300">
                <a:solidFill>
                  <a:srgbClr val="374151"/>
                </a:solidFill>
                <a:ea typeface="+mn-lt"/>
                <a:cs typeface="+mn-lt"/>
              </a:rPr>
              <a:t>Majority of Sierra Leone districts missed the 60% measles vaccination target for &lt;1-year-olds consistently for all the months.</a:t>
            </a:r>
            <a:endParaRPr lang="en-US" sz="1300">
              <a:solidFill>
                <a:srgbClr val="000000"/>
              </a:solidFill>
              <a:ea typeface="+mn-lt"/>
              <a:cs typeface="+mn-lt"/>
            </a:endParaRPr>
          </a:p>
          <a:p>
            <a:pPr>
              <a:lnSpc>
                <a:spcPct val="90000"/>
              </a:lnSpc>
            </a:pPr>
            <a:r>
              <a:rPr lang="en-US" sz="1300">
                <a:solidFill>
                  <a:srgbClr val="374151"/>
                </a:solidFill>
                <a:ea typeface="+mn-lt"/>
                <a:cs typeface="+mn-lt"/>
              </a:rPr>
              <a:t>Exceptions included specific months in the Western Area district:</a:t>
            </a:r>
            <a:endParaRPr lang="en-US" sz="1300"/>
          </a:p>
          <a:p>
            <a:pPr marL="285750" indent="-285750">
              <a:buFont typeface="Arial"/>
              <a:buChar char="•"/>
            </a:pPr>
            <a:r>
              <a:rPr lang="en-US" sz="1300">
                <a:solidFill>
                  <a:srgbClr val="374151"/>
                </a:solidFill>
                <a:ea typeface="+mn-lt"/>
                <a:cs typeface="+mn-lt"/>
              </a:rPr>
              <a:t> Bo achieved 62.8% coverage in November 2022.</a:t>
            </a:r>
            <a:endParaRPr lang="en-US" sz="1300"/>
          </a:p>
          <a:p>
            <a:pPr marL="285750" indent="-285750">
              <a:buFont typeface="Arial"/>
              <a:buChar char="•"/>
            </a:pPr>
            <a:r>
              <a:rPr lang="en-US" sz="1300">
                <a:solidFill>
                  <a:srgbClr val="374151"/>
                </a:solidFill>
                <a:ea typeface="+mn-lt"/>
                <a:cs typeface="+mn-lt"/>
              </a:rPr>
              <a:t>Western Area showed promising figures:</a:t>
            </a:r>
            <a:endParaRPr lang="en-US" sz="1300"/>
          </a:p>
          <a:p>
            <a:pPr marL="742950" lvl="1" indent="-285750">
              <a:buFont typeface="Arial"/>
              <a:buChar char="•"/>
            </a:pPr>
            <a:r>
              <a:rPr lang="en-US" sz="1300">
                <a:solidFill>
                  <a:srgbClr val="374151"/>
                </a:solidFill>
                <a:ea typeface="+mn-lt"/>
                <a:cs typeface="+mn-lt"/>
              </a:rPr>
              <a:t>February 2022: 66.6%</a:t>
            </a:r>
            <a:endParaRPr lang="en-US" sz="1300"/>
          </a:p>
          <a:p>
            <a:pPr marL="742950" lvl="1" indent="-285750">
              <a:buFont typeface="Arial"/>
              <a:buChar char="•"/>
            </a:pPr>
            <a:r>
              <a:rPr lang="en-US" sz="1300">
                <a:solidFill>
                  <a:srgbClr val="374151"/>
                </a:solidFill>
                <a:ea typeface="+mn-lt"/>
                <a:cs typeface="+mn-lt"/>
              </a:rPr>
              <a:t>May 2022: 74.6%</a:t>
            </a:r>
            <a:endParaRPr lang="en-US" sz="1300"/>
          </a:p>
          <a:p>
            <a:pPr marL="742950" lvl="1" indent="-285750">
              <a:buFont typeface="Arial"/>
              <a:buChar char="•"/>
            </a:pPr>
            <a:r>
              <a:rPr lang="en-US" sz="1300">
                <a:solidFill>
                  <a:srgbClr val="374151"/>
                </a:solidFill>
                <a:ea typeface="+mn-lt"/>
                <a:cs typeface="+mn-lt"/>
              </a:rPr>
              <a:t>June 2022: 61%</a:t>
            </a:r>
            <a:endParaRPr lang="en-US" sz="1300"/>
          </a:p>
          <a:p>
            <a:pPr marL="742950" lvl="1" indent="-285750">
              <a:buFont typeface="Arial"/>
              <a:buChar char="•"/>
            </a:pPr>
            <a:r>
              <a:rPr lang="en-US" sz="1300">
                <a:solidFill>
                  <a:srgbClr val="374151"/>
                </a:solidFill>
                <a:ea typeface="+mn-lt"/>
                <a:cs typeface="+mn-lt"/>
              </a:rPr>
              <a:t>August 2022: 65.2%</a:t>
            </a:r>
            <a:endParaRPr lang="en-US" sz="1300"/>
          </a:p>
          <a:p>
            <a:pPr marL="742950" lvl="1" indent="-285750">
              <a:buFont typeface="Arial"/>
              <a:buChar char="•"/>
            </a:pPr>
            <a:r>
              <a:rPr lang="en-US" sz="1300">
                <a:solidFill>
                  <a:srgbClr val="374151"/>
                </a:solidFill>
                <a:ea typeface="+mn-lt"/>
                <a:cs typeface="+mn-lt"/>
              </a:rPr>
              <a:t>October 2022: 60.4%</a:t>
            </a:r>
          </a:p>
          <a:p>
            <a:pPr marL="742950" lvl="1" indent="-285750">
              <a:buFont typeface="Arial"/>
              <a:buChar char="•"/>
            </a:pPr>
            <a:r>
              <a:rPr lang="en-US" sz="1300">
                <a:solidFill>
                  <a:srgbClr val="374151"/>
                </a:solidFill>
                <a:ea typeface="+mn-lt"/>
                <a:cs typeface="+mn-lt"/>
              </a:rPr>
              <a:t>November 2022: 80.6%</a:t>
            </a:r>
            <a:endParaRPr lang="en-US" sz="1300"/>
          </a:p>
          <a:p>
            <a:pPr marL="742950" lvl="1" indent="-285750">
              <a:buFont typeface="Arial"/>
              <a:buChar char="•"/>
            </a:pPr>
            <a:r>
              <a:rPr lang="en-US" sz="1300">
                <a:solidFill>
                  <a:srgbClr val="374151"/>
                </a:solidFill>
                <a:ea typeface="+mn-lt"/>
                <a:cs typeface="+mn-lt"/>
              </a:rPr>
              <a:t>February 2023: 65.3%</a:t>
            </a:r>
            <a:endParaRPr lang="en-US" sz="1300"/>
          </a:p>
          <a:p>
            <a:pPr marL="742950" lvl="1" indent="-285750">
              <a:buFont typeface="Arial"/>
              <a:buChar char="•"/>
            </a:pPr>
            <a:r>
              <a:rPr lang="en-US" sz="1300">
                <a:solidFill>
                  <a:srgbClr val="374151"/>
                </a:solidFill>
                <a:ea typeface="+mn-lt"/>
                <a:cs typeface="+mn-lt"/>
              </a:rPr>
              <a:t>May 2023: 73.2%</a:t>
            </a:r>
            <a:endParaRPr lang="en-US" sz="1300"/>
          </a:p>
          <a:p>
            <a:pPr marL="742950" lvl="1" indent="-285750">
              <a:buFont typeface="Arial"/>
              <a:buChar char="•"/>
            </a:pPr>
            <a:r>
              <a:rPr lang="en-US" sz="1300">
                <a:solidFill>
                  <a:srgbClr val="374151"/>
                </a:solidFill>
                <a:ea typeface="+mn-lt"/>
                <a:cs typeface="+mn-lt"/>
              </a:rPr>
              <a:t>August 2023: 63.9%</a:t>
            </a:r>
            <a:endParaRPr lang="en-US" sz="1300">
              <a:solidFill>
                <a:srgbClr val="000000"/>
              </a:solidFill>
              <a:ea typeface="+mn-lt"/>
              <a:cs typeface="+mn-lt"/>
            </a:endParaRPr>
          </a:p>
          <a:p>
            <a:pPr marL="742950" lvl="1" indent="-285750">
              <a:buFont typeface="Arial"/>
              <a:buChar char="•"/>
            </a:pPr>
            <a:r>
              <a:rPr lang="en-US" sz="1300">
                <a:solidFill>
                  <a:srgbClr val="374151"/>
                </a:solidFill>
                <a:ea typeface="+mn-lt"/>
                <a:cs typeface="+mn-lt"/>
              </a:rPr>
              <a:t>September 2023: 62.3%</a:t>
            </a:r>
          </a:p>
          <a:p>
            <a:pPr>
              <a:lnSpc>
                <a:spcPct val="90000"/>
              </a:lnSpc>
            </a:pPr>
            <a:endParaRPr lang="en-US">
              <a:solidFill>
                <a:srgbClr val="000000"/>
              </a:solidFill>
            </a:endParaRPr>
          </a:p>
        </p:txBody>
      </p:sp>
      <p:pic>
        <p:nvPicPr>
          <p:cNvPr id="3" name="Picture 2" descr="A screenshot of a data&#10;&#10;Description automatically generated">
            <a:extLst>
              <a:ext uri="{FF2B5EF4-FFF2-40B4-BE49-F238E27FC236}">
                <a16:creationId xmlns:a16="http://schemas.microsoft.com/office/drawing/2014/main" id="{556E3E11-BD08-274A-D407-2AFDFFCC2562}"/>
              </a:ext>
            </a:extLst>
          </p:cNvPr>
          <p:cNvPicPr>
            <a:picLocks noChangeAspect="1"/>
          </p:cNvPicPr>
          <p:nvPr/>
        </p:nvPicPr>
        <p:blipFill>
          <a:blip r:embed="rId2"/>
          <a:stretch>
            <a:fillRect/>
          </a:stretch>
        </p:blipFill>
        <p:spPr>
          <a:xfrm>
            <a:off x="35360" y="3516510"/>
            <a:ext cx="11401396" cy="3305006"/>
          </a:xfrm>
          <a:prstGeom prst="rect">
            <a:avLst/>
          </a:prstGeom>
        </p:spPr>
      </p:pic>
      <p:pic>
        <p:nvPicPr>
          <p:cNvPr id="5" name="Picture 4" descr="A screenshot of a red box&#10;&#10;Description automatically generated">
            <a:extLst>
              <a:ext uri="{FF2B5EF4-FFF2-40B4-BE49-F238E27FC236}">
                <a16:creationId xmlns:a16="http://schemas.microsoft.com/office/drawing/2014/main" id="{FEA4ADA1-825E-492A-025C-681185959CE0}"/>
              </a:ext>
            </a:extLst>
          </p:cNvPr>
          <p:cNvPicPr>
            <a:picLocks noChangeAspect="1"/>
          </p:cNvPicPr>
          <p:nvPr/>
        </p:nvPicPr>
        <p:blipFill rotWithShape="1">
          <a:blip r:embed="rId3"/>
          <a:srcRect l="8824" r="-1471" b="-311"/>
          <a:stretch/>
        </p:blipFill>
        <p:spPr>
          <a:xfrm>
            <a:off x="11441817" y="3484107"/>
            <a:ext cx="677195" cy="3339201"/>
          </a:xfrm>
          <a:prstGeom prst="rect">
            <a:avLst/>
          </a:prstGeom>
        </p:spPr>
      </p:pic>
      <p:pic>
        <p:nvPicPr>
          <p:cNvPr id="9" name="Picture 8" descr="A screen shot of a chart&#10;&#10;Description automatically generated">
            <a:extLst>
              <a:ext uri="{FF2B5EF4-FFF2-40B4-BE49-F238E27FC236}">
                <a16:creationId xmlns:a16="http://schemas.microsoft.com/office/drawing/2014/main" id="{86102B86-4B9D-4B92-852C-56D572F3AEBD}"/>
              </a:ext>
            </a:extLst>
          </p:cNvPr>
          <p:cNvPicPr>
            <a:picLocks noChangeAspect="1"/>
          </p:cNvPicPr>
          <p:nvPr/>
        </p:nvPicPr>
        <p:blipFill>
          <a:blip r:embed="rId4"/>
          <a:stretch>
            <a:fillRect/>
          </a:stretch>
        </p:blipFill>
        <p:spPr>
          <a:xfrm>
            <a:off x="10311372" y="517752"/>
            <a:ext cx="1763215" cy="2975202"/>
          </a:xfrm>
          <a:prstGeom prst="rect">
            <a:avLst/>
          </a:prstGeom>
        </p:spPr>
      </p:pic>
      <p:sp>
        <p:nvSpPr>
          <p:cNvPr id="11" name="Title 3">
            <a:extLst>
              <a:ext uri="{FF2B5EF4-FFF2-40B4-BE49-F238E27FC236}">
                <a16:creationId xmlns:a16="http://schemas.microsoft.com/office/drawing/2014/main" id="{1DB18232-2DA4-7610-D182-EC65A333A538}"/>
              </a:ext>
            </a:extLst>
          </p:cNvPr>
          <p:cNvSpPr>
            <a:spLocks noGrp="1"/>
          </p:cNvSpPr>
          <p:nvPr>
            <p:ph type="title"/>
          </p:nvPr>
        </p:nvSpPr>
        <p:spPr>
          <a:xfrm>
            <a:off x="1968664" y="4026"/>
            <a:ext cx="8252245" cy="543080"/>
          </a:xfrm>
        </p:spPr>
        <p:txBody>
          <a:bodyPr anchor="b">
            <a:noAutofit/>
          </a:bodyPr>
          <a:lstStyle/>
          <a:p>
            <a:pPr algn="ctr"/>
            <a:r>
              <a:rPr lang="en-US" sz="2000" b="1"/>
              <a:t>Q5: </a:t>
            </a:r>
            <a:r>
              <a:rPr lang="en-US" sz="2000"/>
              <a:t>DISTRICT LEVEL DRILL DOWN WITH 60% TARGET LINE</a:t>
            </a:r>
            <a:endParaRPr lang="en-US" sz="2000">
              <a:ea typeface="+mj-lt"/>
              <a:cs typeface="+mj-lt"/>
            </a:endParaRPr>
          </a:p>
        </p:txBody>
      </p:sp>
    </p:spTree>
    <p:extLst>
      <p:ext uri="{BB962C8B-B14F-4D97-AF65-F5344CB8AC3E}">
        <p14:creationId xmlns:p14="http://schemas.microsoft.com/office/powerpoint/2010/main" val="1932500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numbers and a line&#10;&#10;Description automatically generated">
            <a:extLst>
              <a:ext uri="{FF2B5EF4-FFF2-40B4-BE49-F238E27FC236}">
                <a16:creationId xmlns:a16="http://schemas.microsoft.com/office/drawing/2014/main" id="{19E2146A-A8BF-CA74-FACD-9275C63C81B0}"/>
              </a:ext>
            </a:extLst>
          </p:cNvPr>
          <p:cNvPicPr>
            <a:picLocks noChangeAspect="1"/>
          </p:cNvPicPr>
          <p:nvPr/>
        </p:nvPicPr>
        <p:blipFill>
          <a:blip r:embed="rId2"/>
          <a:stretch>
            <a:fillRect/>
          </a:stretch>
        </p:blipFill>
        <p:spPr>
          <a:xfrm>
            <a:off x="65604" y="669846"/>
            <a:ext cx="12055178" cy="5361688"/>
          </a:xfrm>
          <a:prstGeom prst="rect">
            <a:avLst/>
          </a:prstGeom>
        </p:spPr>
      </p:pic>
      <p:sp>
        <p:nvSpPr>
          <p:cNvPr id="6" name="Title 3">
            <a:extLst>
              <a:ext uri="{FF2B5EF4-FFF2-40B4-BE49-F238E27FC236}">
                <a16:creationId xmlns:a16="http://schemas.microsoft.com/office/drawing/2014/main" id="{E02AD648-9578-B44D-A17E-E58134244929}"/>
              </a:ext>
            </a:extLst>
          </p:cNvPr>
          <p:cNvSpPr>
            <a:spLocks noGrp="1"/>
          </p:cNvSpPr>
          <p:nvPr>
            <p:ph type="title"/>
          </p:nvPr>
        </p:nvSpPr>
        <p:spPr>
          <a:xfrm>
            <a:off x="1968664" y="4026"/>
            <a:ext cx="8252245" cy="543080"/>
          </a:xfrm>
        </p:spPr>
        <p:txBody>
          <a:bodyPr anchor="b">
            <a:noAutofit/>
          </a:bodyPr>
          <a:lstStyle/>
          <a:p>
            <a:pPr algn="ctr"/>
            <a:r>
              <a:rPr lang="en-US" sz="2000" b="1"/>
              <a:t>Q5: </a:t>
            </a:r>
            <a:r>
              <a:rPr lang="en-US" sz="2000"/>
              <a:t>DISTRICT LEVEL DRILL DOWN WITH 60% TARGET LINE</a:t>
            </a:r>
            <a:endParaRPr lang="en-US" sz="2000">
              <a:ea typeface="+mj-lt"/>
              <a:cs typeface="+mj-lt"/>
            </a:endParaRPr>
          </a:p>
        </p:txBody>
      </p:sp>
      <p:sp>
        <p:nvSpPr>
          <p:cNvPr id="4" name="TextBox 3">
            <a:extLst>
              <a:ext uri="{FF2B5EF4-FFF2-40B4-BE49-F238E27FC236}">
                <a16:creationId xmlns:a16="http://schemas.microsoft.com/office/drawing/2014/main" id="{06C5EC9C-C8A1-8290-D15C-BC434EA71AF7}"/>
              </a:ext>
            </a:extLst>
          </p:cNvPr>
          <p:cNvSpPr txBox="1"/>
          <p:nvPr/>
        </p:nvSpPr>
        <p:spPr>
          <a:xfrm>
            <a:off x="59644" y="6162461"/>
            <a:ext cx="12162304" cy="535531"/>
          </a:xfrm>
          <a:prstGeom prst="rect">
            <a:avLst/>
          </a:prstGeom>
          <a:noFill/>
          <a:ln>
            <a:solidFill>
              <a:schemeClr val="bg2"/>
            </a:solidFill>
          </a:ln>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nSpc>
                <a:spcPct val="90000"/>
              </a:lnSpc>
            </a:pPr>
            <a:r>
              <a:rPr lang="en-US" sz="1600">
                <a:ea typeface="+mn-lt"/>
                <a:cs typeface="+mn-lt"/>
              </a:rPr>
              <a:t>Only Bo and Western area districts have surpassed the 60% target line at the district level, while the remaining districts fall </a:t>
            </a:r>
          </a:p>
          <a:p>
            <a:pPr>
              <a:lnSpc>
                <a:spcPct val="90000"/>
              </a:lnSpc>
            </a:pPr>
            <a:r>
              <a:rPr lang="en-US" sz="1600">
                <a:ea typeface="+mn-lt"/>
                <a:cs typeface="+mn-lt"/>
              </a:rPr>
              <a:t>below the 60% target line.</a:t>
            </a:r>
            <a:endParaRPr lang="en-US" sz="1600"/>
          </a:p>
        </p:txBody>
      </p:sp>
    </p:spTree>
    <p:extLst>
      <p:ext uri="{BB962C8B-B14F-4D97-AF65-F5344CB8AC3E}">
        <p14:creationId xmlns:p14="http://schemas.microsoft.com/office/powerpoint/2010/main" val="1785945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the average measles&#10;&#10;Description automatically generated">
            <a:extLst>
              <a:ext uri="{FF2B5EF4-FFF2-40B4-BE49-F238E27FC236}">
                <a16:creationId xmlns:a16="http://schemas.microsoft.com/office/drawing/2014/main" id="{7652749D-A654-7B7B-14C5-20677E6058B7}"/>
              </a:ext>
            </a:extLst>
          </p:cNvPr>
          <p:cNvPicPr>
            <a:picLocks noChangeAspect="1"/>
          </p:cNvPicPr>
          <p:nvPr/>
        </p:nvPicPr>
        <p:blipFill>
          <a:blip r:embed="rId2"/>
          <a:stretch>
            <a:fillRect/>
          </a:stretch>
        </p:blipFill>
        <p:spPr>
          <a:xfrm>
            <a:off x="58230" y="873985"/>
            <a:ext cx="12068651" cy="5283274"/>
          </a:xfrm>
          <a:prstGeom prst="rect">
            <a:avLst/>
          </a:prstGeom>
        </p:spPr>
      </p:pic>
      <p:sp>
        <p:nvSpPr>
          <p:cNvPr id="6" name="Title 3">
            <a:extLst>
              <a:ext uri="{FF2B5EF4-FFF2-40B4-BE49-F238E27FC236}">
                <a16:creationId xmlns:a16="http://schemas.microsoft.com/office/drawing/2014/main" id="{E5C832EC-1D6E-23CD-F05D-5ABE475BA24D}"/>
              </a:ext>
            </a:extLst>
          </p:cNvPr>
          <p:cNvSpPr>
            <a:spLocks noGrp="1"/>
          </p:cNvSpPr>
          <p:nvPr>
            <p:ph type="title"/>
          </p:nvPr>
        </p:nvSpPr>
        <p:spPr>
          <a:xfrm>
            <a:off x="1968664" y="104744"/>
            <a:ext cx="8252245" cy="543080"/>
          </a:xfrm>
        </p:spPr>
        <p:txBody>
          <a:bodyPr anchor="b">
            <a:noAutofit/>
          </a:bodyPr>
          <a:lstStyle/>
          <a:p>
            <a:pPr algn="ctr"/>
            <a:r>
              <a:rPr lang="en-US" sz="2000" b="1"/>
              <a:t>Q5: </a:t>
            </a:r>
            <a:r>
              <a:rPr lang="en-US" sz="2000"/>
              <a:t>CHIEFDOM LEVEL DRILL DOWN FOR DISTRICT BO</a:t>
            </a:r>
            <a:endParaRPr lang="en-US" sz="2000">
              <a:ea typeface="+mj-lt"/>
              <a:cs typeface="+mj-lt"/>
            </a:endParaRPr>
          </a:p>
        </p:txBody>
      </p:sp>
    </p:spTree>
    <p:extLst>
      <p:ext uri="{BB962C8B-B14F-4D97-AF65-F5344CB8AC3E}">
        <p14:creationId xmlns:p14="http://schemas.microsoft.com/office/powerpoint/2010/main" val="1741517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EA7060-8129-A722-E758-9F4EE6439865}"/>
              </a:ext>
            </a:extLst>
          </p:cNvPr>
          <p:cNvPicPr>
            <a:picLocks noChangeAspect="1"/>
          </p:cNvPicPr>
          <p:nvPr/>
        </p:nvPicPr>
        <p:blipFill>
          <a:blip r:embed="rId2"/>
          <a:stretch>
            <a:fillRect/>
          </a:stretch>
        </p:blipFill>
        <p:spPr>
          <a:xfrm>
            <a:off x="130967" y="727894"/>
            <a:ext cx="11930864" cy="5325167"/>
          </a:xfrm>
          <a:prstGeom prst="rect">
            <a:avLst/>
          </a:prstGeom>
        </p:spPr>
      </p:pic>
      <p:sp>
        <p:nvSpPr>
          <p:cNvPr id="6" name="Title 3">
            <a:extLst>
              <a:ext uri="{FF2B5EF4-FFF2-40B4-BE49-F238E27FC236}">
                <a16:creationId xmlns:a16="http://schemas.microsoft.com/office/drawing/2014/main" id="{8AA9794A-E8BB-6302-C767-84F5F83936D9}"/>
              </a:ext>
            </a:extLst>
          </p:cNvPr>
          <p:cNvSpPr>
            <a:spLocks noGrp="1"/>
          </p:cNvSpPr>
          <p:nvPr>
            <p:ph type="title"/>
          </p:nvPr>
        </p:nvSpPr>
        <p:spPr>
          <a:xfrm>
            <a:off x="1968664" y="131680"/>
            <a:ext cx="8252245" cy="543080"/>
          </a:xfrm>
        </p:spPr>
        <p:txBody>
          <a:bodyPr anchor="b">
            <a:noAutofit/>
          </a:bodyPr>
          <a:lstStyle/>
          <a:p>
            <a:pPr algn="ctr"/>
            <a:r>
              <a:rPr lang="en-US" sz="2000" b="1"/>
              <a:t>Q5: </a:t>
            </a:r>
            <a:r>
              <a:rPr lang="en-US" sz="2000"/>
              <a:t>FACILITY LEVEL DRILL DOWN WITH 60% TARGET LINE of chiefdom </a:t>
            </a:r>
            <a:r>
              <a:rPr lang="en-US" sz="2000" err="1"/>
              <a:t>BAjda</a:t>
            </a:r>
            <a:r>
              <a:rPr lang="en-US" sz="2000"/>
              <a:t> of Bo district</a:t>
            </a:r>
            <a:endParaRPr lang="en-US" sz="2000" err="1">
              <a:ea typeface="+mj-lt"/>
              <a:cs typeface="+mj-lt"/>
            </a:endParaRPr>
          </a:p>
        </p:txBody>
      </p:sp>
      <p:sp>
        <p:nvSpPr>
          <p:cNvPr id="3" name="TextBox 2">
            <a:extLst>
              <a:ext uri="{FF2B5EF4-FFF2-40B4-BE49-F238E27FC236}">
                <a16:creationId xmlns:a16="http://schemas.microsoft.com/office/drawing/2014/main" id="{9BAF7924-72C2-D9CF-77A7-974F818D3493}"/>
              </a:ext>
            </a:extLst>
          </p:cNvPr>
          <p:cNvSpPr txBox="1"/>
          <p:nvPr/>
        </p:nvSpPr>
        <p:spPr>
          <a:xfrm>
            <a:off x="72597" y="5912325"/>
            <a:ext cx="11668205" cy="840230"/>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endParaRPr lang="en-US"/>
          </a:p>
          <a:p>
            <a:pPr>
              <a:lnSpc>
                <a:spcPct val="90000"/>
              </a:lnSpc>
            </a:pPr>
            <a:r>
              <a:rPr lang="en-US">
                <a:solidFill>
                  <a:srgbClr val="374151"/>
                </a:solidFill>
                <a:latin typeface="Century Gothic"/>
              </a:rPr>
              <a:t>This missing information might mean there isn't enough data from MCHPs or that these places have no </a:t>
            </a:r>
            <a:endParaRPr lang="en-US">
              <a:solidFill>
                <a:srgbClr val="000000"/>
              </a:solidFill>
              <a:latin typeface="Century Gothic"/>
            </a:endParaRPr>
          </a:p>
          <a:p>
            <a:pPr>
              <a:lnSpc>
                <a:spcPct val="90000"/>
              </a:lnSpc>
            </a:pPr>
            <a:r>
              <a:rPr lang="en-US">
                <a:solidFill>
                  <a:srgbClr val="374151"/>
                </a:solidFill>
                <a:latin typeface="Century Gothic"/>
              </a:rPr>
              <a:t>Vaccination coverage, which could lead to lower vaccination rates overall.</a:t>
            </a:r>
            <a:endParaRPr lang="en-US">
              <a:latin typeface="Century Gothic"/>
            </a:endParaRPr>
          </a:p>
        </p:txBody>
      </p:sp>
    </p:spTree>
    <p:extLst>
      <p:ext uri="{BB962C8B-B14F-4D97-AF65-F5344CB8AC3E}">
        <p14:creationId xmlns:p14="http://schemas.microsoft.com/office/powerpoint/2010/main" val="444667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ADBE00-5EB9-F0A8-516B-C31620DAC374}"/>
              </a:ext>
            </a:extLst>
          </p:cNvPr>
          <p:cNvSpPr txBox="1"/>
          <p:nvPr/>
        </p:nvSpPr>
        <p:spPr>
          <a:xfrm>
            <a:off x="126561" y="66098"/>
            <a:ext cx="11933959" cy="382847"/>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just">
              <a:lnSpc>
                <a:spcPct val="90000"/>
              </a:lnSpc>
              <a:spcBef>
                <a:spcPct val="0"/>
              </a:spcBef>
              <a:spcAft>
                <a:spcPts val="600"/>
              </a:spcAft>
            </a:pPr>
            <a:r>
              <a:rPr lang="en-US" b="1" cap="all">
                <a:solidFill>
                  <a:schemeClr val="accent1">
                    <a:lumMod val="50000"/>
                  </a:schemeClr>
                </a:solidFill>
                <a:latin typeface="Century Gothic"/>
                <a:ea typeface="+mj-ea"/>
                <a:cs typeface="+mj-cs"/>
              </a:rPr>
              <a:t>Question 5</a:t>
            </a:r>
            <a:r>
              <a:rPr lang="en-US" cap="all">
                <a:solidFill>
                  <a:schemeClr val="accent1">
                    <a:lumMod val="50000"/>
                  </a:schemeClr>
                </a:solidFill>
                <a:latin typeface="Century Gothic"/>
                <a:ea typeface="+mj-ea"/>
                <a:cs typeface="+mj-cs"/>
              </a:rPr>
              <a:t>: </a:t>
            </a:r>
            <a:endParaRPr lang="en-US" cap="all">
              <a:solidFill>
                <a:schemeClr val="accent1">
                  <a:lumMod val="50000"/>
                </a:schemeClr>
              </a:solidFill>
              <a:latin typeface="Merriweather"/>
              <a:ea typeface="+mj-ea"/>
              <a:cs typeface="+mj-cs"/>
            </a:endParaRPr>
          </a:p>
        </p:txBody>
      </p:sp>
      <p:sp>
        <p:nvSpPr>
          <p:cNvPr id="4" name="TextBox 3">
            <a:extLst>
              <a:ext uri="{FF2B5EF4-FFF2-40B4-BE49-F238E27FC236}">
                <a16:creationId xmlns:a16="http://schemas.microsoft.com/office/drawing/2014/main" id="{9B026C2E-D9CF-9DB5-0028-CB6E42012509}"/>
              </a:ext>
            </a:extLst>
          </p:cNvPr>
          <p:cNvSpPr txBox="1"/>
          <p:nvPr/>
        </p:nvSpPr>
        <p:spPr>
          <a:xfrm>
            <a:off x="8867117" y="1574033"/>
            <a:ext cx="3018651" cy="1421928"/>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90000"/>
              </a:lnSpc>
            </a:pPr>
            <a:r>
              <a:rPr lang="en-US" sz="2400"/>
              <a:t>Chiefdom level view</a:t>
            </a:r>
            <a:endParaRPr lang="en-US"/>
          </a:p>
          <a:p>
            <a:pPr algn="ctr">
              <a:lnSpc>
                <a:spcPct val="90000"/>
              </a:lnSpc>
            </a:pPr>
            <a:r>
              <a:rPr lang="en-US" sz="2400"/>
              <a:t> of </a:t>
            </a:r>
            <a:r>
              <a:rPr lang="en-US" sz="2400" err="1"/>
              <a:t>Bargbe</a:t>
            </a:r>
            <a:r>
              <a:rPr lang="en-US" sz="2400"/>
              <a:t> of Bo district</a:t>
            </a:r>
          </a:p>
        </p:txBody>
      </p:sp>
      <p:pic>
        <p:nvPicPr>
          <p:cNvPr id="5" name="Picture 4" descr="A graph of different colored bars&#10;&#10;Description automatically generated">
            <a:extLst>
              <a:ext uri="{FF2B5EF4-FFF2-40B4-BE49-F238E27FC236}">
                <a16:creationId xmlns:a16="http://schemas.microsoft.com/office/drawing/2014/main" id="{3C563498-0155-2046-84FA-4140D6379036}"/>
              </a:ext>
            </a:extLst>
          </p:cNvPr>
          <p:cNvPicPr>
            <a:picLocks noChangeAspect="1"/>
          </p:cNvPicPr>
          <p:nvPr/>
        </p:nvPicPr>
        <p:blipFill>
          <a:blip r:embed="rId2"/>
          <a:stretch>
            <a:fillRect/>
          </a:stretch>
        </p:blipFill>
        <p:spPr>
          <a:xfrm>
            <a:off x="121817" y="559710"/>
            <a:ext cx="7879222" cy="3295379"/>
          </a:xfrm>
          <a:prstGeom prst="rect">
            <a:avLst/>
          </a:prstGeom>
        </p:spPr>
      </p:pic>
      <p:pic>
        <p:nvPicPr>
          <p:cNvPr id="6" name="Picture 5">
            <a:extLst>
              <a:ext uri="{FF2B5EF4-FFF2-40B4-BE49-F238E27FC236}">
                <a16:creationId xmlns:a16="http://schemas.microsoft.com/office/drawing/2014/main" id="{9E3E3B0E-B817-1D32-EDB4-51B140CBB865}"/>
              </a:ext>
            </a:extLst>
          </p:cNvPr>
          <p:cNvPicPr>
            <a:picLocks noChangeAspect="1"/>
          </p:cNvPicPr>
          <p:nvPr/>
        </p:nvPicPr>
        <p:blipFill>
          <a:blip r:embed="rId3"/>
          <a:stretch>
            <a:fillRect/>
          </a:stretch>
        </p:blipFill>
        <p:spPr>
          <a:xfrm>
            <a:off x="4741293" y="3889680"/>
            <a:ext cx="7055333" cy="2888407"/>
          </a:xfrm>
          <a:prstGeom prst="rect">
            <a:avLst/>
          </a:prstGeom>
        </p:spPr>
      </p:pic>
      <p:sp>
        <p:nvSpPr>
          <p:cNvPr id="7" name="TextBox 6">
            <a:extLst>
              <a:ext uri="{FF2B5EF4-FFF2-40B4-BE49-F238E27FC236}">
                <a16:creationId xmlns:a16="http://schemas.microsoft.com/office/drawing/2014/main" id="{5ED04741-A28C-927D-B822-C0B59E9A4D8C}"/>
              </a:ext>
            </a:extLst>
          </p:cNvPr>
          <p:cNvSpPr txBox="1"/>
          <p:nvPr/>
        </p:nvSpPr>
        <p:spPr>
          <a:xfrm>
            <a:off x="817306" y="5027581"/>
            <a:ext cx="3018651" cy="1089529"/>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90000"/>
              </a:lnSpc>
            </a:pPr>
            <a:r>
              <a:rPr lang="en-US" sz="2400"/>
              <a:t>Facility level drill down of </a:t>
            </a:r>
            <a:r>
              <a:rPr lang="en-US" sz="2400" err="1"/>
              <a:t>Bargbe</a:t>
            </a:r>
            <a:r>
              <a:rPr lang="en-US" sz="2400"/>
              <a:t> of Bo district</a:t>
            </a:r>
            <a:endParaRPr lang="en-US" err="1"/>
          </a:p>
        </p:txBody>
      </p:sp>
      <p:sp>
        <p:nvSpPr>
          <p:cNvPr id="8" name="Arrow: Left 7">
            <a:extLst>
              <a:ext uri="{FF2B5EF4-FFF2-40B4-BE49-F238E27FC236}">
                <a16:creationId xmlns:a16="http://schemas.microsoft.com/office/drawing/2014/main" id="{FC9D2049-026E-4098-52C7-9B3839883D04}"/>
              </a:ext>
            </a:extLst>
          </p:cNvPr>
          <p:cNvSpPr/>
          <p:nvPr/>
        </p:nvSpPr>
        <p:spPr>
          <a:xfrm>
            <a:off x="8338285" y="1883732"/>
            <a:ext cx="480257" cy="240840"/>
          </a:xfrm>
          <a:prstGeom prst="leftArrow">
            <a:avLst/>
          </a:prstGeom>
          <a:solidFill>
            <a:schemeClr val="tx1"/>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9" name="Arrow: Right 8">
            <a:extLst>
              <a:ext uri="{FF2B5EF4-FFF2-40B4-BE49-F238E27FC236}">
                <a16:creationId xmlns:a16="http://schemas.microsoft.com/office/drawing/2014/main" id="{F580F6D2-E70B-13BB-6C10-171F61F0748B}"/>
              </a:ext>
            </a:extLst>
          </p:cNvPr>
          <p:cNvSpPr/>
          <p:nvPr/>
        </p:nvSpPr>
        <p:spPr>
          <a:xfrm>
            <a:off x="3989918" y="5194112"/>
            <a:ext cx="586245" cy="304438"/>
          </a:xfrm>
          <a:prstGeom prst="rightArrow">
            <a:avLst/>
          </a:prstGeom>
          <a:solidFill>
            <a:schemeClr val="tx1"/>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Tree>
    <p:extLst>
      <p:ext uri="{BB962C8B-B14F-4D97-AF65-F5344CB8AC3E}">
        <p14:creationId xmlns:p14="http://schemas.microsoft.com/office/powerpoint/2010/main" val="168436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ADBE00-5EB9-F0A8-516B-C31620DAC374}"/>
              </a:ext>
            </a:extLst>
          </p:cNvPr>
          <p:cNvSpPr txBox="1"/>
          <p:nvPr/>
        </p:nvSpPr>
        <p:spPr>
          <a:xfrm>
            <a:off x="126561" y="66098"/>
            <a:ext cx="11933959" cy="382847"/>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just">
              <a:lnSpc>
                <a:spcPct val="90000"/>
              </a:lnSpc>
              <a:spcBef>
                <a:spcPct val="0"/>
              </a:spcBef>
              <a:spcAft>
                <a:spcPts val="600"/>
              </a:spcAft>
            </a:pPr>
            <a:r>
              <a:rPr lang="en-US" b="1" cap="all">
                <a:solidFill>
                  <a:schemeClr val="accent1">
                    <a:lumMod val="50000"/>
                  </a:schemeClr>
                </a:solidFill>
                <a:latin typeface="Century Gothic"/>
                <a:ea typeface="+mj-ea"/>
                <a:cs typeface="+mj-cs"/>
              </a:rPr>
              <a:t>Question 5</a:t>
            </a:r>
            <a:r>
              <a:rPr lang="en-US" cap="all">
                <a:solidFill>
                  <a:schemeClr val="accent1">
                    <a:lumMod val="50000"/>
                  </a:schemeClr>
                </a:solidFill>
                <a:latin typeface="Century Gothic"/>
                <a:ea typeface="+mj-ea"/>
                <a:cs typeface="+mj-cs"/>
              </a:rPr>
              <a:t>: </a:t>
            </a:r>
          </a:p>
        </p:txBody>
      </p:sp>
      <p:pic>
        <p:nvPicPr>
          <p:cNvPr id="2" name="Picture 1" descr="A graph of different colored lines&#10;&#10;Description automatically generated">
            <a:extLst>
              <a:ext uri="{FF2B5EF4-FFF2-40B4-BE49-F238E27FC236}">
                <a16:creationId xmlns:a16="http://schemas.microsoft.com/office/drawing/2014/main" id="{86DC8B90-624B-7CAE-AFC0-B2B632B0B01E}"/>
              </a:ext>
            </a:extLst>
          </p:cNvPr>
          <p:cNvPicPr>
            <a:picLocks noChangeAspect="1"/>
          </p:cNvPicPr>
          <p:nvPr/>
        </p:nvPicPr>
        <p:blipFill>
          <a:blip r:embed="rId2"/>
          <a:stretch>
            <a:fillRect/>
          </a:stretch>
        </p:blipFill>
        <p:spPr>
          <a:xfrm>
            <a:off x="309656" y="447369"/>
            <a:ext cx="8026287" cy="3180424"/>
          </a:xfrm>
          <a:prstGeom prst="rect">
            <a:avLst/>
          </a:prstGeom>
        </p:spPr>
      </p:pic>
      <p:pic>
        <p:nvPicPr>
          <p:cNvPr id="7" name="Picture 6" descr="A graph with numbers and lines&#10;&#10;Description automatically generated">
            <a:extLst>
              <a:ext uri="{FF2B5EF4-FFF2-40B4-BE49-F238E27FC236}">
                <a16:creationId xmlns:a16="http://schemas.microsoft.com/office/drawing/2014/main" id="{6CE11C77-7762-2A2E-7DF2-543B537AB31A}"/>
              </a:ext>
            </a:extLst>
          </p:cNvPr>
          <p:cNvPicPr>
            <a:picLocks noChangeAspect="1"/>
          </p:cNvPicPr>
          <p:nvPr/>
        </p:nvPicPr>
        <p:blipFill>
          <a:blip r:embed="rId3"/>
          <a:stretch>
            <a:fillRect/>
          </a:stretch>
        </p:blipFill>
        <p:spPr>
          <a:xfrm>
            <a:off x="4591070" y="3621313"/>
            <a:ext cx="7595882" cy="3238386"/>
          </a:xfrm>
          <a:prstGeom prst="rect">
            <a:avLst/>
          </a:prstGeom>
        </p:spPr>
      </p:pic>
      <p:sp>
        <p:nvSpPr>
          <p:cNvPr id="9" name="TextBox 8">
            <a:extLst>
              <a:ext uri="{FF2B5EF4-FFF2-40B4-BE49-F238E27FC236}">
                <a16:creationId xmlns:a16="http://schemas.microsoft.com/office/drawing/2014/main" id="{3BF6E33A-B303-6A4B-68A5-6A2FA5721581}"/>
              </a:ext>
            </a:extLst>
          </p:cNvPr>
          <p:cNvSpPr txBox="1"/>
          <p:nvPr/>
        </p:nvSpPr>
        <p:spPr>
          <a:xfrm>
            <a:off x="8867117" y="1574033"/>
            <a:ext cx="3124640" cy="1089529"/>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90000"/>
              </a:lnSpc>
            </a:pPr>
            <a:r>
              <a:rPr lang="en-US" sz="2400"/>
              <a:t>Chiefdom level view</a:t>
            </a:r>
            <a:endParaRPr lang="en-US"/>
          </a:p>
          <a:p>
            <a:pPr algn="ctr">
              <a:lnSpc>
                <a:spcPct val="90000"/>
              </a:lnSpc>
            </a:pPr>
            <a:r>
              <a:rPr lang="en-US" sz="2400"/>
              <a:t> of Western area</a:t>
            </a:r>
          </a:p>
        </p:txBody>
      </p:sp>
      <p:sp>
        <p:nvSpPr>
          <p:cNvPr id="10" name="TextBox 9">
            <a:extLst>
              <a:ext uri="{FF2B5EF4-FFF2-40B4-BE49-F238E27FC236}">
                <a16:creationId xmlns:a16="http://schemas.microsoft.com/office/drawing/2014/main" id="{7F482018-9813-97E2-518C-8D390F33B676}"/>
              </a:ext>
            </a:extLst>
          </p:cNvPr>
          <p:cNvSpPr txBox="1"/>
          <p:nvPr/>
        </p:nvSpPr>
        <p:spPr>
          <a:xfrm>
            <a:off x="721983" y="4508501"/>
            <a:ext cx="3124640" cy="1089529"/>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90000"/>
              </a:lnSpc>
            </a:pPr>
            <a:r>
              <a:rPr lang="en-US" sz="2400"/>
              <a:t>Facility level drill down of Rural Western area</a:t>
            </a:r>
            <a:endParaRPr lang="en-US"/>
          </a:p>
        </p:txBody>
      </p:sp>
      <p:sp>
        <p:nvSpPr>
          <p:cNvPr id="12" name="Arrow: Left 11">
            <a:extLst>
              <a:ext uri="{FF2B5EF4-FFF2-40B4-BE49-F238E27FC236}">
                <a16:creationId xmlns:a16="http://schemas.microsoft.com/office/drawing/2014/main" id="{F98EE9A2-0F22-179F-E4E9-9D9C6A14BCAC}"/>
              </a:ext>
            </a:extLst>
          </p:cNvPr>
          <p:cNvSpPr/>
          <p:nvPr/>
        </p:nvSpPr>
        <p:spPr>
          <a:xfrm>
            <a:off x="8687846" y="2000260"/>
            <a:ext cx="480257" cy="240840"/>
          </a:xfrm>
          <a:prstGeom prst="leftArrow">
            <a:avLst/>
          </a:prstGeom>
          <a:solidFill>
            <a:schemeClr val="tx1"/>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14" name="Arrow: Right 13">
            <a:extLst>
              <a:ext uri="{FF2B5EF4-FFF2-40B4-BE49-F238E27FC236}">
                <a16:creationId xmlns:a16="http://schemas.microsoft.com/office/drawing/2014/main" id="{F20CF65C-D26B-3761-9F01-2E68964183ED}"/>
              </a:ext>
            </a:extLst>
          </p:cNvPr>
          <p:cNvSpPr/>
          <p:nvPr/>
        </p:nvSpPr>
        <p:spPr>
          <a:xfrm>
            <a:off x="3894584" y="4929276"/>
            <a:ext cx="586245" cy="304438"/>
          </a:xfrm>
          <a:prstGeom prst="rightArrow">
            <a:avLst/>
          </a:prstGeom>
          <a:solidFill>
            <a:schemeClr val="tx1"/>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Tree>
    <p:extLst>
      <p:ext uri="{BB962C8B-B14F-4D97-AF65-F5344CB8AC3E}">
        <p14:creationId xmlns:p14="http://schemas.microsoft.com/office/powerpoint/2010/main" val="1176998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numbers and a line&#10;&#10;Description automatically generated">
            <a:extLst>
              <a:ext uri="{FF2B5EF4-FFF2-40B4-BE49-F238E27FC236}">
                <a16:creationId xmlns:a16="http://schemas.microsoft.com/office/drawing/2014/main" id="{51E1DBFB-01DB-8530-ACE8-4C147C7F51C3}"/>
              </a:ext>
            </a:extLst>
          </p:cNvPr>
          <p:cNvPicPr>
            <a:picLocks noChangeAspect="1"/>
          </p:cNvPicPr>
          <p:nvPr/>
        </p:nvPicPr>
        <p:blipFill>
          <a:blip r:embed="rId2"/>
          <a:stretch>
            <a:fillRect/>
          </a:stretch>
        </p:blipFill>
        <p:spPr>
          <a:xfrm>
            <a:off x="453963" y="1205999"/>
            <a:ext cx="11456253" cy="4777384"/>
          </a:xfrm>
          <a:prstGeom prst="rect">
            <a:avLst/>
          </a:prstGeom>
        </p:spPr>
      </p:pic>
      <p:sp>
        <p:nvSpPr>
          <p:cNvPr id="6" name="TextBox 5">
            <a:extLst>
              <a:ext uri="{FF2B5EF4-FFF2-40B4-BE49-F238E27FC236}">
                <a16:creationId xmlns:a16="http://schemas.microsoft.com/office/drawing/2014/main" id="{A5E31EB3-320D-FE53-11C9-A5836CA26EF2}"/>
              </a:ext>
            </a:extLst>
          </p:cNvPr>
          <p:cNvSpPr txBox="1"/>
          <p:nvPr/>
        </p:nvSpPr>
        <p:spPr>
          <a:xfrm>
            <a:off x="455084" y="5970396"/>
            <a:ext cx="11595482" cy="480131"/>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1400">
                <a:solidFill>
                  <a:srgbClr val="374151"/>
                </a:solidFill>
                <a:ea typeface="+mn-lt"/>
                <a:cs typeface="+mn-lt"/>
              </a:rPr>
              <a:t>Most districts failing to meet the target are from the Northern area, while those successfully reaching the target are predominantly</a:t>
            </a:r>
            <a:endParaRPr lang="en-US" sz="1400">
              <a:solidFill>
                <a:srgbClr val="000000"/>
              </a:solidFill>
              <a:ea typeface="+mn-lt"/>
              <a:cs typeface="+mn-lt"/>
            </a:endParaRPr>
          </a:p>
          <a:p>
            <a:pPr>
              <a:lnSpc>
                <a:spcPct val="90000"/>
              </a:lnSpc>
            </a:pPr>
            <a:r>
              <a:rPr lang="en-US" sz="1400">
                <a:solidFill>
                  <a:srgbClr val="374151"/>
                </a:solidFill>
                <a:ea typeface="+mn-lt"/>
                <a:cs typeface="+mn-lt"/>
              </a:rPr>
              <a:t>from the Western area except for </a:t>
            </a:r>
            <a:r>
              <a:rPr lang="en-US" sz="1400" err="1">
                <a:solidFill>
                  <a:srgbClr val="374151"/>
                </a:solidFill>
                <a:ea typeface="+mn-lt"/>
                <a:cs typeface="+mn-lt"/>
              </a:rPr>
              <a:t>Kambia</a:t>
            </a:r>
            <a:r>
              <a:rPr lang="en-US" sz="1400">
                <a:solidFill>
                  <a:srgbClr val="374151"/>
                </a:solidFill>
                <a:ea typeface="+mn-lt"/>
                <a:cs typeface="+mn-lt"/>
              </a:rPr>
              <a:t>, with a few from the Southern area.</a:t>
            </a:r>
            <a:endParaRPr lang="en-US" sz="1400"/>
          </a:p>
        </p:txBody>
      </p:sp>
      <p:sp>
        <p:nvSpPr>
          <p:cNvPr id="8" name="Title 3">
            <a:extLst>
              <a:ext uri="{FF2B5EF4-FFF2-40B4-BE49-F238E27FC236}">
                <a16:creationId xmlns:a16="http://schemas.microsoft.com/office/drawing/2014/main" id="{DE72D9F7-F41E-E9D0-8AAD-6490FC1BF80F}"/>
              </a:ext>
            </a:extLst>
          </p:cNvPr>
          <p:cNvSpPr>
            <a:spLocks noGrp="1"/>
          </p:cNvSpPr>
          <p:nvPr>
            <p:ph type="title"/>
          </p:nvPr>
        </p:nvSpPr>
        <p:spPr>
          <a:xfrm>
            <a:off x="1968664" y="68119"/>
            <a:ext cx="8252245" cy="543080"/>
          </a:xfrm>
        </p:spPr>
        <p:txBody>
          <a:bodyPr anchor="b">
            <a:noAutofit/>
          </a:bodyPr>
          <a:lstStyle/>
          <a:p>
            <a:pPr algn="ctr"/>
            <a:r>
              <a:rPr lang="en-US" sz="2000" b="1"/>
              <a:t>Q5: </a:t>
            </a:r>
            <a:r>
              <a:rPr lang="en-US" sz="2000"/>
              <a:t>characteristics of AREAS below Target Line</a:t>
            </a:r>
            <a:endParaRPr lang="en-US" sz="2000">
              <a:ea typeface="+mj-lt"/>
              <a:cs typeface="+mj-lt"/>
            </a:endParaRPr>
          </a:p>
        </p:txBody>
      </p:sp>
      <p:sp>
        <p:nvSpPr>
          <p:cNvPr id="2" name="TextBox 1">
            <a:extLst>
              <a:ext uri="{FF2B5EF4-FFF2-40B4-BE49-F238E27FC236}">
                <a16:creationId xmlns:a16="http://schemas.microsoft.com/office/drawing/2014/main" id="{E4BBE85D-428F-C85B-4548-82FC6E4CFCCF}"/>
              </a:ext>
            </a:extLst>
          </p:cNvPr>
          <p:cNvSpPr txBox="1"/>
          <p:nvPr/>
        </p:nvSpPr>
        <p:spPr>
          <a:xfrm>
            <a:off x="457700" y="838599"/>
            <a:ext cx="2157963" cy="313932"/>
          </a:xfrm>
          <a:prstGeom prst="rect">
            <a:avLst/>
          </a:prstGeom>
          <a:noFill/>
          <a:ln>
            <a:solidFill>
              <a:schemeClr val="bg2"/>
            </a:solidFill>
          </a:ln>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nSpc>
                <a:spcPct val="90000"/>
              </a:lnSpc>
            </a:pPr>
            <a:r>
              <a:rPr lang="en-US" sz="1600" b="1"/>
              <a:t>Dimension:</a:t>
            </a:r>
            <a:r>
              <a:rPr lang="en-US" sz="1600"/>
              <a:t> Area- all</a:t>
            </a:r>
            <a:endParaRPr lang="en-US" sz="1600" err="1"/>
          </a:p>
        </p:txBody>
      </p:sp>
    </p:spTree>
    <p:extLst>
      <p:ext uri="{BB962C8B-B14F-4D97-AF65-F5344CB8AC3E}">
        <p14:creationId xmlns:p14="http://schemas.microsoft.com/office/powerpoint/2010/main" val="990348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5E31EB3-320D-FE53-11C9-A5836CA26EF2}"/>
              </a:ext>
            </a:extLst>
          </p:cNvPr>
          <p:cNvSpPr txBox="1"/>
          <p:nvPr/>
        </p:nvSpPr>
        <p:spPr>
          <a:xfrm>
            <a:off x="243229" y="5843312"/>
            <a:ext cx="11637877" cy="923330"/>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br>
              <a:rPr lang="en-US"/>
            </a:br>
            <a:r>
              <a:rPr lang="en-US" sz="1400">
                <a:solidFill>
                  <a:srgbClr val="374151"/>
                </a:solidFill>
                <a:ea typeface="+mn-lt"/>
                <a:cs typeface="+mn-lt"/>
              </a:rPr>
              <a:t>The bar graphs for districts either in rural or urban areas show they are the main contributors to vaccination in those districts. Urban areas in Bo, </a:t>
            </a:r>
            <a:r>
              <a:rPr lang="en-US" sz="1400" err="1">
                <a:solidFill>
                  <a:srgbClr val="374151"/>
                </a:solidFill>
                <a:ea typeface="+mn-lt"/>
                <a:cs typeface="+mn-lt"/>
              </a:rPr>
              <a:t>Bombali</a:t>
            </a:r>
            <a:r>
              <a:rPr lang="en-US" sz="1400">
                <a:solidFill>
                  <a:srgbClr val="374151"/>
                </a:solidFill>
                <a:ea typeface="+mn-lt"/>
                <a:cs typeface="+mn-lt"/>
              </a:rPr>
              <a:t>, </a:t>
            </a:r>
            <a:r>
              <a:rPr lang="en-US" sz="1400" err="1">
                <a:solidFill>
                  <a:srgbClr val="374151"/>
                </a:solidFill>
                <a:ea typeface="+mn-lt"/>
                <a:cs typeface="+mn-lt"/>
              </a:rPr>
              <a:t>Bonthe</a:t>
            </a:r>
            <a:r>
              <a:rPr lang="en-US" sz="1400">
                <a:solidFill>
                  <a:srgbClr val="374151"/>
                </a:solidFill>
                <a:ea typeface="+mn-lt"/>
                <a:cs typeface="+mn-lt"/>
              </a:rPr>
              <a:t>, Kailahun, </a:t>
            </a:r>
            <a:r>
              <a:rPr lang="en-US" sz="1400" err="1">
                <a:solidFill>
                  <a:srgbClr val="374151"/>
                </a:solidFill>
                <a:ea typeface="+mn-lt"/>
                <a:cs typeface="+mn-lt"/>
              </a:rPr>
              <a:t>Kambia</a:t>
            </a:r>
            <a:r>
              <a:rPr lang="en-US" sz="1400">
                <a:solidFill>
                  <a:srgbClr val="374151"/>
                </a:solidFill>
                <a:ea typeface="+mn-lt"/>
                <a:cs typeface="+mn-lt"/>
              </a:rPr>
              <a:t>, and Port Loko, along with rural areas in Kenema, </a:t>
            </a:r>
            <a:r>
              <a:rPr lang="en-US" sz="1400" err="1">
                <a:solidFill>
                  <a:srgbClr val="374151"/>
                </a:solidFill>
                <a:ea typeface="+mn-lt"/>
                <a:cs typeface="+mn-lt"/>
              </a:rPr>
              <a:t>Koinadugu</a:t>
            </a:r>
            <a:r>
              <a:rPr lang="en-US" sz="1400">
                <a:solidFill>
                  <a:srgbClr val="374151"/>
                </a:solidFill>
                <a:ea typeface="+mn-lt"/>
                <a:cs typeface="+mn-lt"/>
              </a:rPr>
              <a:t>, Kono, </a:t>
            </a:r>
            <a:r>
              <a:rPr lang="en-US" sz="1400" err="1">
                <a:solidFill>
                  <a:srgbClr val="374151"/>
                </a:solidFill>
                <a:ea typeface="+mn-lt"/>
                <a:cs typeface="+mn-lt"/>
              </a:rPr>
              <a:t>Moyamba</a:t>
            </a:r>
            <a:r>
              <a:rPr lang="en-US" sz="1400">
                <a:solidFill>
                  <a:srgbClr val="374151"/>
                </a:solidFill>
                <a:ea typeface="+mn-lt"/>
                <a:cs typeface="+mn-lt"/>
              </a:rPr>
              <a:t>, </a:t>
            </a:r>
            <a:r>
              <a:rPr lang="en-US" sz="1400" err="1">
                <a:solidFill>
                  <a:srgbClr val="374151"/>
                </a:solidFill>
                <a:ea typeface="+mn-lt"/>
                <a:cs typeface="+mn-lt"/>
              </a:rPr>
              <a:t>Pujehun</a:t>
            </a:r>
            <a:r>
              <a:rPr lang="en-US" sz="1400">
                <a:solidFill>
                  <a:srgbClr val="374151"/>
                </a:solidFill>
                <a:ea typeface="+mn-lt"/>
                <a:cs typeface="+mn-lt"/>
              </a:rPr>
              <a:t>, </a:t>
            </a:r>
            <a:r>
              <a:rPr lang="en-US" sz="1400" err="1">
                <a:solidFill>
                  <a:srgbClr val="374151"/>
                </a:solidFill>
                <a:ea typeface="+mn-lt"/>
                <a:cs typeface="+mn-lt"/>
              </a:rPr>
              <a:t>Tonkolilli</a:t>
            </a:r>
            <a:r>
              <a:rPr lang="en-US" sz="1400">
                <a:solidFill>
                  <a:srgbClr val="374151"/>
                </a:solidFill>
                <a:ea typeface="+mn-lt"/>
                <a:cs typeface="+mn-lt"/>
              </a:rPr>
              <a:t>, and the Western Area, are the districts failing to reach the 60% vaccination target.</a:t>
            </a:r>
            <a:endParaRPr lang="en-US" sz="1400"/>
          </a:p>
        </p:txBody>
      </p:sp>
      <p:sp>
        <p:nvSpPr>
          <p:cNvPr id="8" name="Title 3">
            <a:extLst>
              <a:ext uri="{FF2B5EF4-FFF2-40B4-BE49-F238E27FC236}">
                <a16:creationId xmlns:a16="http://schemas.microsoft.com/office/drawing/2014/main" id="{DE72D9F7-F41E-E9D0-8AAD-6490FC1BF80F}"/>
              </a:ext>
            </a:extLst>
          </p:cNvPr>
          <p:cNvSpPr>
            <a:spLocks noGrp="1"/>
          </p:cNvSpPr>
          <p:nvPr>
            <p:ph type="title"/>
          </p:nvPr>
        </p:nvSpPr>
        <p:spPr>
          <a:xfrm>
            <a:off x="1968664" y="68119"/>
            <a:ext cx="8252245" cy="543080"/>
          </a:xfrm>
        </p:spPr>
        <p:txBody>
          <a:bodyPr anchor="b">
            <a:noAutofit/>
          </a:bodyPr>
          <a:lstStyle/>
          <a:p>
            <a:pPr algn="ctr"/>
            <a:r>
              <a:rPr lang="en-US" sz="2000" b="1"/>
              <a:t>Q5: </a:t>
            </a:r>
            <a:r>
              <a:rPr lang="en-US" sz="2000"/>
              <a:t>characteristics AREAS below Target Line</a:t>
            </a:r>
            <a:endParaRPr lang="en-US" sz="2000">
              <a:ea typeface="+mj-lt"/>
              <a:cs typeface="+mj-lt"/>
            </a:endParaRPr>
          </a:p>
        </p:txBody>
      </p:sp>
      <p:pic>
        <p:nvPicPr>
          <p:cNvPr id="2" name="Picture 1" descr="A graph with numbers and lines&#10;&#10;Description automatically generated">
            <a:extLst>
              <a:ext uri="{FF2B5EF4-FFF2-40B4-BE49-F238E27FC236}">
                <a16:creationId xmlns:a16="http://schemas.microsoft.com/office/drawing/2014/main" id="{104A1D85-8720-C54B-8CF4-0627F6A46FC4}"/>
              </a:ext>
            </a:extLst>
          </p:cNvPr>
          <p:cNvPicPr>
            <a:picLocks noChangeAspect="1"/>
          </p:cNvPicPr>
          <p:nvPr/>
        </p:nvPicPr>
        <p:blipFill>
          <a:blip r:embed="rId2"/>
          <a:stretch>
            <a:fillRect/>
          </a:stretch>
        </p:blipFill>
        <p:spPr>
          <a:xfrm>
            <a:off x="289963" y="1007483"/>
            <a:ext cx="11595193" cy="4835041"/>
          </a:xfrm>
          <a:prstGeom prst="rect">
            <a:avLst/>
          </a:prstGeom>
        </p:spPr>
      </p:pic>
      <p:sp>
        <p:nvSpPr>
          <p:cNvPr id="5" name="TextBox 4">
            <a:extLst>
              <a:ext uri="{FF2B5EF4-FFF2-40B4-BE49-F238E27FC236}">
                <a16:creationId xmlns:a16="http://schemas.microsoft.com/office/drawing/2014/main" id="{8A78C048-BBDE-EE34-19FF-54AAFF5DE06E}"/>
              </a:ext>
            </a:extLst>
          </p:cNvPr>
          <p:cNvSpPr txBox="1"/>
          <p:nvPr/>
        </p:nvSpPr>
        <p:spPr>
          <a:xfrm>
            <a:off x="288216" y="711478"/>
            <a:ext cx="3443571" cy="313932"/>
          </a:xfrm>
          <a:prstGeom prst="rect">
            <a:avLst/>
          </a:prstGeom>
          <a:noFill/>
          <a:ln>
            <a:solidFill>
              <a:schemeClr val="bg2"/>
            </a:solidFill>
          </a:ln>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nSpc>
                <a:spcPct val="90000"/>
              </a:lnSpc>
            </a:pPr>
            <a:r>
              <a:rPr lang="en-US" sz="1600" b="1"/>
              <a:t>Dimension:</a:t>
            </a:r>
            <a:r>
              <a:rPr lang="en-US" sz="1600"/>
              <a:t> Location- rural/urban</a:t>
            </a:r>
            <a:endParaRPr lang="en-US" sz="1600" err="1"/>
          </a:p>
        </p:txBody>
      </p:sp>
    </p:spTree>
    <p:extLst>
      <p:ext uri="{BB962C8B-B14F-4D97-AF65-F5344CB8AC3E}">
        <p14:creationId xmlns:p14="http://schemas.microsoft.com/office/powerpoint/2010/main" val="110300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5E31EB3-320D-FE53-11C9-A5836CA26EF2}"/>
              </a:ext>
            </a:extLst>
          </p:cNvPr>
          <p:cNvSpPr txBox="1"/>
          <p:nvPr/>
        </p:nvSpPr>
        <p:spPr>
          <a:xfrm>
            <a:off x="295226" y="5802454"/>
            <a:ext cx="11155512" cy="867930"/>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1400">
                <a:solidFill>
                  <a:srgbClr val="374151"/>
                </a:solidFill>
                <a:ea typeface="+mn-lt"/>
                <a:cs typeface="+mn-lt"/>
              </a:rPr>
              <a:t>The missing information might suggest not enough data from MCHPs and CHPs or no vaccinations there due to issues like mobilization, vaccine supplies, or healthcare worker availability, which could lower vaccination rates. However, Clinics and Community Health Centers (CHCs), Hospitals and Clinics have better measles coverage, indicating they're heavily involved in vaccinations.</a:t>
            </a:r>
            <a:r>
              <a:rPr lang="en-US" sz="1400">
                <a:solidFill>
                  <a:srgbClr val="374151"/>
                </a:solidFill>
              </a:rPr>
              <a:t> </a:t>
            </a:r>
          </a:p>
        </p:txBody>
      </p:sp>
      <p:sp>
        <p:nvSpPr>
          <p:cNvPr id="8" name="Title 3">
            <a:extLst>
              <a:ext uri="{FF2B5EF4-FFF2-40B4-BE49-F238E27FC236}">
                <a16:creationId xmlns:a16="http://schemas.microsoft.com/office/drawing/2014/main" id="{DE72D9F7-F41E-E9D0-8AAD-6490FC1BF80F}"/>
              </a:ext>
            </a:extLst>
          </p:cNvPr>
          <p:cNvSpPr>
            <a:spLocks noGrp="1"/>
          </p:cNvSpPr>
          <p:nvPr>
            <p:ph type="title"/>
          </p:nvPr>
        </p:nvSpPr>
        <p:spPr>
          <a:xfrm>
            <a:off x="1968664" y="68119"/>
            <a:ext cx="8252245" cy="543080"/>
          </a:xfrm>
        </p:spPr>
        <p:txBody>
          <a:bodyPr anchor="b">
            <a:noAutofit/>
          </a:bodyPr>
          <a:lstStyle/>
          <a:p>
            <a:pPr algn="ctr"/>
            <a:r>
              <a:rPr lang="en-US" sz="2000" b="1"/>
              <a:t>Q5: </a:t>
            </a:r>
            <a:r>
              <a:rPr lang="en-US" sz="2000"/>
              <a:t>characteristics of AREAS below Target Line</a:t>
            </a:r>
            <a:endParaRPr lang="en-US" sz="2000">
              <a:ea typeface="+mj-lt"/>
              <a:cs typeface="+mj-lt"/>
            </a:endParaRPr>
          </a:p>
        </p:txBody>
      </p:sp>
      <p:pic>
        <p:nvPicPr>
          <p:cNvPr id="3" name="Picture 2" descr="A graph of a number of measles&#10;&#10;Description automatically generated">
            <a:extLst>
              <a:ext uri="{FF2B5EF4-FFF2-40B4-BE49-F238E27FC236}">
                <a16:creationId xmlns:a16="http://schemas.microsoft.com/office/drawing/2014/main" id="{11043A10-A31C-C3AE-2029-00CE83CB7A08}"/>
              </a:ext>
            </a:extLst>
          </p:cNvPr>
          <p:cNvPicPr>
            <a:picLocks noChangeAspect="1"/>
          </p:cNvPicPr>
          <p:nvPr/>
        </p:nvPicPr>
        <p:blipFill>
          <a:blip r:embed="rId2"/>
          <a:stretch>
            <a:fillRect/>
          </a:stretch>
        </p:blipFill>
        <p:spPr>
          <a:xfrm>
            <a:off x="229157" y="813246"/>
            <a:ext cx="11656392" cy="4843705"/>
          </a:xfrm>
          <a:prstGeom prst="rect">
            <a:avLst/>
          </a:prstGeom>
        </p:spPr>
      </p:pic>
    </p:spTree>
    <p:extLst>
      <p:ext uri="{BB962C8B-B14F-4D97-AF65-F5344CB8AC3E}">
        <p14:creationId xmlns:p14="http://schemas.microsoft.com/office/powerpoint/2010/main" val="2148787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map of the united states&#10;&#10;Description automatically generated">
            <a:extLst>
              <a:ext uri="{FF2B5EF4-FFF2-40B4-BE49-F238E27FC236}">
                <a16:creationId xmlns:a16="http://schemas.microsoft.com/office/drawing/2014/main" id="{DA82E2EF-2819-674A-AA02-541A5A686CFA}"/>
              </a:ext>
            </a:extLst>
          </p:cNvPr>
          <p:cNvPicPr>
            <a:picLocks noChangeAspect="1"/>
          </p:cNvPicPr>
          <p:nvPr/>
        </p:nvPicPr>
        <p:blipFill rotWithShape="1">
          <a:blip r:embed="rId2"/>
          <a:srcRect l="21470" r="2181" b="180"/>
          <a:stretch/>
        </p:blipFill>
        <p:spPr>
          <a:xfrm>
            <a:off x="-4911" y="-619"/>
            <a:ext cx="4701829" cy="3915542"/>
          </a:xfrm>
          <a:prstGeom prst="rect">
            <a:avLst/>
          </a:prstGeom>
        </p:spPr>
      </p:pic>
      <p:pic>
        <p:nvPicPr>
          <p:cNvPr id="1026" name="Picture 2" descr="A map of a large area with many different colored areas&#10;&#10;Description automatically generated">
            <a:extLst>
              <a:ext uri="{FF2B5EF4-FFF2-40B4-BE49-F238E27FC236}">
                <a16:creationId xmlns:a16="http://schemas.microsoft.com/office/drawing/2014/main" id="{C87C7ABD-9CA9-366E-8129-66C419978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8830" y="95398"/>
            <a:ext cx="4559995" cy="3915542"/>
          </a:xfrm>
          <a:prstGeom prst="rect">
            <a:avLst/>
          </a:prstGeom>
          <a:noFill/>
          <a:extLst>
            <a:ext uri="{909E8E84-426E-40DD-AFC4-6F175D3DCCD1}">
              <a14:hiddenFill xmlns:a14="http://schemas.microsoft.com/office/drawing/2010/main">
                <a:solidFill>
                  <a:srgbClr val="FFFFFF"/>
                </a:solidFill>
              </a14:hiddenFill>
            </a:ext>
          </a:extLst>
        </p:spPr>
      </p:pic>
      <p:sp>
        <p:nvSpPr>
          <p:cNvPr id="3" name="Arrow: Left 2">
            <a:extLst>
              <a:ext uri="{FF2B5EF4-FFF2-40B4-BE49-F238E27FC236}">
                <a16:creationId xmlns:a16="http://schemas.microsoft.com/office/drawing/2014/main" id="{DA1A8EE1-B080-3721-8B7D-6194E3D04911}"/>
              </a:ext>
            </a:extLst>
          </p:cNvPr>
          <p:cNvSpPr/>
          <p:nvPr/>
        </p:nvSpPr>
        <p:spPr>
          <a:xfrm>
            <a:off x="4810286" y="1809849"/>
            <a:ext cx="2568252" cy="749625"/>
          </a:xfrm>
          <a:prstGeom prst="leftArrow">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2400"/>
          </a:p>
        </p:txBody>
      </p:sp>
      <p:sp>
        <p:nvSpPr>
          <p:cNvPr id="5" name="TextBox 1">
            <a:extLst>
              <a:ext uri="{FF2B5EF4-FFF2-40B4-BE49-F238E27FC236}">
                <a16:creationId xmlns:a16="http://schemas.microsoft.com/office/drawing/2014/main" id="{3A664025-53C3-D278-AE26-0C7389118D3A}"/>
              </a:ext>
            </a:extLst>
          </p:cNvPr>
          <p:cNvSpPr txBox="1"/>
          <p:nvPr/>
        </p:nvSpPr>
        <p:spPr>
          <a:xfrm>
            <a:off x="273377" y="4010940"/>
            <a:ext cx="11492299" cy="236988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Implications:</a:t>
            </a:r>
          </a:p>
          <a:p>
            <a:endParaRPr lang="en-US" dirty="0">
              <a:solidFill>
                <a:srgbClr val="000000"/>
              </a:solidFill>
              <a:latin typeface="Century Gothic"/>
              <a:ea typeface="Söhne"/>
              <a:cs typeface="Söhne"/>
            </a:endParaRPr>
          </a:p>
          <a:p>
            <a:pPr algn="just"/>
            <a:r>
              <a:rPr lang="en-US" sz="1600" dirty="0">
                <a:solidFill>
                  <a:srgbClr val="374151"/>
                </a:solidFill>
                <a:latin typeface="Century Gothic"/>
                <a:ea typeface="Söhne"/>
                <a:cs typeface="Söhne"/>
              </a:rPr>
              <a:t>Most districts in Sierra Leone are falling short of the 60% target, except for Bo and the Western area.</a:t>
            </a:r>
            <a:endParaRPr lang="en-US" sz="1600" dirty="0">
              <a:solidFill>
                <a:srgbClr val="000000"/>
              </a:solidFill>
              <a:latin typeface="Century Gothic"/>
              <a:ea typeface="Söhne"/>
              <a:cs typeface="Söhne"/>
            </a:endParaRPr>
          </a:p>
          <a:p>
            <a:pPr algn="just"/>
            <a:r>
              <a:rPr lang="en-US" sz="1600" dirty="0">
                <a:solidFill>
                  <a:srgbClr val="374151"/>
                </a:solidFill>
                <a:latin typeface="Century Gothic"/>
                <a:ea typeface="Söhne"/>
                <a:cs typeface="Söhne"/>
              </a:rPr>
              <a:t>Although the overall Western area seems to have exceeded the target, only Freetown has crossed this line;</a:t>
            </a:r>
            <a:endParaRPr lang="en-US" sz="1600" dirty="0">
              <a:solidFill>
                <a:srgbClr val="000000"/>
              </a:solidFill>
              <a:latin typeface="Century Gothic"/>
              <a:ea typeface="Söhne"/>
              <a:cs typeface="Söhne"/>
            </a:endParaRPr>
          </a:p>
          <a:p>
            <a:pPr algn="just"/>
            <a:r>
              <a:rPr lang="en-US" sz="1600" dirty="0">
                <a:solidFill>
                  <a:srgbClr val="374151"/>
                </a:solidFill>
                <a:latin typeface="Century Gothic"/>
                <a:ea typeface="Söhne"/>
                <a:cs typeface="Söhne"/>
              </a:rPr>
              <a:t>the rural Western area falls below it. This success in Freetown might be due to the effectiveness of clinics, hospitals,</a:t>
            </a:r>
            <a:endParaRPr lang="en-US" sz="1600" dirty="0">
              <a:solidFill>
                <a:srgbClr val="000000"/>
              </a:solidFill>
              <a:latin typeface="Century Gothic"/>
              <a:ea typeface="Söhne"/>
              <a:cs typeface="Söhne"/>
            </a:endParaRPr>
          </a:p>
          <a:p>
            <a:pPr algn="just"/>
            <a:r>
              <a:rPr lang="en-US" sz="1600" dirty="0">
                <a:solidFill>
                  <a:srgbClr val="374151"/>
                </a:solidFill>
                <a:latin typeface="Century Gothic"/>
                <a:ea typeface="Söhne"/>
                <a:cs typeface="Söhne"/>
              </a:rPr>
              <a:t>and Community Health Centers (CHCs) compared to other areas. Being the capital, Freetown is more accessible</a:t>
            </a:r>
            <a:endParaRPr lang="en-US" sz="1600" dirty="0">
              <a:solidFill>
                <a:srgbClr val="000000"/>
              </a:solidFill>
              <a:latin typeface="Century Gothic"/>
              <a:ea typeface="Söhne"/>
              <a:cs typeface="Söhne"/>
            </a:endParaRPr>
          </a:p>
          <a:p>
            <a:pPr algn="just"/>
            <a:r>
              <a:rPr lang="en-US" sz="1600" dirty="0">
                <a:solidFill>
                  <a:srgbClr val="374151"/>
                </a:solidFill>
                <a:latin typeface="Century Gothic"/>
                <a:ea typeface="Söhne"/>
                <a:cs typeface="Söhne"/>
              </a:rPr>
              <a:t>for mobilization, supplies, and healthcare workers, and it has more facilities than rural areas. To truly understand the</a:t>
            </a:r>
            <a:endParaRPr lang="en-US" sz="1600" dirty="0">
              <a:solidFill>
                <a:srgbClr val="000000"/>
              </a:solidFill>
              <a:latin typeface="Century Gothic"/>
              <a:ea typeface="Söhne"/>
              <a:cs typeface="Söhne"/>
            </a:endParaRPr>
          </a:p>
          <a:p>
            <a:pPr algn="just"/>
            <a:r>
              <a:rPr lang="en-US" sz="1600" dirty="0">
                <a:solidFill>
                  <a:srgbClr val="374151"/>
                </a:solidFill>
                <a:latin typeface="Century Gothic"/>
                <a:ea typeface="Söhne"/>
                <a:cs typeface="Söhne"/>
              </a:rPr>
              <a:t>situation, it's crucial to delve deeper into each facility's shortcomings rather than relying solely on general numbers </a:t>
            </a:r>
            <a:endParaRPr lang="en-US" sz="1600" dirty="0">
              <a:solidFill>
                <a:srgbClr val="000000"/>
              </a:solidFill>
              <a:latin typeface="Century Gothic" panose="020B0502020202020204"/>
              <a:ea typeface="Söhne"/>
              <a:cs typeface="Söhne"/>
            </a:endParaRPr>
          </a:p>
          <a:p>
            <a:pPr algn="just"/>
            <a:r>
              <a:rPr lang="en-US" sz="1600" dirty="0">
                <a:solidFill>
                  <a:srgbClr val="374151"/>
                </a:solidFill>
                <a:latin typeface="Century Gothic"/>
                <a:ea typeface="Söhne"/>
                <a:cs typeface="Söhne"/>
              </a:rPr>
              <a:t>that might mislead or be misunderstood.</a:t>
            </a:r>
            <a:endParaRPr lang="en-US" sz="1600" dirty="0">
              <a:latin typeface="Century Gothic"/>
            </a:endParaRPr>
          </a:p>
        </p:txBody>
      </p:sp>
    </p:spTree>
    <p:extLst>
      <p:ext uri="{BB962C8B-B14F-4D97-AF65-F5344CB8AC3E}">
        <p14:creationId xmlns:p14="http://schemas.microsoft.com/office/powerpoint/2010/main" val="197523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F1B7-D132-69EC-575D-06CE17448780}"/>
              </a:ext>
            </a:extLst>
          </p:cNvPr>
          <p:cNvSpPr>
            <a:spLocks noGrp="1"/>
          </p:cNvSpPr>
          <p:nvPr>
            <p:ph type="title"/>
          </p:nvPr>
        </p:nvSpPr>
        <p:spPr>
          <a:xfrm>
            <a:off x="384894" y="274638"/>
            <a:ext cx="11547150" cy="849440"/>
          </a:xfrm>
        </p:spPr>
        <p:txBody>
          <a:bodyPr>
            <a:noAutofit/>
          </a:bodyPr>
          <a:lstStyle/>
          <a:p>
            <a:r>
              <a:rPr lang="en-US" sz="1600" dirty="0"/>
              <a:t>Question 6: Based on the above evaluation, can you describe the type of trend of low measles vaccination coverage? Add the </a:t>
            </a:r>
            <a:r>
              <a:rPr lang="en-US" sz="1800" dirty="0"/>
              <a:t>visualization</a:t>
            </a:r>
            <a:r>
              <a:rPr lang="en-US" sz="1600" dirty="0"/>
              <a:t> that you think is most appropriate for such analysis on the slides.</a:t>
            </a:r>
          </a:p>
        </p:txBody>
      </p:sp>
      <p:sp>
        <p:nvSpPr>
          <p:cNvPr id="3" name="Content Placeholder 2">
            <a:extLst>
              <a:ext uri="{FF2B5EF4-FFF2-40B4-BE49-F238E27FC236}">
                <a16:creationId xmlns:a16="http://schemas.microsoft.com/office/drawing/2014/main" id="{79159BE8-DBF4-8899-4422-DF4B784064C4}"/>
              </a:ext>
            </a:extLst>
          </p:cNvPr>
          <p:cNvSpPr>
            <a:spLocks noGrp="1"/>
          </p:cNvSpPr>
          <p:nvPr>
            <p:ph sz="half" idx="1"/>
          </p:nvPr>
        </p:nvSpPr>
        <p:spPr>
          <a:xfrm>
            <a:off x="450641" y="2434259"/>
            <a:ext cx="5491372" cy="3737941"/>
          </a:xfrm>
        </p:spPr>
        <p:txBody>
          <a:bodyPr vert="horz" lIns="91440" tIns="45720" rIns="91440" bIns="45720" rtlCol="0" anchor="t">
            <a:normAutofit fontScale="85000" lnSpcReduction="10000"/>
          </a:bodyPr>
          <a:lstStyle/>
          <a:p>
            <a:pPr>
              <a:buNone/>
            </a:pPr>
            <a:r>
              <a:rPr lang="en-US" sz="2900" b="1"/>
              <a:t>Data Visualizer App</a:t>
            </a:r>
          </a:p>
          <a:p>
            <a:pPr>
              <a:buFont typeface="Wingdings" pitchFamily="34" charset="0"/>
              <a:buChar char="Ø"/>
            </a:pPr>
            <a:r>
              <a:rPr lang="en-US"/>
              <a:t>Scatter Plot</a:t>
            </a:r>
          </a:p>
          <a:p>
            <a:pPr>
              <a:buFont typeface="Wingdings" pitchFamily="34" charset="0"/>
              <a:buChar char="Ø"/>
            </a:pPr>
            <a:r>
              <a:rPr lang="en-US"/>
              <a:t>Data (Vertical): Measles Doses Given</a:t>
            </a:r>
          </a:p>
          <a:p>
            <a:pPr>
              <a:buFont typeface="Wingdings" pitchFamily="34" charset="0"/>
              <a:buChar char="Ø"/>
            </a:pPr>
            <a:r>
              <a:rPr lang="en-US"/>
              <a:t>Data (Horizontal): Measles Coverage &lt;1y</a:t>
            </a:r>
          </a:p>
          <a:p>
            <a:pPr>
              <a:buFont typeface="Wingdings" pitchFamily="34" charset="0"/>
              <a:buChar char="Ø"/>
            </a:pPr>
            <a:r>
              <a:rPr lang="en-US"/>
              <a:t>Period (Filter: January 2022-September 2023</a:t>
            </a:r>
          </a:p>
          <a:p>
            <a:pPr>
              <a:buFont typeface="Wingdings" pitchFamily="34" charset="0"/>
              <a:buChar char="Ø"/>
            </a:pPr>
            <a:r>
              <a:rPr lang="en-US" err="1">
                <a:solidFill>
                  <a:srgbClr val="000000"/>
                </a:solidFill>
              </a:rPr>
              <a:t>Organisation</a:t>
            </a:r>
            <a:r>
              <a:rPr lang="en-US">
                <a:solidFill>
                  <a:srgbClr val="000000"/>
                </a:solidFill>
              </a:rPr>
              <a:t> </a:t>
            </a:r>
            <a:r>
              <a:rPr lang="en-US"/>
              <a:t>Unit (Points): Sierra Leone</a:t>
            </a:r>
          </a:p>
          <a:p>
            <a:pPr>
              <a:buFont typeface="Wingdings" pitchFamily="34" charset="0"/>
              <a:buChar char="Ø"/>
            </a:pPr>
            <a:r>
              <a:rPr lang="en-US"/>
              <a:t> Level: District, Chiefdom, then Facility</a:t>
            </a:r>
          </a:p>
          <a:p>
            <a:pPr>
              <a:buFont typeface="Wingdings" pitchFamily="34" charset="0"/>
              <a:buChar char="Ø"/>
            </a:pPr>
            <a:endParaRPr lang="en-US"/>
          </a:p>
          <a:p>
            <a:pPr>
              <a:buFont typeface="Wingdings" pitchFamily="34" charset="0"/>
              <a:buChar char="Ø"/>
            </a:pPr>
            <a:endParaRPr lang="en-US"/>
          </a:p>
        </p:txBody>
      </p:sp>
      <p:sp>
        <p:nvSpPr>
          <p:cNvPr id="4" name="Content Placeholder 3">
            <a:extLst>
              <a:ext uri="{FF2B5EF4-FFF2-40B4-BE49-F238E27FC236}">
                <a16:creationId xmlns:a16="http://schemas.microsoft.com/office/drawing/2014/main" id="{105F4BE6-2C64-E286-C4F4-BD18F1218287}"/>
              </a:ext>
            </a:extLst>
          </p:cNvPr>
          <p:cNvSpPr>
            <a:spLocks noGrp="1"/>
          </p:cNvSpPr>
          <p:nvPr>
            <p:ph sz="half" idx="2"/>
          </p:nvPr>
        </p:nvSpPr>
        <p:spPr>
          <a:xfrm>
            <a:off x="6262479" y="2375139"/>
            <a:ext cx="5388353" cy="3789671"/>
          </a:xfrm>
        </p:spPr>
        <p:txBody>
          <a:bodyPr vert="horz" lIns="91440" tIns="45720" rIns="91440" bIns="45720" rtlCol="0" anchor="t">
            <a:normAutofit fontScale="85000" lnSpcReduction="10000"/>
          </a:bodyPr>
          <a:lstStyle/>
          <a:p>
            <a:pPr marL="45720" indent="0">
              <a:buNone/>
            </a:pPr>
            <a:r>
              <a:rPr lang="en-US" sz="2800" b="1"/>
              <a:t>Google </a:t>
            </a:r>
            <a:r>
              <a:rPr lang="en-US" sz="2800" b="1" err="1"/>
              <a:t>Colab</a:t>
            </a:r>
            <a:endParaRPr lang="en-US" sz="2800" b="1"/>
          </a:p>
          <a:p>
            <a:pPr>
              <a:buFont typeface="Wingdings" pitchFamily="34" charset="0"/>
              <a:buChar char="Ø"/>
            </a:pPr>
            <a:r>
              <a:rPr lang="en-US"/>
              <a:t>Shapiro-Wilk Test for normality</a:t>
            </a:r>
          </a:p>
          <a:p>
            <a:pPr lvl="1">
              <a:buClr>
                <a:srgbClr val="1F4E79"/>
              </a:buClr>
              <a:buFont typeface="Courier New" pitchFamily="34" charset="0"/>
              <a:buChar char="o"/>
            </a:pPr>
            <a:r>
              <a:rPr lang="en-US"/>
              <a:t>Measles Coverage and Measles Doses Given data was not normally distributed</a:t>
            </a:r>
          </a:p>
          <a:p>
            <a:pPr>
              <a:buClr>
                <a:srgbClr val="1F4E79"/>
              </a:buClr>
              <a:buFont typeface="Wingdings" pitchFamily="34" charset="0"/>
              <a:buChar char="Ø"/>
            </a:pPr>
            <a:endParaRPr lang="en-US"/>
          </a:p>
          <a:p>
            <a:pPr>
              <a:buClr>
                <a:srgbClr val="1F4E79"/>
              </a:buClr>
              <a:buFont typeface="Wingdings" pitchFamily="34" charset="0"/>
              <a:buChar char="Ø"/>
            </a:pPr>
            <a:r>
              <a:rPr lang="en-US"/>
              <a:t>Spearman's Rank Correlation Rho</a:t>
            </a:r>
          </a:p>
        </p:txBody>
      </p:sp>
      <p:sp>
        <p:nvSpPr>
          <p:cNvPr id="5" name="TextBox 4">
            <a:extLst>
              <a:ext uri="{FF2B5EF4-FFF2-40B4-BE49-F238E27FC236}">
                <a16:creationId xmlns:a16="http://schemas.microsoft.com/office/drawing/2014/main" id="{C977F827-AABA-C4DD-901F-2CA34B78B1CB}"/>
              </a:ext>
            </a:extLst>
          </p:cNvPr>
          <p:cNvSpPr txBox="1"/>
          <p:nvPr/>
        </p:nvSpPr>
        <p:spPr>
          <a:xfrm>
            <a:off x="1307919" y="1553724"/>
            <a:ext cx="9655260" cy="424732"/>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90000"/>
              </a:lnSpc>
            </a:pPr>
            <a:r>
              <a:rPr lang="en-US" sz="2400" b="1"/>
              <a:t>Steps to answer the question: </a:t>
            </a:r>
          </a:p>
        </p:txBody>
      </p:sp>
    </p:spTree>
    <p:extLst>
      <p:ext uri="{BB962C8B-B14F-4D97-AF65-F5344CB8AC3E}">
        <p14:creationId xmlns:p14="http://schemas.microsoft.com/office/powerpoint/2010/main" val="436939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349C-8CCE-37CA-AE65-3AC6F5819B9D}"/>
              </a:ext>
            </a:extLst>
          </p:cNvPr>
          <p:cNvSpPr>
            <a:spLocks noGrp="1"/>
          </p:cNvSpPr>
          <p:nvPr>
            <p:ph type="title"/>
          </p:nvPr>
        </p:nvSpPr>
        <p:spPr>
          <a:xfrm>
            <a:off x="1217614" y="274638"/>
            <a:ext cx="9753600" cy="1325562"/>
          </a:xfrm>
        </p:spPr>
        <p:txBody>
          <a:bodyPr anchor="b">
            <a:normAutofit/>
          </a:bodyPr>
          <a:lstStyle/>
          <a:p>
            <a:r>
              <a:rPr lang="en-US" b="1"/>
              <a:t>Q6: </a:t>
            </a:r>
            <a:r>
              <a:rPr lang="en-US"/>
              <a:t>District Level</a:t>
            </a:r>
          </a:p>
        </p:txBody>
      </p:sp>
      <p:sp>
        <p:nvSpPr>
          <p:cNvPr id="4" name="Content Placeholder 3">
            <a:extLst>
              <a:ext uri="{FF2B5EF4-FFF2-40B4-BE49-F238E27FC236}">
                <a16:creationId xmlns:a16="http://schemas.microsoft.com/office/drawing/2014/main" id="{DEF66D2C-FD86-EE7E-B8D6-ED9E9F2C5911}"/>
              </a:ext>
            </a:extLst>
          </p:cNvPr>
          <p:cNvSpPr>
            <a:spLocks noGrp="1"/>
          </p:cNvSpPr>
          <p:nvPr>
            <p:ph sz="half" idx="1"/>
          </p:nvPr>
        </p:nvSpPr>
        <p:spPr>
          <a:xfrm>
            <a:off x="6262479" y="1828800"/>
            <a:ext cx="5565645" cy="4402520"/>
          </a:xfrm>
        </p:spPr>
        <p:txBody>
          <a:bodyPr vert="horz" lIns="91440" tIns="45720" rIns="91440" bIns="45720" rtlCol="0" anchor="t">
            <a:normAutofit/>
          </a:bodyPr>
          <a:lstStyle/>
          <a:p>
            <a:pPr marL="45720" indent="0">
              <a:buNone/>
            </a:pPr>
            <a:r>
              <a:rPr lang="en-US" sz="2000" b="1"/>
              <a:t>Shapiro-Wilks Test:</a:t>
            </a:r>
          </a:p>
          <a:p>
            <a:pPr marL="45720" indent="0">
              <a:spcBef>
                <a:spcPts val="1000"/>
              </a:spcBef>
              <a:buNone/>
            </a:pPr>
            <a:r>
              <a:rPr lang="en-US" sz="1700"/>
              <a:t>data: </a:t>
            </a:r>
            <a:r>
              <a:rPr lang="en-US" sz="1700" err="1"/>
              <a:t>Measles_District$Coverage</a:t>
            </a:r>
            <a:r>
              <a:rPr lang="en-US" sz="1700"/>
              <a:t> </a:t>
            </a:r>
          </a:p>
          <a:p>
            <a:pPr marL="45720" indent="0">
              <a:spcBef>
                <a:spcPts val="0"/>
              </a:spcBef>
              <a:buNone/>
            </a:pPr>
            <a:r>
              <a:rPr lang="en-US" sz="1700"/>
              <a:t>W = 0.73675, p-value = 0.001327</a:t>
            </a:r>
          </a:p>
          <a:p>
            <a:pPr marL="45720" indent="0">
              <a:buNone/>
            </a:pPr>
            <a:r>
              <a:rPr lang="en-US" sz="1700"/>
              <a:t>data: </a:t>
            </a:r>
            <a:r>
              <a:rPr lang="en-US" sz="1700" err="1"/>
              <a:t>Measles_District$Doses_Given</a:t>
            </a:r>
          </a:p>
          <a:p>
            <a:pPr marL="45720" indent="0">
              <a:spcBef>
                <a:spcPts val="0"/>
              </a:spcBef>
              <a:buNone/>
            </a:pPr>
            <a:r>
              <a:rPr lang="en-US" sz="1700"/>
              <a:t>W = 0.57852, p-value = 4.298e-05</a:t>
            </a:r>
          </a:p>
          <a:p>
            <a:pPr marL="45720" indent="0">
              <a:buNone/>
            </a:pPr>
            <a:endParaRPr lang="en-US" sz="1700"/>
          </a:p>
          <a:p>
            <a:pPr marL="45720" indent="0">
              <a:buNone/>
            </a:pPr>
            <a:r>
              <a:rPr lang="en-US" sz="2000" b="1"/>
              <a:t>Spearman's Rank Correlation Rho:</a:t>
            </a:r>
          </a:p>
          <a:p>
            <a:pPr marL="45720" indent="0">
              <a:spcBef>
                <a:spcPts val="1000"/>
              </a:spcBef>
              <a:buNone/>
            </a:pPr>
            <a:r>
              <a:rPr lang="en-US" sz="1700"/>
              <a:t>data: </a:t>
            </a:r>
            <a:r>
              <a:rPr lang="en-US" sz="1700" err="1"/>
              <a:t>Measles_District$Coverage</a:t>
            </a:r>
            <a:r>
              <a:rPr lang="en-US" sz="1700"/>
              <a:t> and </a:t>
            </a:r>
            <a:r>
              <a:rPr lang="en-US" sz="1700" err="1"/>
              <a:t>Measles_District$Doses_Given</a:t>
            </a:r>
          </a:p>
          <a:p>
            <a:pPr marL="45720" indent="0">
              <a:spcBef>
                <a:spcPts val="0"/>
              </a:spcBef>
              <a:buNone/>
            </a:pPr>
            <a:r>
              <a:rPr lang="en-US" sz="1700"/>
              <a:t>S = 73.601, p-value = 0.001083 </a:t>
            </a:r>
          </a:p>
          <a:p>
            <a:pPr marL="45720" indent="0">
              <a:spcBef>
                <a:spcPts val="0"/>
              </a:spcBef>
              <a:buNone/>
            </a:pPr>
            <a:r>
              <a:rPr lang="en-US" sz="1700"/>
              <a:t>alternative hypothesis: true rho is not equal to 0 sample estimates: rho 0.7977999</a:t>
            </a:r>
          </a:p>
          <a:p>
            <a:pPr>
              <a:buClr>
                <a:srgbClr val="1F4E79"/>
              </a:buClr>
            </a:pPr>
            <a:endParaRPr lang="en-US" sz="1700"/>
          </a:p>
        </p:txBody>
      </p:sp>
      <p:pic>
        <p:nvPicPr>
          <p:cNvPr id="5" name="Content Placeholder 4">
            <a:extLst>
              <a:ext uri="{FF2B5EF4-FFF2-40B4-BE49-F238E27FC236}">
                <a16:creationId xmlns:a16="http://schemas.microsoft.com/office/drawing/2014/main" id="{90C58FAB-93D7-E487-C747-62C641F8DCC9}"/>
              </a:ext>
            </a:extLst>
          </p:cNvPr>
          <p:cNvPicPr>
            <a:picLocks noGrp="1" noChangeAspect="1"/>
          </p:cNvPicPr>
          <p:nvPr>
            <p:ph sz="half" idx="2"/>
          </p:nvPr>
        </p:nvPicPr>
        <p:blipFill>
          <a:blip r:embed="rId2"/>
          <a:stretch>
            <a:fillRect/>
          </a:stretch>
        </p:blipFill>
        <p:spPr>
          <a:xfrm>
            <a:off x="200023" y="2160478"/>
            <a:ext cx="5447450" cy="3813419"/>
          </a:xfrm>
          <a:noFill/>
        </p:spPr>
      </p:pic>
    </p:spTree>
    <p:extLst>
      <p:ext uri="{BB962C8B-B14F-4D97-AF65-F5344CB8AC3E}">
        <p14:creationId xmlns:p14="http://schemas.microsoft.com/office/powerpoint/2010/main" val="244853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416B-23BB-27FD-E985-38983D9CF9C8}"/>
              </a:ext>
            </a:extLst>
          </p:cNvPr>
          <p:cNvSpPr>
            <a:spLocks noGrp="1"/>
          </p:cNvSpPr>
          <p:nvPr>
            <p:ph type="title"/>
          </p:nvPr>
        </p:nvSpPr>
        <p:spPr>
          <a:xfrm>
            <a:off x="1217614" y="274638"/>
            <a:ext cx="9753600" cy="1325562"/>
          </a:xfrm>
        </p:spPr>
        <p:txBody>
          <a:bodyPr anchor="b">
            <a:normAutofit/>
          </a:bodyPr>
          <a:lstStyle/>
          <a:p>
            <a:r>
              <a:rPr lang="en-US" b="1"/>
              <a:t>Q6: </a:t>
            </a:r>
            <a:r>
              <a:rPr lang="en-US"/>
              <a:t>Chiefdom Level</a:t>
            </a:r>
          </a:p>
        </p:txBody>
      </p:sp>
      <p:sp>
        <p:nvSpPr>
          <p:cNvPr id="4" name="Content Placeholder 3">
            <a:extLst>
              <a:ext uri="{FF2B5EF4-FFF2-40B4-BE49-F238E27FC236}">
                <a16:creationId xmlns:a16="http://schemas.microsoft.com/office/drawing/2014/main" id="{FCDDBA51-7371-57C0-BACE-741AB51ECF15}"/>
              </a:ext>
            </a:extLst>
          </p:cNvPr>
          <p:cNvSpPr>
            <a:spLocks noGrp="1"/>
          </p:cNvSpPr>
          <p:nvPr>
            <p:ph sz="half" idx="1"/>
          </p:nvPr>
        </p:nvSpPr>
        <p:spPr>
          <a:xfrm>
            <a:off x="494563" y="1961821"/>
            <a:ext cx="5447450" cy="4210379"/>
          </a:xfrm>
        </p:spPr>
        <p:txBody>
          <a:bodyPr vert="horz" lIns="91440" tIns="45720" rIns="91440" bIns="45720" rtlCol="0" anchor="t">
            <a:normAutofit/>
          </a:bodyPr>
          <a:lstStyle/>
          <a:p>
            <a:pPr marL="45720" indent="0">
              <a:buNone/>
            </a:pPr>
            <a:r>
              <a:rPr lang="en-US" sz="2000" b="1"/>
              <a:t>Shapiro-Wilks Test:</a:t>
            </a:r>
          </a:p>
          <a:p>
            <a:pPr marL="45720" indent="0">
              <a:buNone/>
            </a:pPr>
            <a:r>
              <a:rPr lang="en-US" sz="1700"/>
              <a:t>data: </a:t>
            </a:r>
            <a:r>
              <a:rPr lang="en-US" sz="1700" err="1"/>
              <a:t>Measles_Chiefdom$Coverage</a:t>
            </a:r>
            <a:r>
              <a:rPr lang="en-US" sz="1700"/>
              <a:t> </a:t>
            </a:r>
          </a:p>
          <a:p>
            <a:pPr marL="45720" indent="0">
              <a:spcBef>
                <a:spcPts val="0"/>
              </a:spcBef>
              <a:buNone/>
            </a:pPr>
            <a:r>
              <a:rPr lang="en-US" sz="1700"/>
              <a:t>W = 0.85202, p-value = 2.884e-10</a:t>
            </a:r>
          </a:p>
          <a:p>
            <a:pPr marL="45720" indent="0">
              <a:buNone/>
            </a:pPr>
            <a:r>
              <a:rPr lang="en-US" sz="1700"/>
              <a:t>data: </a:t>
            </a:r>
            <a:r>
              <a:rPr lang="en-US" sz="1700" err="1"/>
              <a:t>Measles_Chiefdom$Doses_Given</a:t>
            </a:r>
          </a:p>
          <a:p>
            <a:pPr marL="45720" indent="0">
              <a:spcBef>
                <a:spcPts val="0"/>
              </a:spcBef>
              <a:buNone/>
            </a:pPr>
            <a:r>
              <a:rPr lang="en-US" sz="1700"/>
              <a:t>W = 0.17826, p-value &lt; 2.2e-16</a:t>
            </a:r>
          </a:p>
          <a:p>
            <a:pPr marL="45720" indent="0">
              <a:buNone/>
            </a:pPr>
            <a:endParaRPr lang="en-US" sz="1700"/>
          </a:p>
          <a:p>
            <a:pPr marL="45720" indent="0">
              <a:buNone/>
            </a:pPr>
            <a:r>
              <a:rPr lang="en-US" sz="2000" b="1"/>
              <a:t>Spearman's Rank Correlation Rho:</a:t>
            </a:r>
          </a:p>
          <a:p>
            <a:pPr marL="45720" indent="0">
              <a:buNone/>
            </a:pPr>
            <a:r>
              <a:rPr lang="en-US" sz="1700"/>
              <a:t>data: </a:t>
            </a:r>
            <a:r>
              <a:rPr lang="en-US" sz="1700" err="1"/>
              <a:t>Measles_Chiefdom$Coverage</a:t>
            </a:r>
            <a:r>
              <a:rPr lang="en-US" sz="1700"/>
              <a:t> and </a:t>
            </a:r>
            <a:r>
              <a:rPr lang="en-US" sz="1700" err="1"/>
              <a:t>Measles_Chiefdom$Doses_Given</a:t>
            </a:r>
            <a:r>
              <a:rPr lang="en-US" sz="1700"/>
              <a:t> S = 200495, p-value = 7.7e-10 alternative hypothesis: true rho is not equal to 0 sample estimates: rho 0.500005 </a:t>
            </a:r>
          </a:p>
        </p:txBody>
      </p:sp>
      <p:pic>
        <p:nvPicPr>
          <p:cNvPr id="7" name="Content Placeholder 6" descr="A graph of a graph showing a number of measles&#10;&#10;Description automatically generated">
            <a:extLst>
              <a:ext uri="{FF2B5EF4-FFF2-40B4-BE49-F238E27FC236}">
                <a16:creationId xmlns:a16="http://schemas.microsoft.com/office/drawing/2014/main" id="{F0CAF16C-53F3-0EEE-61C0-7182D4E8B4E0}"/>
              </a:ext>
            </a:extLst>
          </p:cNvPr>
          <p:cNvPicPr>
            <a:picLocks noGrp="1" noChangeAspect="1"/>
          </p:cNvPicPr>
          <p:nvPr>
            <p:ph sz="half" idx="2"/>
          </p:nvPr>
        </p:nvPicPr>
        <p:blipFill>
          <a:blip r:embed="rId2"/>
          <a:stretch>
            <a:fillRect/>
          </a:stretch>
        </p:blipFill>
        <p:spPr>
          <a:xfrm>
            <a:off x="6085349" y="1961127"/>
            <a:ext cx="5846357" cy="4094242"/>
          </a:xfrm>
          <a:noFill/>
        </p:spPr>
      </p:pic>
    </p:spTree>
    <p:extLst>
      <p:ext uri="{BB962C8B-B14F-4D97-AF65-F5344CB8AC3E}">
        <p14:creationId xmlns:p14="http://schemas.microsoft.com/office/powerpoint/2010/main" val="4170662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77679-8132-D3F5-DC70-E76A1BFB499D}"/>
              </a:ext>
            </a:extLst>
          </p:cNvPr>
          <p:cNvSpPr>
            <a:spLocks noGrp="1"/>
          </p:cNvSpPr>
          <p:nvPr>
            <p:ph type="title"/>
          </p:nvPr>
        </p:nvSpPr>
        <p:spPr>
          <a:xfrm>
            <a:off x="1217614" y="274638"/>
            <a:ext cx="8335264" cy="1000399"/>
          </a:xfrm>
        </p:spPr>
        <p:txBody>
          <a:bodyPr anchor="b">
            <a:normAutofit/>
          </a:bodyPr>
          <a:lstStyle/>
          <a:p>
            <a:r>
              <a:rPr lang="en-US" b="1"/>
              <a:t>Q6: </a:t>
            </a:r>
            <a:r>
              <a:rPr lang="en-US"/>
              <a:t>Facility Level</a:t>
            </a:r>
          </a:p>
        </p:txBody>
      </p:sp>
      <p:pic>
        <p:nvPicPr>
          <p:cNvPr id="5" name="Content Placeholder 4" descr="A graph with green and black lines and red dots&#10;&#10;Description automatically generated">
            <a:extLst>
              <a:ext uri="{FF2B5EF4-FFF2-40B4-BE49-F238E27FC236}">
                <a16:creationId xmlns:a16="http://schemas.microsoft.com/office/drawing/2014/main" id="{4776406F-FBC9-C896-2E71-5515DEE881FB}"/>
              </a:ext>
            </a:extLst>
          </p:cNvPr>
          <p:cNvPicPr>
            <a:picLocks noGrp="1" noChangeAspect="1"/>
          </p:cNvPicPr>
          <p:nvPr>
            <p:ph sz="half" idx="1"/>
          </p:nvPr>
        </p:nvPicPr>
        <p:blipFill>
          <a:blip r:embed="rId2"/>
          <a:stretch>
            <a:fillRect/>
          </a:stretch>
        </p:blipFill>
        <p:spPr>
          <a:xfrm>
            <a:off x="81937" y="1864936"/>
            <a:ext cx="6008874" cy="4050424"/>
          </a:xfrm>
          <a:noFill/>
        </p:spPr>
      </p:pic>
      <p:sp>
        <p:nvSpPr>
          <p:cNvPr id="4" name="Content Placeholder 3">
            <a:extLst>
              <a:ext uri="{FF2B5EF4-FFF2-40B4-BE49-F238E27FC236}">
                <a16:creationId xmlns:a16="http://schemas.microsoft.com/office/drawing/2014/main" id="{1D96DEE0-8A0C-059F-3005-223402703816}"/>
              </a:ext>
            </a:extLst>
          </p:cNvPr>
          <p:cNvSpPr>
            <a:spLocks noGrp="1"/>
          </p:cNvSpPr>
          <p:nvPr>
            <p:ph sz="half" idx="2"/>
          </p:nvPr>
        </p:nvSpPr>
        <p:spPr>
          <a:xfrm>
            <a:off x="6321522" y="1533467"/>
            <a:ext cx="5669065" cy="4905046"/>
          </a:xfrm>
        </p:spPr>
        <p:txBody>
          <a:bodyPr vert="horz" lIns="91440" tIns="45720" rIns="91440" bIns="45720" rtlCol="0" anchor="t">
            <a:noAutofit/>
          </a:bodyPr>
          <a:lstStyle/>
          <a:p>
            <a:pPr marL="45720" indent="0">
              <a:buNone/>
            </a:pPr>
            <a:r>
              <a:rPr lang="en-US" b="1" dirty="0"/>
              <a:t>Shapiro-Wilks Test:</a:t>
            </a:r>
            <a:endParaRPr lang="en-US"/>
          </a:p>
          <a:p>
            <a:pPr marL="45720" indent="0">
              <a:spcBef>
                <a:spcPts val="1000"/>
              </a:spcBef>
              <a:buNone/>
            </a:pPr>
            <a:r>
              <a:rPr lang="en-US" sz="1800" dirty="0"/>
              <a:t>data: </a:t>
            </a:r>
            <a:r>
              <a:rPr lang="en-US" sz="1800" dirty="0" err="1"/>
              <a:t>Measles_Facility$Coverage</a:t>
            </a:r>
            <a:r>
              <a:rPr lang="en-US" sz="1800" dirty="0"/>
              <a:t>              W = 0.70002, p-value &lt; 2.2e-16</a:t>
            </a:r>
          </a:p>
          <a:p>
            <a:pPr marL="45720" indent="0">
              <a:buNone/>
            </a:pPr>
            <a:r>
              <a:rPr lang="en-US" sz="1800"/>
              <a:t>data: </a:t>
            </a:r>
            <a:r>
              <a:rPr lang="en-US" sz="1800" err="1"/>
              <a:t>Measles_Facility$Doses_Given</a:t>
            </a:r>
            <a:r>
              <a:rPr lang="en-US" sz="1800"/>
              <a:t>         W = 0.70558, p-value &lt; 2.2e-16</a:t>
            </a:r>
            <a:endParaRPr lang="en-US" sz="1800" dirty="0"/>
          </a:p>
          <a:p>
            <a:pPr marL="45720" indent="0">
              <a:buNone/>
            </a:pPr>
            <a:endParaRPr lang="en-US" sz="1800" dirty="0"/>
          </a:p>
          <a:p>
            <a:pPr marL="45720" indent="0">
              <a:buNone/>
            </a:pPr>
            <a:r>
              <a:rPr lang="en-US" b="1" dirty="0"/>
              <a:t>Spearman's Rank Correlation Rho:</a:t>
            </a:r>
            <a:endParaRPr lang="en-US"/>
          </a:p>
          <a:p>
            <a:pPr marL="45720" indent="0">
              <a:spcBef>
                <a:spcPts val="1000"/>
              </a:spcBef>
              <a:buNone/>
            </a:pPr>
            <a:r>
              <a:rPr lang="en-US" sz="1800"/>
              <a:t>data: </a:t>
            </a:r>
            <a:r>
              <a:rPr lang="en-US" sz="1800" err="1"/>
              <a:t>Measles_Facility$Coverage</a:t>
            </a:r>
            <a:r>
              <a:rPr lang="en-US" sz="1800"/>
              <a:t> and </a:t>
            </a:r>
            <a:r>
              <a:rPr lang="en-US" sz="1800" err="1"/>
              <a:t>Measles_Facility$Doses_Given</a:t>
            </a:r>
            <a:r>
              <a:rPr lang="en-US" sz="1800"/>
              <a:t> S = 996517, p-value = 4.987e-16 alternative hypothesis: true rho is not equal to 0 sample estimates: rho 0.5021047 </a:t>
            </a:r>
          </a:p>
        </p:txBody>
      </p:sp>
    </p:spTree>
    <p:extLst>
      <p:ext uri="{BB962C8B-B14F-4D97-AF65-F5344CB8AC3E}">
        <p14:creationId xmlns:p14="http://schemas.microsoft.com/office/powerpoint/2010/main" val="3989695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8787" y="297026"/>
            <a:ext cx="11507774" cy="681947"/>
          </a:xfrm>
        </p:spPr>
        <p:txBody>
          <a:bodyPr anchor="b">
            <a:noAutofit/>
          </a:bodyPr>
          <a:lstStyle/>
          <a:p>
            <a:r>
              <a:rPr lang="en-US" sz="1600" b="1" i="0" u="none" strike="noStrike">
                <a:effectLst/>
              </a:rPr>
              <a:t>Question 7:</a:t>
            </a:r>
            <a:r>
              <a:rPr lang="en-US" sz="1600" b="0" i="0" u="none" strike="noStrike">
                <a:effectLst/>
              </a:rPr>
              <a:t> Create a bar chart comparing the Dropout Penta 1 -measles and measles coverage &lt; 1y for all the districts in Sierra Leone for 2022 and the first 6 months of 2023. Do you see a correlation between these two indicators? Analyze the correlation and interpret the results.</a:t>
            </a:r>
            <a:endParaRPr lang="en-US" sz="1600"/>
          </a:p>
        </p:txBody>
      </p:sp>
      <p:sp>
        <p:nvSpPr>
          <p:cNvPr id="8" name="Content Placeholder 1">
            <a:extLst>
              <a:ext uri="{FF2B5EF4-FFF2-40B4-BE49-F238E27FC236}">
                <a16:creationId xmlns:a16="http://schemas.microsoft.com/office/drawing/2014/main" id="{562EFD71-A8C9-8177-F802-9D2D4488E40A}"/>
              </a:ext>
            </a:extLst>
          </p:cNvPr>
          <p:cNvSpPr txBox="1">
            <a:spLocks/>
          </p:cNvSpPr>
          <p:nvPr/>
        </p:nvSpPr>
        <p:spPr>
          <a:xfrm>
            <a:off x="314028" y="1367542"/>
            <a:ext cx="5186211" cy="5239751"/>
          </a:xfrm>
          <a:prstGeom prst="rect">
            <a:avLst/>
          </a:prstGeom>
        </p:spPr>
        <p:txBody>
          <a:bodyPr vert="horz" lIns="91440" tIns="45720" rIns="91440" bIns="45720" rtlCol="0" anchor="t">
            <a:normAutofit/>
          </a:bodyPr>
          <a:lst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a:lstStyle>
          <a:p>
            <a:pPr marL="45720" indent="0">
              <a:buFont typeface="Arial" pitchFamily="34" charset="0"/>
              <a:buNone/>
            </a:pPr>
            <a:r>
              <a:rPr lang="en-US" sz="2800" b="1" dirty="0">
                <a:latin typeface="Century Gothic"/>
              </a:rPr>
              <a:t>Steps</a:t>
            </a:r>
            <a:endParaRPr lang="en-US" sz="2800" dirty="0">
              <a:latin typeface="Century Gothic"/>
            </a:endParaRPr>
          </a:p>
          <a:p>
            <a:pPr marL="388620" indent="-342900">
              <a:buFont typeface="Arial" pitchFamily="34" charset="0"/>
              <a:buAutoNum type="arabicPeriod"/>
            </a:pPr>
            <a:r>
              <a:rPr lang="en-US" dirty="0">
                <a:latin typeface="Century Gothic"/>
              </a:rPr>
              <a:t>Data Visualizer App</a:t>
            </a:r>
          </a:p>
          <a:p>
            <a:pPr marL="617220" lvl="1">
              <a:buClr>
                <a:srgbClr val="1F4E79"/>
              </a:buClr>
              <a:buFont typeface="Wingdings"/>
              <a:buChar char="q"/>
            </a:pPr>
            <a:r>
              <a:rPr lang="en-US" dirty="0">
                <a:latin typeface="Century Gothic"/>
              </a:rPr>
              <a:t>Data (Series):</a:t>
            </a:r>
          </a:p>
          <a:p>
            <a:pPr marL="845820" lvl="2">
              <a:buClr>
                <a:srgbClr val="1F4E79"/>
              </a:buClr>
              <a:buFont typeface="Wingdings"/>
              <a:buChar char="§"/>
            </a:pPr>
            <a:r>
              <a:rPr lang="en-US" dirty="0">
                <a:latin typeface="Century Gothic"/>
              </a:rPr>
              <a:t>Indicator: Dropout rate Penta 1-Measles</a:t>
            </a:r>
          </a:p>
          <a:p>
            <a:pPr marL="845820" lvl="2">
              <a:buClr>
                <a:srgbClr val="1F4E79"/>
              </a:buClr>
              <a:buFont typeface="Wingdings"/>
              <a:buChar char="§"/>
            </a:pPr>
            <a:r>
              <a:rPr lang="en-US" dirty="0">
                <a:latin typeface="Century Gothic"/>
              </a:rPr>
              <a:t>Indicator: Measles Coverage &lt; 1</a:t>
            </a:r>
            <a:endParaRPr lang="en-US" dirty="0"/>
          </a:p>
          <a:p>
            <a:pPr marL="617220">
              <a:buClr>
                <a:srgbClr val="1F4E79"/>
              </a:buClr>
              <a:buFont typeface="Wingdings"/>
              <a:buChar char="q"/>
            </a:pPr>
            <a:r>
              <a:rPr lang="en-US" sz="2000" err="1"/>
              <a:t>OrgUnits</a:t>
            </a:r>
            <a:r>
              <a:rPr lang="en-US" sz="2000" dirty="0"/>
              <a:t> (Category):</a:t>
            </a:r>
          </a:p>
          <a:p>
            <a:pPr marL="845820" lvl="2">
              <a:buClr>
                <a:srgbClr val="1F4E79"/>
              </a:buClr>
              <a:buFont typeface="Wingdings"/>
              <a:buChar char="§"/>
            </a:pPr>
            <a:r>
              <a:rPr lang="en-US" dirty="0"/>
              <a:t>Level = District</a:t>
            </a:r>
          </a:p>
          <a:p>
            <a:pPr marL="617220" lvl="1">
              <a:buClr>
                <a:srgbClr val="1F4E79"/>
              </a:buClr>
              <a:buFont typeface="Wingdings"/>
              <a:buChar char="q"/>
            </a:pPr>
            <a:r>
              <a:rPr lang="en-US" dirty="0">
                <a:latin typeface="Century Gothic"/>
              </a:rPr>
              <a:t>Period (Filter): </a:t>
            </a:r>
            <a:endParaRPr lang="en-US" dirty="0"/>
          </a:p>
          <a:p>
            <a:pPr marL="845820" lvl="2">
              <a:buClr>
                <a:srgbClr val="1F4E79"/>
              </a:buClr>
              <a:buFont typeface="Wingdings"/>
              <a:buChar char="§"/>
            </a:pPr>
            <a:r>
              <a:rPr lang="en-US" dirty="0">
                <a:ea typeface="+mn-lt"/>
                <a:cs typeface="+mn-lt"/>
              </a:rPr>
              <a:t>Monthly From January 2022 to June 2023</a:t>
            </a:r>
            <a:endParaRPr lang="en-US" dirty="0"/>
          </a:p>
          <a:p>
            <a:pPr>
              <a:buFont typeface="Arial" pitchFamily="34" charset="0"/>
              <a:buAutoNum type="arabicPeriod"/>
            </a:pPr>
            <a:r>
              <a:rPr lang="en-US" dirty="0">
                <a:latin typeface="Century Gothic"/>
              </a:rPr>
              <a:t>Pivot Table generated and downloaded for correlation analysis in R</a:t>
            </a:r>
          </a:p>
          <a:p>
            <a:pPr marL="45720" indent="0">
              <a:buClr>
                <a:srgbClr val="5B9BD5">
                  <a:lumMod val="50000"/>
                </a:srgbClr>
              </a:buClr>
              <a:buNone/>
            </a:pPr>
            <a:endParaRPr lang="en-US" sz="2000" dirty="0">
              <a:latin typeface="Century Gothic"/>
            </a:endParaRPr>
          </a:p>
        </p:txBody>
      </p:sp>
      <p:pic>
        <p:nvPicPr>
          <p:cNvPr id="12" name="Picture 11" descr="A graph with numbers and a bar chart&#10;&#10;Description automatically generated">
            <a:extLst>
              <a:ext uri="{FF2B5EF4-FFF2-40B4-BE49-F238E27FC236}">
                <a16:creationId xmlns:a16="http://schemas.microsoft.com/office/drawing/2014/main" id="{8C7CF626-A228-BCA4-4BDB-83A4811BFF67}"/>
              </a:ext>
            </a:extLst>
          </p:cNvPr>
          <p:cNvPicPr>
            <a:picLocks noChangeAspect="1"/>
          </p:cNvPicPr>
          <p:nvPr/>
        </p:nvPicPr>
        <p:blipFill>
          <a:blip r:embed="rId3"/>
          <a:stretch>
            <a:fillRect/>
          </a:stretch>
        </p:blipFill>
        <p:spPr>
          <a:xfrm>
            <a:off x="5904865" y="3061043"/>
            <a:ext cx="6087619" cy="3732503"/>
          </a:xfrm>
          <a:prstGeom prst="rect">
            <a:avLst/>
          </a:prstGeom>
        </p:spPr>
      </p:pic>
      <p:pic>
        <p:nvPicPr>
          <p:cNvPr id="13" name="Picture 12" descr="A screenshot of a data&#10;&#10;Description automatically generated">
            <a:extLst>
              <a:ext uri="{FF2B5EF4-FFF2-40B4-BE49-F238E27FC236}">
                <a16:creationId xmlns:a16="http://schemas.microsoft.com/office/drawing/2014/main" id="{99B013DD-85B1-D97C-A41B-C121A048D37B}"/>
              </a:ext>
            </a:extLst>
          </p:cNvPr>
          <p:cNvPicPr>
            <a:picLocks noChangeAspect="1"/>
          </p:cNvPicPr>
          <p:nvPr/>
        </p:nvPicPr>
        <p:blipFill>
          <a:blip r:embed="rId4"/>
          <a:stretch>
            <a:fillRect/>
          </a:stretch>
        </p:blipFill>
        <p:spPr>
          <a:xfrm>
            <a:off x="5905688" y="961518"/>
            <a:ext cx="6087619" cy="2076709"/>
          </a:xfrm>
          <a:prstGeom prst="rect">
            <a:avLst/>
          </a:prstGeom>
        </p:spPr>
      </p:pic>
    </p:spTree>
    <p:extLst>
      <p:ext uri="{BB962C8B-B14F-4D97-AF65-F5344CB8AC3E}">
        <p14:creationId xmlns:p14="http://schemas.microsoft.com/office/powerpoint/2010/main" val="1552678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4146" y="346204"/>
            <a:ext cx="5046638" cy="726691"/>
          </a:xfrm>
        </p:spPr>
        <p:txBody>
          <a:bodyPr>
            <a:normAutofit/>
          </a:bodyPr>
          <a:lstStyle/>
          <a:p>
            <a:r>
              <a:rPr lang="en-US" sz="2800" b="1">
                <a:latin typeface="Century Gothic"/>
                <a:cs typeface="Arial"/>
              </a:rPr>
              <a:t>Q7: </a:t>
            </a:r>
            <a:r>
              <a:rPr lang="en-US" sz="2800">
                <a:latin typeface="Century Gothic"/>
                <a:cs typeface="Arial"/>
              </a:rPr>
              <a:t>Correlation Analysis</a:t>
            </a:r>
          </a:p>
        </p:txBody>
      </p:sp>
      <p:sp>
        <p:nvSpPr>
          <p:cNvPr id="3" name="Content Placeholder 2"/>
          <p:cNvSpPr>
            <a:spLocks noGrp="1"/>
          </p:cNvSpPr>
          <p:nvPr>
            <p:ph sz="half" idx="1"/>
          </p:nvPr>
        </p:nvSpPr>
        <p:spPr>
          <a:xfrm>
            <a:off x="390570" y="1354916"/>
            <a:ext cx="5565370" cy="2910626"/>
          </a:xfrm>
        </p:spPr>
        <p:txBody>
          <a:bodyPr vert="horz" lIns="91440" tIns="45720" rIns="91440" bIns="45720" rtlCol="0" anchor="t">
            <a:normAutofit/>
          </a:bodyPr>
          <a:lstStyle/>
          <a:p>
            <a:r>
              <a:rPr lang="en-US" sz="1800" b="1" i="0" u="none" strike="noStrike">
                <a:solidFill>
                  <a:srgbClr val="343541"/>
                </a:solidFill>
                <a:effectLst/>
                <a:latin typeface="Century Gothic"/>
              </a:rPr>
              <a:t>Linearity: </a:t>
            </a:r>
            <a:r>
              <a:rPr lang="en-US" sz="1800" b="0" i="0" u="none" strike="noStrike">
                <a:solidFill>
                  <a:srgbClr val="343541"/>
                </a:solidFill>
                <a:effectLst/>
                <a:latin typeface="Century Gothic"/>
              </a:rPr>
              <a:t>The scatter plot shows a negative linear trend, suggesting that as the dropout rate for Penta 1 - Measles increases, the measles coverage for children &lt;1 year old tends to decrease.</a:t>
            </a:r>
            <a:r>
              <a:rPr lang="en-US" sz="1800">
                <a:solidFill>
                  <a:srgbClr val="343541"/>
                </a:solidFill>
                <a:latin typeface="Century Gothic"/>
              </a:rPr>
              <a:t> </a:t>
            </a:r>
            <a:endParaRPr lang="en-US" sz="1800" b="0" i="0" u="none" strike="noStrike">
              <a:solidFill>
                <a:srgbClr val="343541"/>
              </a:solidFill>
              <a:effectLst/>
              <a:latin typeface="Century Gothic"/>
            </a:endParaRPr>
          </a:p>
          <a:p>
            <a:r>
              <a:rPr lang="en-US" sz="1800" b="1" i="0" u="none" strike="noStrike">
                <a:solidFill>
                  <a:srgbClr val="343541"/>
                </a:solidFill>
                <a:effectLst/>
                <a:latin typeface="Century Gothic"/>
              </a:rPr>
              <a:t>Normality: </a:t>
            </a:r>
            <a:r>
              <a:rPr lang="en-US" sz="1800" b="0" i="0" u="none" strike="noStrike">
                <a:solidFill>
                  <a:srgbClr val="343541"/>
                </a:solidFill>
                <a:effectLst/>
                <a:latin typeface="Century Gothic"/>
              </a:rPr>
              <a:t>The Shapiro-Wilk tests </a:t>
            </a:r>
            <a:r>
              <a:rPr lang="en-US" sz="1800">
                <a:solidFill>
                  <a:srgbClr val="343541"/>
                </a:solidFill>
                <a:latin typeface="Century Gothic"/>
              </a:rPr>
              <a:t>resulted in:</a:t>
            </a:r>
            <a:endParaRPr lang="en-US" sz="1400">
              <a:solidFill>
                <a:srgbClr val="000000"/>
              </a:solidFill>
              <a:latin typeface="Century Gothic" panose="020B0502020202020204"/>
            </a:endParaRPr>
          </a:p>
          <a:p>
            <a:pPr lvl="1">
              <a:buClr>
                <a:srgbClr val="1F4E79"/>
              </a:buClr>
              <a:buFont typeface="Courier New" pitchFamily="34" charset="0"/>
              <a:buChar char="o"/>
            </a:pPr>
            <a:r>
              <a:rPr lang="en-US" sz="1400">
                <a:solidFill>
                  <a:srgbClr val="343541"/>
                </a:solidFill>
                <a:latin typeface="Century Gothic"/>
              </a:rPr>
              <a:t>Dropout Rate for Penta 1 – Measles has a p-value &gt; 0.05, indicating a normal distribution</a:t>
            </a:r>
            <a:endParaRPr lang="en-US" sz="1400">
              <a:solidFill>
                <a:srgbClr val="000000"/>
              </a:solidFill>
              <a:latin typeface="Century Gothic"/>
            </a:endParaRPr>
          </a:p>
          <a:p>
            <a:pPr lvl="1">
              <a:buClr>
                <a:srgbClr val="1F4E79"/>
              </a:buClr>
              <a:buFont typeface="Courier New" pitchFamily="34" charset="0"/>
              <a:buChar char="o"/>
            </a:pPr>
            <a:r>
              <a:rPr lang="en-US" sz="1400">
                <a:solidFill>
                  <a:srgbClr val="343541"/>
                </a:solidFill>
                <a:latin typeface="Century Gothic"/>
              </a:rPr>
              <a:t>Mealses Coverage for Children &lt; 1yr has a p-value &lt; 0.05, suggesting a departure from a normal distribution</a:t>
            </a:r>
          </a:p>
          <a:p>
            <a:pPr lvl="2">
              <a:buFont typeface="Wingdings" pitchFamily="2" charset="2"/>
              <a:buChar char="q"/>
            </a:pPr>
            <a:endParaRPr lang="en-US" sz="1200">
              <a:solidFill>
                <a:srgbClr val="343541"/>
              </a:solidFill>
              <a:latin typeface="Century Gothic"/>
            </a:endParaRPr>
          </a:p>
        </p:txBody>
      </p:sp>
      <p:pic>
        <p:nvPicPr>
          <p:cNvPr id="6" name="Picture 5" descr="A white background with black text&#10;&#10;Description automatically generated">
            <a:extLst>
              <a:ext uri="{FF2B5EF4-FFF2-40B4-BE49-F238E27FC236}">
                <a16:creationId xmlns:a16="http://schemas.microsoft.com/office/drawing/2014/main" id="{086120CB-5E2E-E8BC-5764-0228604DC4B7}"/>
              </a:ext>
            </a:extLst>
          </p:cNvPr>
          <p:cNvPicPr>
            <a:picLocks noChangeAspect="1"/>
          </p:cNvPicPr>
          <p:nvPr/>
        </p:nvPicPr>
        <p:blipFill>
          <a:blip r:embed="rId3"/>
          <a:stretch>
            <a:fillRect/>
          </a:stretch>
        </p:blipFill>
        <p:spPr>
          <a:xfrm>
            <a:off x="6974645" y="4443863"/>
            <a:ext cx="4241764" cy="2050152"/>
          </a:xfrm>
          <a:prstGeom prst="rect">
            <a:avLst/>
          </a:prstGeom>
        </p:spPr>
      </p:pic>
      <p:pic>
        <p:nvPicPr>
          <p:cNvPr id="9" name="Picture 8" descr="A screenshot of a computer code&#10;&#10;Description automatically generated">
            <a:extLst>
              <a:ext uri="{FF2B5EF4-FFF2-40B4-BE49-F238E27FC236}">
                <a16:creationId xmlns:a16="http://schemas.microsoft.com/office/drawing/2014/main" id="{B51FD4EB-E11C-88BE-1144-79C1C9E20CD8}"/>
              </a:ext>
            </a:extLst>
          </p:cNvPr>
          <p:cNvPicPr>
            <a:picLocks noChangeAspect="1"/>
          </p:cNvPicPr>
          <p:nvPr/>
        </p:nvPicPr>
        <p:blipFill>
          <a:blip r:embed="rId4"/>
          <a:stretch>
            <a:fillRect/>
          </a:stretch>
        </p:blipFill>
        <p:spPr>
          <a:xfrm>
            <a:off x="531561" y="4386297"/>
            <a:ext cx="5428764" cy="1598492"/>
          </a:xfrm>
          <a:prstGeom prst="rect">
            <a:avLst/>
          </a:prstGeom>
        </p:spPr>
      </p:pic>
      <p:pic>
        <p:nvPicPr>
          <p:cNvPr id="10" name="Picture 9" descr="A graph with a line and dots&#10;&#10;Description automatically generated">
            <a:extLst>
              <a:ext uri="{FF2B5EF4-FFF2-40B4-BE49-F238E27FC236}">
                <a16:creationId xmlns:a16="http://schemas.microsoft.com/office/drawing/2014/main" id="{9D717791-A4F8-66EA-A9A8-72D99D8542FA}"/>
              </a:ext>
            </a:extLst>
          </p:cNvPr>
          <p:cNvPicPr>
            <a:picLocks noChangeAspect="1"/>
          </p:cNvPicPr>
          <p:nvPr/>
        </p:nvPicPr>
        <p:blipFill>
          <a:blip r:embed="rId5"/>
          <a:stretch>
            <a:fillRect/>
          </a:stretch>
        </p:blipFill>
        <p:spPr>
          <a:xfrm>
            <a:off x="7027047" y="134862"/>
            <a:ext cx="4138058" cy="4114800"/>
          </a:xfrm>
          <a:prstGeom prst="rect">
            <a:avLst/>
          </a:prstGeom>
        </p:spPr>
      </p:pic>
    </p:spTree>
    <p:extLst>
      <p:ext uri="{BB962C8B-B14F-4D97-AF65-F5344CB8AC3E}">
        <p14:creationId xmlns:p14="http://schemas.microsoft.com/office/powerpoint/2010/main" val="967301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EC2476-7E4F-1916-FA4C-2914A2C5A9CA}"/>
              </a:ext>
            </a:extLst>
          </p:cNvPr>
          <p:cNvSpPr txBox="1"/>
          <p:nvPr/>
        </p:nvSpPr>
        <p:spPr>
          <a:xfrm>
            <a:off x="573024" y="566678"/>
            <a:ext cx="8937377" cy="1631216"/>
          </a:xfrm>
          <a:prstGeom prst="rect">
            <a:avLst/>
          </a:prstGeom>
          <a:noFill/>
          <a:ln>
            <a:solidFill>
              <a:schemeClr val="bg2"/>
            </a:solidFill>
          </a:ln>
        </p:spPr>
        <p:txBody>
          <a:bodyPr wrap="square" lIns="91440" tIns="45720" rIns="91440" bIns="45720" anchor="t">
            <a:spAutoFit/>
          </a:bodyPr>
          <a:lstStyle/>
          <a:p>
            <a:r>
              <a:rPr lang="en-US" b="1">
                <a:solidFill>
                  <a:srgbClr val="343541"/>
                </a:solidFill>
                <a:latin typeface="Century Gothic"/>
              </a:rPr>
              <a:t>Kendall's Rank Correlation Tau</a:t>
            </a:r>
            <a:r>
              <a:rPr lang="en-US" sz="1800" b="1">
                <a:solidFill>
                  <a:srgbClr val="343541"/>
                </a:solidFill>
                <a:latin typeface="Century Gothic"/>
              </a:rPr>
              <a:t>:</a:t>
            </a:r>
            <a:r>
              <a:rPr lang="en-US" b="1">
                <a:solidFill>
                  <a:srgbClr val="343541"/>
                </a:solidFill>
                <a:latin typeface="Century Gothic"/>
              </a:rPr>
              <a:t> </a:t>
            </a:r>
            <a:endParaRPr lang="en-US">
              <a:latin typeface="Century Gothic"/>
            </a:endParaRPr>
          </a:p>
          <a:p>
            <a:pPr algn="l"/>
            <a:endParaRPr lang="en-US" sz="1600">
              <a:solidFill>
                <a:srgbClr val="343541"/>
              </a:solidFill>
              <a:latin typeface="Century Gothic"/>
            </a:endParaRPr>
          </a:p>
          <a:p>
            <a:pPr marL="285750" indent="-285750">
              <a:buFont typeface="Arial"/>
              <a:buChar char="•"/>
            </a:pPr>
            <a:r>
              <a:rPr lang="en-US" sz="1600">
                <a:solidFill>
                  <a:srgbClr val="343541"/>
                </a:solidFill>
                <a:latin typeface="Century Gothic"/>
              </a:rPr>
              <a:t>The correlation coefficient of -0.3117 denotes a weak negative linear relationship. </a:t>
            </a:r>
          </a:p>
          <a:p>
            <a:pPr marL="285750" indent="-285750">
              <a:buFont typeface="Arial"/>
              <a:buChar char="•"/>
            </a:pPr>
            <a:r>
              <a:rPr lang="en-US" sz="1600">
                <a:solidFill>
                  <a:srgbClr val="343541"/>
                </a:solidFill>
                <a:latin typeface="Century Gothic"/>
              </a:rPr>
              <a:t>The p-value of 0.1416 indicates that the correlation is not statistically significant.</a:t>
            </a:r>
          </a:p>
          <a:p>
            <a:pPr algn="l"/>
            <a:endParaRPr lang="en-US" sz="1600">
              <a:solidFill>
                <a:srgbClr val="343541"/>
              </a:solidFill>
              <a:latin typeface="Century Gothic"/>
            </a:endParaRPr>
          </a:p>
          <a:p>
            <a:endParaRPr lang="en-US" sz="1800">
              <a:solidFill>
                <a:srgbClr val="343541"/>
              </a:solidFill>
              <a:latin typeface="Century Gothic"/>
            </a:endParaRPr>
          </a:p>
        </p:txBody>
      </p:sp>
      <p:sp>
        <p:nvSpPr>
          <p:cNvPr id="7" name="TextBox 6">
            <a:extLst>
              <a:ext uri="{FF2B5EF4-FFF2-40B4-BE49-F238E27FC236}">
                <a16:creationId xmlns:a16="http://schemas.microsoft.com/office/drawing/2014/main" id="{5B91E4F3-390F-4C1F-7446-6CDB058A5012}"/>
              </a:ext>
            </a:extLst>
          </p:cNvPr>
          <p:cNvSpPr txBox="1"/>
          <p:nvPr/>
        </p:nvSpPr>
        <p:spPr>
          <a:xfrm>
            <a:off x="2677054" y="4997284"/>
            <a:ext cx="6812555" cy="923330"/>
          </a:xfrm>
          <a:prstGeom prst="rect">
            <a:avLst/>
          </a:prstGeom>
          <a:noFill/>
          <a:ln>
            <a:solidFill>
              <a:schemeClr val="bg2"/>
            </a:solidFill>
          </a:ln>
        </p:spPr>
        <p:txBody>
          <a:bodyPr wrap="square" lIns="91440" tIns="45720" rIns="91440" bIns="45720" anchor="t">
            <a:spAutoFit/>
          </a:bodyPr>
          <a:lstStyle/>
          <a:p>
            <a:r>
              <a:rPr lang="en-US" sz="1800">
                <a:solidFill>
                  <a:srgbClr val="343541"/>
                </a:solidFill>
                <a:latin typeface="Söhne"/>
              </a:rPr>
              <a:t>Overall, the analysis suggests </a:t>
            </a:r>
            <a:r>
              <a:rPr lang="en-US">
                <a:solidFill>
                  <a:srgbClr val="343541"/>
                </a:solidFill>
                <a:latin typeface="Söhne"/>
              </a:rPr>
              <a:t>there is not a </a:t>
            </a:r>
            <a:r>
              <a:rPr lang="en-US" b="1">
                <a:solidFill>
                  <a:srgbClr val="343541"/>
                </a:solidFill>
                <a:latin typeface="Söhne"/>
              </a:rPr>
              <a:t>significant</a:t>
            </a:r>
            <a:r>
              <a:rPr lang="en-US" sz="1800" b="1">
                <a:solidFill>
                  <a:srgbClr val="343541"/>
                </a:solidFill>
                <a:latin typeface="Söhne"/>
              </a:rPr>
              <a:t> </a:t>
            </a:r>
            <a:r>
              <a:rPr lang="en-US" b="1">
                <a:solidFill>
                  <a:srgbClr val="343541"/>
                </a:solidFill>
                <a:latin typeface="Söhne"/>
              </a:rPr>
              <a:t>correlation</a:t>
            </a:r>
            <a:r>
              <a:rPr lang="en-US" sz="1800" b="1">
                <a:solidFill>
                  <a:srgbClr val="343541"/>
                </a:solidFill>
                <a:latin typeface="Söhne"/>
              </a:rPr>
              <a:t> </a:t>
            </a:r>
            <a:r>
              <a:rPr lang="en-US" sz="1800">
                <a:solidFill>
                  <a:srgbClr val="343541"/>
                </a:solidFill>
                <a:latin typeface="Söhne"/>
              </a:rPr>
              <a:t>between the dropout rate for Penta 1 - Measles and measles coverage in children under one year old</a:t>
            </a:r>
            <a:r>
              <a:rPr lang="en-US">
                <a:solidFill>
                  <a:srgbClr val="343541"/>
                </a:solidFill>
                <a:latin typeface="Söhne"/>
              </a:rPr>
              <a:t> for all districts</a:t>
            </a:r>
            <a:r>
              <a:rPr lang="en-US" sz="1800">
                <a:solidFill>
                  <a:srgbClr val="343541"/>
                </a:solidFill>
                <a:latin typeface="Söhne"/>
              </a:rPr>
              <a:t>.</a:t>
            </a:r>
            <a:r>
              <a:rPr lang="en-US">
                <a:solidFill>
                  <a:srgbClr val="343541"/>
                </a:solidFill>
                <a:latin typeface="Söhne"/>
              </a:rPr>
              <a:t> </a:t>
            </a:r>
            <a:endParaRPr lang="en-US" sz="1800">
              <a:solidFill>
                <a:srgbClr val="343541"/>
              </a:solidFill>
              <a:latin typeface="Söhne"/>
            </a:endParaRPr>
          </a:p>
        </p:txBody>
      </p:sp>
      <p:sp>
        <p:nvSpPr>
          <p:cNvPr id="8" name="Down Arrow 7">
            <a:extLst>
              <a:ext uri="{FF2B5EF4-FFF2-40B4-BE49-F238E27FC236}">
                <a16:creationId xmlns:a16="http://schemas.microsoft.com/office/drawing/2014/main" id="{C651864A-8ADB-BBFF-580C-60BE3C3D3FF2}"/>
              </a:ext>
            </a:extLst>
          </p:cNvPr>
          <p:cNvSpPr/>
          <p:nvPr/>
        </p:nvSpPr>
        <p:spPr>
          <a:xfrm>
            <a:off x="5801588" y="3958844"/>
            <a:ext cx="635572" cy="923330"/>
          </a:xfrm>
          <a:prstGeom prst="downArrow">
            <a:avLst/>
          </a:prstGeom>
          <a:solidFill>
            <a:schemeClr val="tx1"/>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pic>
        <p:nvPicPr>
          <p:cNvPr id="2" name="Picture 1" descr="A black text on a white background&#10;&#10;Description automatically generated">
            <a:extLst>
              <a:ext uri="{FF2B5EF4-FFF2-40B4-BE49-F238E27FC236}">
                <a16:creationId xmlns:a16="http://schemas.microsoft.com/office/drawing/2014/main" id="{DFAECC48-91CE-860F-D379-276685DF862D}"/>
              </a:ext>
            </a:extLst>
          </p:cNvPr>
          <p:cNvPicPr>
            <a:picLocks noChangeAspect="1"/>
          </p:cNvPicPr>
          <p:nvPr/>
        </p:nvPicPr>
        <p:blipFill>
          <a:blip r:embed="rId2"/>
          <a:stretch>
            <a:fillRect/>
          </a:stretch>
        </p:blipFill>
        <p:spPr>
          <a:xfrm>
            <a:off x="3052625" y="2145449"/>
            <a:ext cx="6087619" cy="1719181"/>
          </a:xfrm>
          <a:prstGeom prst="rect">
            <a:avLst/>
          </a:prstGeom>
        </p:spPr>
      </p:pic>
    </p:spTree>
    <p:extLst>
      <p:ext uri="{BB962C8B-B14F-4D97-AF65-F5344CB8AC3E}">
        <p14:creationId xmlns:p14="http://schemas.microsoft.com/office/powerpoint/2010/main" val="4191539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8787" y="297026"/>
            <a:ext cx="11330178" cy="595855"/>
          </a:xfrm>
        </p:spPr>
        <p:txBody>
          <a:bodyPr anchor="b">
            <a:noAutofit/>
          </a:bodyPr>
          <a:lstStyle/>
          <a:p>
            <a:r>
              <a:rPr lang="en-US" sz="1600" b="1" i="0" u="none" strike="noStrike">
                <a:effectLst/>
              </a:rPr>
              <a:t>Question </a:t>
            </a:r>
            <a:r>
              <a:rPr lang="en-US" sz="1600" b="1">
                <a:ea typeface="+mj-lt"/>
                <a:cs typeface="+mj-lt"/>
              </a:rPr>
              <a:t>8:</a:t>
            </a:r>
            <a:r>
              <a:rPr lang="en-US" sz="1600">
                <a:ea typeface="+mj-lt"/>
                <a:cs typeface="+mj-lt"/>
              </a:rPr>
              <a:t> Describe </a:t>
            </a:r>
            <a:r>
              <a:rPr lang="en-US" sz="1600" b="0" i="0" u="none" strike="noStrike">
                <a:effectLst/>
                <a:ea typeface="+mj-lt"/>
                <a:cs typeface="+mj-lt"/>
              </a:rPr>
              <a:t>the </a:t>
            </a:r>
            <a:r>
              <a:rPr lang="en-US" sz="1600">
                <a:ea typeface="+mj-lt"/>
                <a:cs typeface="+mj-lt"/>
              </a:rPr>
              <a:t>location where </a:t>
            </a:r>
            <a:r>
              <a:rPr lang="en-US" sz="1600" b="0" i="0" u="none" strike="noStrike">
                <a:effectLst/>
                <a:ea typeface="+mj-lt"/>
                <a:cs typeface="+mj-lt"/>
              </a:rPr>
              <a:t>the districts </a:t>
            </a:r>
            <a:r>
              <a:rPr lang="en-US" sz="1600">
                <a:ea typeface="+mj-lt"/>
                <a:cs typeface="+mj-lt"/>
              </a:rPr>
              <a:t>with the lowest births by skills attendants are performed </a:t>
            </a:r>
            <a:r>
              <a:rPr lang="en-US" sz="1600" b="0" i="0" u="none" strike="noStrike">
                <a:effectLst/>
                <a:ea typeface="+mj-lt"/>
                <a:cs typeface="+mj-lt"/>
              </a:rPr>
              <a:t>in Sierra Leone for 2022. </a:t>
            </a:r>
            <a:r>
              <a:rPr lang="en-US" sz="1600">
                <a:ea typeface="+mj-lt"/>
                <a:cs typeface="+mj-lt"/>
              </a:rPr>
              <a:t>Hint: Think about their proximity to </a:t>
            </a:r>
            <a:r>
              <a:rPr lang="en-US" sz="1600" b="0" i="0" u="none" strike="noStrike">
                <a:effectLst/>
                <a:ea typeface="+mj-lt"/>
                <a:cs typeface="+mj-lt"/>
              </a:rPr>
              <a:t>the </a:t>
            </a:r>
            <a:r>
              <a:rPr lang="en-US" sz="1600">
                <a:ea typeface="+mj-lt"/>
                <a:cs typeface="+mj-lt"/>
              </a:rPr>
              <a:t>capital city</a:t>
            </a:r>
            <a:r>
              <a:rPr lang="en-US" sz="1600" b="0" i="0" u="none" strike="noStrike">
                <a:effectLst/>
                <a:ea typeface="+mj-lt"/>
                <a:cs typeface="+mj-lt"/>
              </a:rPr>
              <a:t>.</a:t>
            </a:r>
            <a:endParaRPr lang="en-US" sz="1600">
              <a:ea typeface="+mj-lt"/>
              <a:cs typeface="+mj-lt"/>
            </a:endParaRPr>
          </a:p>
        </p:txBody>
      </p:sp>
      <p:sp>
        <p:nvSpPr>
          <p:cNvPr id="5" name="Content Placeholder 1">
            <a:extLst>
              <a:ext uri="{FF2B5EF4-FFF2-40B4-BE49-F238E27FC236}">
                <a16:creationId xmlns:a16="http://schemas.microsoft.com/office/drawing/2014/main" id="{A5F0B44D-8E07-6AA4-7B71-802ADA7C1E2A}"/>
              </a:ext>
            </a:extLst>
          </p:cNvPr>
          <p:cNvSpPr txBox="1">
            <a:spLocks/>
          </p:cNvSpPr>
          <p:nvPr/>
        </p:nvSpPr>
        <p:spPr>
          <a:xfrm>
            <a:off x="460441" y="1491554"/>
            <a:ext cx="4004532" cy="4707665"/>
          </a:xfrm>
          <a:prstGeom prst="rect">
            <a:avLst/>
          </a:prstGeom>
        </p:spPr>
        <p:txBody>
          <a:bodyPr vert="horz" lIns="91440" tIns="45720" rIns="91440" bIns="45720" rtlCol="0" anchor="t">
            <a:normAutofit fontScale="92500" lnSpcReduction="20000"/>
          </a:bodyPr>
          <a:lst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a:lstStyle>
          <a:p>
            <a:pPr marL="45720" indent="0">
              <a:buFont typeface="Arial" pitchFamily="34" charset="0"/>
              <a:buNone/>
            </a:pPr>
            <a:r>
              <a:rPr lang="en-US" b="1">
                <a:latin typeface="Century Gothic"/>
              </a:rPr>
              <a:t>Steps</a:t>
            </a:r>
            <a:endParaRPr lang="en-US">
              <a:latin typeface="Century Gothic"/>
            </a:endParaRPr>
          </a:p>
          <a:p>
            <a:pPr marL="388620" indent="-342900">
              <a:buFont typeface="Arial" pitchFamily="34" charset="0"/>
              <a:buAutoNum type="arabicPeriod"/>
            </a:pPr>
            <a:r>
              <a:rPr lang="en-US" sz="2000">
                <a:latin typeface="Century Gothic"/>
              </a:rPr>
              <a:t>Data Visualizer App</a:t>
            </a:r>
          </a:p>
          <a:p>
            <a:pPr marL="617220" lvl="1">
              <a:buClr>
                <a:srgbClr val="1F4E79"/>
              </a:buClr>
              <a:buFont typeface="Wingdings"/>
              <a:buChar char="q"/>
            </a:pPr>
            <a:r>
              <a:rPr lang="en-US" sz="1800">
                <a:latin typeface="Century Gothic"/>
              </a:rPr>
              <a:t>Data (Series):</a:t>
            </a:r>
          </a:p>
          <a:p>
            <a:pPr marL="845820" lvl="2">
              <a:buClr>
                <a:srgbClr val="1F4E79"/>
              </a:buClr>
              <a:buFont typeface="Wingdings"/>
              <a:buChar char="§"/>
            </a:pPr>
            <a:r>
              <a:rPr lang="en-US" sz="1600">
                <a:latin typeface="Century Gothic"/>
              </a:rPr>
              <a:t>Births attended by skilled health personnel (registered live births)</a:t>
            </a:r>
            <a:endParaRPr lang="en-US" sz="1600"/>
          </a:p>
          <a:p>
            <a:pPr marL="617220" lvl="1">
              <a:buClr>
                <a:srgbClr val="1F4E79"/>
              </a:buClr>
              <a:buFont typeface="Wingdings"/>
              <a:buChar char="q"/>
            </a:pPr>
            <a:r>
              <a:rPr lang="en-US" sz="1800">
                <a:latin typeface="Century Gothic"/>
              </a:rPr>
              <a:t>Period (Category): </a:t>
            </a:r>
            <a:endParaRPr lang="en-US"/>
          </a:p>
          <a:p>
            <a:pPr marL="845820" lvl="2">
              <a:buClr>
                <a:srgbClr val="1F4E79"/>
              </a:buClr>
              <a:buFont typeface="Wingdings"/>
              <a:buChar char="§"/>
            </a:pPr>
            <a:r>
              <a:rPr lang="en-US" sz="1600">
                <a:ea typeface="+mn-lt"/>
                <a:cs typeface="+mn-lt"/>
              </a:rPr>
              <a:t>Yearly in year 2022</a:t>
            </a:r>
          </a:p>
          <a:p>
            <a:pPr marL="617220" lvl="1">
              <a:buClr>
                <a:srgbClr val="1F4E79"/>
              </a:buClr>
              <a:buFont typeface="Wingdings"/>
              <a:buChar char="q"/>
            </a:pPr>
            <a:r>
              <a:rPr lang="en-US" sz="1800" err="1">
                <a:ea typeface="+mn-lt"/>
                <a:cs typeface="+mn-lt"/>
              </a:rPr>
              <a:t>OrgUnits</a:t>
            </a:r>
            <a:r>
              <a:rPr lang="en-US" sz="1800"/>
              <a:t> (Filter):</a:t>
            </a:r>
          </a:p>
          <a:p>
            <a:pPr marL="845820" lvl="2">
              <a:buClr>
                <a:srgbClr val="1F4E79"/>
              </a:buClr>
              <a:buFont typeface="Wingdings"/>
              <a:buChar char="§"/>
            </a:pPr>
            <a:r>
              <a:rPr lang="en-US" sz="1600"/>
              <a:t>Level: District</a:t>
            </a:r>
            <a:endParaRPr lang="en-US"/>
          </a:p>
          <a:p>
            <a:pPr>
              <a:buFont typeface="Arial" pitchFamily="34" charset="0"/>
              <a:buAutoNum type="arabicPeriod"/>
            </a:pPr>
            <a:r>
              <a:rPr lang="en-US" sz="2000">
                <a:latin typeface="Century Gothic"/>
              </a:rPr>
              <a:t>Open as Map</a:t>
            </a:r>
          </a:p>
          <a:p>
            <a:pPr lvl="1">
              <a:buClr>
                <a:srgbClr val="1F4E79"/>
              </a:buClr>
              <a:buFont typeface="Wingdings" pitchFamily="34" charset="0"/>
              <a:buChar char="q"/>
            </a:pPr>
            <a:r>
              <a:rPr lang="en-US" sz="1700">
                <a:latin typeface="Century Gothic"/>
              </a:rPr>
              <a:t>Choropleth</a:t>
            </a:r>
          </a:p>
          <a:p>
            <a:pPr lvl="2">
              <a:lnSpc>
                <a:spcPct val="80000"/>
              </a:lnSpc>
              <a:buClr>
                <a:srgbClr val="1F4E79"/>
              </a:buClr>
              <a:buFont typeface="Wingdings" pitchFamily="34" charset="0"/>
              <a:buChar char="§"/>
            </a:pPr>
            <a:r>
              <a:rPr lang="en-US" sz="1600">
                <a:latin typeface="Century Gothic"/>
              </a:rPr>
              <a:t>Classes = 9</a:t>
            </a:r>
          </a:p>
          <a:p>
            <a:pPr lvl="2">
              <a:lnSpc>
                <a:spcPct val="80000"/>
              </a:lnSpc>
              <a:buClr>
                <a:srgbClr val="1F4E79"/>
              </a:buClr>
              <a:buFont typeface="Wingdings" pitchFamily="34" charset="0"/>
              <a:buChar char="§"/>
            </a:pPr>
            <a:r>
              <a:rPr lang="en-US" sz="1600">
                <a:latin typeface="Century Gothic"/>
              </a:rPr>
              <a:t>Display value labels</a:t>
            </a:r>
          </a:p>
          <a:p>
            <a:pPr lvl="1">
              <a:lnSpc>
                <a:spcPct val="80000"/>
              </a:lnSpc>
              <a:buClr>
                <a:srgbClr val="1F4E79"/>
              </a:buClr>
              <a:buFont typeface="Wingdings" pitchFamily="34" charset="0"/>
              <a:buChar char="q"/>
            </a:pPr>
            <a:r>
              <a:rPr lang="en-US" sz="1700">
                <a:ea typeface="+mn-lt"/>
                <a:cs typeface="+mn-lt"/>
              </a:rPr>
              <a:t>Bing Road Layer</a:t>
            </a:r>
            <a:endParaRPr lang="en-US" sz="1700">
              <a:latin typeface="Century Gothic"/>
            </a:endParaRPr>
          </a:p>
          <a:p>
            <a:pPr lvl="1">
              <a:lnSpc>
                <a:spcPct val="80000"/>
              </a:lnSpc>
              <a:buClr>
                <a:srgbClr val="1F4E79"/>
              </a:buClr>
              <a:buFont typeface="Wingdings" pitchFamily="34" charset="0"/>
              <a:buChar char="q"/>
            </a:pPr>
            <a:r>
              <a:rPr lang="en-US" sz="1700">
                <a:latin typeface="Century Gothic"/>
              </a:rPr>
              <a:t>Facility Layer</a:t>
            </a:r>
          </a:p>
          <a:p>
            <a:pPr lvl="2">
              <a:lnSpc>
                <a:spcPct val="80000"/>
              </a:lnSpc>
              <a:buClr>
                <a:srgbClr val="1F4E79"/>
              </a:buClr>
              <a:buFont typeface="Wingdings" pitchFamily="34" charset="0"/>
              <a:buChar char="§"/>
            </a:pPr>
            <a:r>
              <a:rPr lang="en-US" sz="1600">
                <a:latin typeface="Century Gothic"/>
              </a:rPr>
              <a:t>Group set = Facility Type</a:t>
            </a:r>
          </a:p>
          <a:p>
            <a:pPr lvl="1">
              <a:lnSpc>
                <a:spcPct val="80000"/>
              </a:lnSpc>
              <a:buClr>
                <a:srgbClr val="1F4E79"/>
              </a:buClr>
              <a:buFont typeface="Wingdings" pitchFamily="34" charset="0"/>
              <a:buChar char="q"/>
            </a:pPr>
            <a:r>
              <a:rPr lang="en-US" sz="1700">
                <a:latin typeface="Century Gothic"/>
              </a:rPr>
              <a:t>Measurement tool to approximate distances</a:t>
            </a:r>
          </a:p>
          <a:p>
            <a:pPr lvl="1">
              <a:lnSpc>
                <a:spcPct val="80000"/>
              </a:lnSpc>
              <a:buClr>
                <a:srgbClr val="1F4E79"/>
              </a:buClr>
              <a:buFont typeface="Wingdings" pitchFamily="34" charset="0"/>
              <a:buChar char="q"/>
            </a:pPr>
            <a:endParaRPr lang="en-US" sz="1600">
              <a:latin typeface="Century Gothic"/>
            </a:endParaRPr>
          </a:p>
          <a:p>
            <a:pPr lvl="1">
              <a:buClr>
                <a:srgbClr val="1F4E79"/>
              </a:buClr>
              <a:buFont typeface="Wingdings" pitchFamily="34" charset="0"/>
              <a:buChar char="q"/>
            </a:pPr>
            <a:endParaRPr lang="en-US" sz="1600">
              <a:latin typeface="Century Gothic"/>
            </a:endParaRPr>
          </a:p>
          <a:p>
            <a:pPr lvl="1">
              <a:buClr>
                <a:srgbClr val="1F4E79"/>
              </a:buClr>
              <a:buFont typeface="Wingdings" pitchFamily="34" charset="0"/>
              <a:buChar char="q"/>
            </a:pPr>
            <a:endParaRPr lang="en-US" sz="1600">
              <a:latin typeface="Century Gothic"/>
            </a:endParaRPr>
          </a:p>
          <a:p>
            <a:pPr marL="45720" indent="0">
              <a:buClr>
                <a:srgbClr val="5B9BD5">
                  <a:lumMod val="50000"/>
                </a:srgbClr>
              </a:buClr>
              <a:buNone/>
            </a:pPr>
            <a:endParaRPr lang="en-US" sz="1800">
              <a:latin typeface="Century Gothic"/>
            </a:endParaRPr>
          </a:p>
        </p:txBody>
      </p:sp>
      <p:pic>
        <p:nvPicPr>
          <p:cNvPr id="8" name="Picture 7" descr="A map of nigeria with blue squares&#10;&#10;Description automatically generated">
            <a:extLst>
              <a:ext uri="{FF2B5EF4-FFF2-40B4-BE49-F238E27FC236}">
                <a16:creationId xmlns:a16="http://schemas.microsoft.com/office/drawing/2014/main" id="{6399E0A8-11B8-7B1B-2099-61BBA8947A60}"/>
              </a:ext>
            </a:extLst>
          </p:cNvPr>
          <p:cNvPicPr>
            <a:picLocks noChangeAspect="1"/>
          </p:cNvPicPr>
          <p:nvPr/>
        </p:nvPicPr>
        <p:blipFill>
          <a:blip r:embed="rId3"/>
          <a:stretch>
            <a:fillRect/>
          </a:stretch>
        </p:blipFill>
        <p:spPr>
          <a:xfrm>
            <a:off x="4542969" y="1972637"/>
            <a:ext cx="7463367" cy="4350249"/>
          </a:xfrm>
          <a:prstGeom prst="rect">
            <a:avLst/>
          </a:prstGeom>
        </p:spPr>
      </p:pic>
      <p:sp>
        <p:nvSpPr>
          <p:cNvPr id="9" name="Content Placeholder 2">
            <a:extLst>
              <a:ext uri="{FF2B5EF4-FFF2-40B4-BE49-F238E27FC236}">
                <a16:creationId xmlns:a16="http://schemas.microsoft.com/office/drawing/2014/main" id="{61221552-D41B-E9C5-747A-2CA1417DBCBC}"/>
              </a:ext>
            </a:extLst>
          </p:cNvPr>
          <p:cNvSpPr>
            <a:spLocks noGrp="1"/>
          </p:cNvSpPr>
          <p:nvPr/>
        </p:nvSpPr>
        <p:spPr>
          <a:xfrm>
            <a:off x="6022455" y="1311443"/>
            <a:ext cx="4503357" cy="718866"/>
          </a:xfrm>
          <a:prstGeom prst="rect">
            <a:avLst/>
          </a:prstGeom>
        </p:spPr>
        <p:txBody>
          <a:bodyPr vert="horz" lIns="91440" tIns="45720" rIns="91440" bIns="45720" rtlCol="0" anchor="t">
            <a:normAutofit/>
          </a:bodyPr>
          <a:lst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a:lstStyle>
          <a:p>
            <a:pPr marL="274320" lvl="1" indent="0">
              <a:lnSpc>
                <a:spcPct val="100000"/>
              </a:lnSpc>
              <a:buNone/>
            </a:pPr>
            <a:r>
              <a:rPr lang="en-US" sz="1600" b="1">
                <a:latin typeface="Century Gothic"/>
              </a:rPr>
              <a:t>Port Loko had the lowest births (50)</a:t>
            </a:r>
          </a:p>
          <a:p>
            <a:pPr lvl="1">
              <a:lnSpc>
                <a:spcPct val="100000"/>
              </a:lnSpc>
            </a:pPr>
            <a:r>
              <a:rPr lang="en-US" sz="1600">
                <a:latin typeface="Century Gothic"/>
              </a:rPr>
              <a:t>Bordering district to the capital</a:t>
            </a:r>
            <a:endParaRPr lang="en-US" sz="1600" b="1">
              <a:latin typeface="Century Gothic"/>
            </a:endParaRPr>
          </a:p>
        </p:txBody>
      </p:sp>
    </p:spTree>
    <p:extLst>
      <p:ext uri="{BB962C8B-B14F-4D97-AF65-F5344CB8AC3E}">
        <p14:creationId xmlns:p14="http://schemas.microsoft.com/office/powerpoint/2010/main" val="251096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6812" y="260400"/>
            <a:ext cx="11866798" cy="533924"/>
          </a:xfrm>
        </p:spPr>
        <p:txBody>
          <a:bodyPr anchor="b">
            <a:noAutofit/>
          </a:bodyPr>
          <a:lstStyle/>
          <a:p>
            <a:r>
              <a:rPr lang="en-US" sz="2800" b="1"/>
              <a:t>Q8: </a:t>
            </a:r>
            <a:r>
              <a:rPr lang="en-US" sz="2800"/>
              <a:t>proximity of facilities in port </a:t>
            </a:r>
            <a:r>
              <a:rPr lang="en-US" sz="2800" err="1"/>
              <a:t>loko</a:t>
            </a:r>
            <a:r>
              <a:rPr lang="en-US" sz="2800"/>
              <a:t> to the capital city</a:t>
            </a:r>
            <a:endParaRPr lang="en-US" sz="2800">
              <a:ea typeface="+mj-lt"/>
              <a:cs typeface="+mj-lt"/>
            </a:endParaRPr>
          </a:p>
        </p:txBody>
      </p:sp>
      <p:pic>
        <p:nvPicPr>
          <p:cNvPr id="5" name="Content Placeholder 4">
            <a:extLst>
              <a:ext uri="{FF2B5EF4-FFF2-40B4-BE49-F238E27FC236}">
                <a16:creationId xmlns:a16="http://schemas.microsoft.com/office/drawing/2014/main" id="{9D66443A-A739-6837-25C0-CF6C0C7553D1}"/>
              </a:ext>
            </a:extLst>
          </p:cNvPr>
          <p:cNvPicPr>
            <a:picLocks noGrp="1" noChangeAspect="1"/>
          </p:cNvPicPr>
          <p:nvPr>
            <p:ph sz="half" idx="1"/>
          </p:nvPr>
        </p:nvPicPr>
        <p:blipFill>
          <a:blip r:embed="rId3"/>
          <a:stretch>
            <a:fillRect/>
          </a:stretch>
        </p:blipFill>
        <p:spPr>
          <a:xfrm>
            <a:off x="1758070" y="934923"/>
            <a:ext cx="8671089" cy="5873081"/>
          </a:xfrm>
        </p:spPr>
      </p:pic>
    </p:spTree>
    <p:extLst>
      <p:ext uri="{BB962C8B-B14F-4D97-AF65-F5344CB8AC3E}">
        <p14:creationId xmlns:p14="http://schemas.microsoft.com/office/powerpoint/2010/main" val="1400352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50A962E5-0AAD-F5A2-1D36-8DFE6E302F60}"/>
              </a:ext>
            </a:extLst>
          </p:cNvPr>
          <p:cNvSpPr txBox="1">
            <a:spLocks/>
          </p:cNvSpPr>
          <p:nvPr/>
        </p:nvSpPr>
        <p:spPr>
          <a:xfrm>
            <a:off x="422184" y="3353278"/>
            <a:ext cx="2665636" cy="883678"/>
          </a:xfrm>
          <a:prstGeom prst="rect">
            <a:avLst/>
          </a:prstGeom>
        </p:spPr>
        <p:txBody>
          <a:bodyPr vert="horz" lIns="91440" tIns="45720" rIns="91440" bIns="45720" rtlCol="0" anchor="t">
            <a:noAutofit/>
          </a:bodyPr>
          <a:lst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a:lstStyle>
          <a:p>
            <a:pPr marL="45720">
              <a:lnSpc>
                <a:spcPct val="100000"/>
              </a:lnSpc>
              <a:buClr>
                <a:srgbClr val="5B9BD5">
                  <a:lumMod val="50000"/>
                </a:srgbClr>
              </a:buClr>
              <a:buNone/>
            </a:pPr>
            <a:r>
              <a:rPr lang="en-US" sz="1600">
                <a:latin typeface="Century Gothic"/>
              </a:rPr>
              <a:t>Closest MCHP(Lungi Town MCHP) is about 11mi from the capital</a:t>
            </a:r>
            <a:endParaRPr lang="en-US" sz="1600" b="1">
              <a:latin typeface="Century Gothic"/>
            </a:endParaRPr>
          </a:p>
        </p:txBody>
      </p:sp>
      <p:pic>
        <p:nvPicPr>
          <p:cNvPr id="6" name="Content Placeholder 5" descr="A map of a country with a question mark&#10;&#10;Description automatically generated">
            <a:extLst>
              <a:ext uri="{FF2B5EF4-FFF2-40B4-BE49-F238E27FC236}">
                <a16:creationId xmlns:a16="http://schemas.microsoft.com/office/drawing/2014/main" id="{4122FA5B-A2E0-C8FF-EF14-2EE61EBDBD74}"/>
              </a:ext>
            </a:extLst>
          </p:cNvPr>
          <p:cNvPicPr>
            <a:picLocks noGrp="1" noChangeAspect="1"/>
          </p:cNvPicPr>
          <p:nvPr>
            <p:ph sz="half" idx="1"/>
          </p:nvPr>
        </p:nvPicPr>
        <p:blipFill>
          <a:blip r:embed="rId3"/>
          <a:stretch>
            <a:fillRect/>
          </a:stretch>
        </p:blipFill>
        <p:spPr>
          <a:xfrm>
            <a:off x="3209959" y="926179"/>
            <a:ext cx="8769090" cy="5736870"/>
          </a:xfrm>
        </p:spPr>
      </p:pic>
      <p:sp>
        <p:nvSpPr>
          <p:cNvPr id="9" name="Title 3">
            <a:extLst>
              <a:ext uri="{FF2B5EF4-FFF2-40B4-BE49-F238E27FC236}">
                <a16:creationId xmlns:a16="http://schemas.microsoft.com/office/drawing/2014/main" id="{B9712316-A5AC-29F9-AD23-3351298EB68F}"/>
              </a:ext>
            </a:extLst>
          </p:cNvPr>
          <p:cNvSpPr>
            <a:spLocks noGrp="1"/>
          </p:cNvSpPr>
          <p:nvPr>
            <p:ph type="title"/>
          </p:nvPr>
        </p:nvSpPr>
        <p:spPr>
          <a:xfrm>
            <a:off x="156812" y="260400"/>
            <a:ext cx="11866798" cy="533924"/>
          </a:xfrm>
        </p:spPr>
        <p:txBody>
          <a:bodyPr anchor="b">
            <a:noAutofit/>
          </a:bodyPr>
          <a:lstStyle/>
          <a:p>
            <a:r>
              <a:rPr lang="en-US" sz="2800" b="1"/>
              <a:t>Q8: </a:t>
            </a:r>
            <a:r>
              <a:rPr lang="en-US" sz="2800"/>
              <a:t>proximity of facilities in port </a:t>
            </a:r>
            <a:r>
              <a:rPr lang="en-US" sz="2800" err="1"/>
              <a:t>loko</a:t>
            </a:r>
            <a:r>
              <a:rPr lang="en-US" sz="2800"/>
              <a:t> to the capital city</a:t>
            </a:r>
            <a:endParaRPr lang="en-US" sz="2800">
              <a:ea typeface="+mj-lt"/>
              <a:cs typeface="+mj-lt"/>
            </a:endParaRPr>
          </a:p>
        </p:txBody>
      </p:sp>
    </p:spTree>
    <p:extLst>
      <p:ext uri="{BB962C8B-B14F-4D97-AF65-F5344CB8AC3E}">
        <p14:creationId xmlns:p14="http://schemas.microsoft.com/office/powerpoint/2010/main" val="3476602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50A962E5-0AAD-F5A2-1D36-8DFE6E302F60}"/>
              </a:ext>
            </a:extLst>
          </p:cNvPr>
          <p:cNvSpPr txBox="1">
            <a:spLocks/>
          </p:cNvSpPr>
          <p:nvPr/>
        </p:nvSpPr>
        <p:spPr>
          <a:xfrm>
            <a:off x="458787" y="3289185"/>
            <a:ext cx="2665636" cy="920303"/>
          </a:xfrm>
          <a:prstGeom prst="rect">
            <a:avLst/>
          </a:prstGeom>
        </p:spPr>
        <p:txBody>
          <a:bodyPr vert="horz" lIns="91440" tIns="45720" rIns="91440" bIns="45720" rtlCol="0" anchor="t">
            <a:normAutofit/>
          </a:bodyPr>
          <a:lst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a:lstStyle>
          <a:p>
            <a:pPr marL="45720">
              <a:lnSpc>
                <a:spcPct val="100000"/>
              </a:lnSpc>
              <a:buClr>
                <a:srgbClr val="5B9BD5">
                  <a:lumMod val="50000"/>
                </a:srgbClr>
              </a:buClr>
              <a:buNone/>
            </a:pPr>
            <a:r>
              <a:rPr lang="en-US" sz="1600">
                <a:latin typeface="Century Gothic"/>
              </a:rPr>
              <a:t>Closest CHP (Pepel CHP) is about 14mi from the capital</a:t>
            </a:r>
            <a:endParaRPr lang="en-US" sz="1600" b="1">
              <a:latin typeface="Century Gothic"/>
            </a:endParaRPr>
          </a:p>
        </p:txBody>
      </p:sp>
      <p:pic>
        <p:nvPicPr>
          <p:cNvPr id="9" name="Content Placeholder 8" descr="A map of a country with a question mark&#10;&#10;Description automatically generated">
            <a:extLst>
              <a:ext uri="{FF2B5EF4-FFF2-40B4-BE49-F238E27FC236}">
                <a16:creationId xmlns:a16="http://schemas.microsoft.com/office/drawing/2014/main" id="{563FA142-96C7-0300-ECB8-CFCF9139E5FC}"/>
              </a:ext>
            </a:extLst>
          </p:cNvPr>
          <p:cNvPicPr>
            <a:picLocks noGrp="1" noChangeAspect="1"/>
          </p:cNvPicPr>
          <p:nvPr>
            <p:ph sz="half" idx="1"/>
          </p:nvPr>
        </p:nvPicPr>
        <p:blipFill>
          <a:blip r:embed="rId3"/>
          <a:stretch>
            <a:fillRect/>
          </a:stretch>
        </p:blipFill>
        <p:spPr>
          <a:xfrm>
            <a:off x="3183820" y="873875"/>
            <a:ext cx="8782225" cy="5750008"/>
          </a:xfrm>
        </p:spPr>
      </p:pic>
      <p:sp>
        <p:nvSpPr>
          <p:cNvPr id="14" name="Title 3">
            <a:extLst>
              <a:ext uri="{FF2B5EF4-FFF2-40B4-BE49-F238E27FC236}">
                <a16:creationId xmlns:a16="http://schemas.microsoft.com/office/drawing/2014/main" id="{44398342-7934-4B5A-9694-1AF0B9D20ED6}"/>
              </a:ext>
            </a:extLst>
          </p:cNvPr>
          <p:cNvSpPr>
            <a:spLocks noGrp="1"/>
          </p:cNvSpPr>
          <p:nvPr>
            <p:ph type="title"/>
          </p:nvPr>
        </p:nvSpPr>
        <p:spPr>
          <a:xfrm>
            <a:off x="156812" y="260400"/>
            <a:ext cx="11866798" cy="533924"/>
          </a:xfrm>
        </p:spPr>
        <p:txBody>
          <a:bodyPr anchor="b">
            <a:noAutofit/>
          </a:bodyPr>
          <a:lstStyle/>
          <a:p>
            <a:r>
              <a:rPr lang="en-US" sz="2800" b="1"/>
              <a:t>Q8: </a:t>
            </a:r>
            <a:r>
              <a:rPr lang="en-US" sz="2800"/>
              <a:t>proximity of facilities in port </a:t>
            </a:r>
            <a:r>
              <a:rPr lang="en-US" sz="2800" err="1"/>
              <a:t>loko</a:t>
            </a:r>
            <a:r>
              <a:rPr lang="en-US" sz="2800"/>
              <a:t> to the capital city</a:t>
            </a:r>
            <a:endParaRPr lang="en-US" sz="2800">
              <a:ea typeface="+mj-lt"/>
              <a:cs typeface="+mj-lt"/>
            </a:endParaRPr>
          </a:p>
        </p:txBody>
      </p:sp>
    </p:spTree>
    <p:extLst>
      <p:ext uri="{BB962C8B-B14F-4D97-AF65-F5344CB8AC3E}">
        <p14:creationId xmlns:p14="http://schemas.microsoft.com/office/powerpoint/2010/main" val="1907587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50A962E5-0AAD-F5A2-1D36-8DFE6E302F60}"/>
              </a:ext>
            </a:extLst>
          </p:cNvPr>
          <p:cNvSpPr txBox="1">
            <a:spLocks/>
          </p:cNvSpPr>
          <p:nvPr/>
        </p:nvSpPr>
        <p:spPr>
          <a:xfrm>
            <a:off x="458787" y="3298341"/>
            <a:ext cx="2665636" cy="892834"/>
          </a:xfrm>
          <a:prstGeom prst="rect">
            <a:avLst/>
          </a:prstGeom>
        </p:spPr>
        <p:txBody>
          <a:bodyPr vert="horz" lIns="91440" tIns="45720" rIns="91440" bIns="45720" rtlCol="0" anchor="t">
            <a:normAutofit/>
          </a:bodyPr>
          <a:lst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a:lstStyle>
          <a:p>
            <a:pPr marL="45720">
              <a:lnSpc>
                <a:spcPct val="100000"/>
              </a:lnSpc>
              <a:buClr>
                <a:srgbClr val="5B9BD5">
                  <a:lumMod val="50000"/>
                </a:srgbClr>
              </a:buClr>
              <a:buNone/>
            </a:pPr>
            <a:r>
              <a:rPr lang="en-US" sz="1600">
                <a:latin typeface="Century Gothic"/>
              </a:rPr>
              <a:t>Furthest CHP (</a:t>
            </a:r>
            <a:r>
              <a:rPr lang="en-US" sz="1600" err="1">
                <a:latin typeface="Century Gothic"/>
              </a:rPr>
              <a:t>Kantia</a:t>
            </a:r>
            <a:r>
              <a:rPr lang="en-US" sz="1600">
                <a:latin typeface="Century Gothic"/>
              </a:rPr>
              <a:t> CHP) is about 73 mi from the capital</a:t>
            </a:r>
            <a:endParaRPr lang="en-US" sz="1600" b="1">
              <a:latin typeface="Century Gothic"/>
            </a:endParaRPr>
          </a:p>
        </p:txBody>
      </p:sp>
      <p:pic>
        <p:nvPicPr>
          <p:cNvPr id="6" name="Content Placeholder 5">
            <a:extLst>
              <a:ext uri="{FF2B5EF4-FFF2-40B4-BE49-F238E27FC236}">
                <a16:creationId xmlns:a16="http://schemas.microsoft.com/office/drawing/2014/main" id="{30D443CC-85FE-1CF4-E38F-BF4AEE3C1C0A}"/>
              </a:ext>
            </a:extLst>
          </p:cNvPr>
          <p:cNvPicPr>
            <a:picLocks noGrp="1" noChangeAspect="1"/>
          </p:cNvPicPr>
          <p:nvPr>
            <p:ph sz="half" idx="1"/>
          </p:nvPr>
        </p:nvPicPr>
        <p:blipFill>
          <a:blip r:embed="rId3"/>
          <a:stretch>
            <a:fillRect/>
          </a:stretch>
        </p:blipFill>
        <p:spPr>
          <a:xfrm>
            <a:off x="3249494" y="893285"/>
            <a:ext cx="8729687" cy="5704025"/>
          </a:xfrm>
        </p:spPr>
      </p:pic>
      <p:sp>
        <p:nvSpPr>
          <p:cNvPr id="9" name="Title 3">
            <a:extLst>
              <a:ext uri="{FF2B5EF4-FFF2-40B4-BE49-F238E27FC236}">
                <a16:creationId xmlns:a16="http://schemas.microsoft.com/office/drawing/2014/main" id="{0270391B-8546-6772-25C5-279FB5F4027F}"/>
              </a:ext>
            </a:extLst>
          </p:cNvPr>
          <p:cNvSpPr>
            <a:spLocks noGrp="1"/>
          </p:cNvSpPr>
          <p:nvPr>
            <p:ph type="title"/>
          </p:nvPr>
        </p:nvSpPr>
        <p:spPr>
          <a:xfrm>
            <a:off x="156812" y="260400"/>
            <a:ext cx="11866798" cy="533924"/>
          </a:xfrm>
        </p:spPr>
        <p:txBody>
          <a:bodyPr anchor="b">
            <a:noAutofit/>
          </a:bodyPr>
          <a:lstStyle/>
          <a:p>
            <a:r>
              <a:rPr lang="en-US" sz="2800" b="1"/>
              <a:t>Q8: </a:t>
            </a:r>
            <a:r>
              <a:rPr lang="en-US" sz="2800"/>
              <a:t>proximity of facilities in port </a:t>
            </a:r>
            <a:r>
              <a:rPr lang="en-US" sz="2800" err="1"/>
              <a:t>loko</a:t>
            </a:r>
            <a:r>
              <a:rPr lang="en-US" sz="2800"/>
              <a:t> to the capital city</a:t>
            </a:r>
            <a:endParaRPr lang="en-US" sz="2800">
              <a:ea typeface="+mj-lt"/>
              <a:cs typeface="+mj-lt"/>
            </a:endParaRPr>
          </a:p>
        </p:txBody>
      </p:sp>
    </p:spTree>
    <p:extLst>
      <p:ext uri="{BB962C8B-B14F-4D97-AF65-F5344CB8AC3E}">
        <p14:creationId xmlns:p14="http://schemas.microsoft.com/office/powerpoint/2010/main" val="3078035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13F23-7A21-86AC-CFC1-2643E93C16B4}"/>
              </a:ext>
            </a:extLst>
          </p:cNvPr>
          <p:cNvSpPr>
            <a:spLocks noGrp="1"/>
          </p:cNvSpPr>
          <p:nvPr>
            <p:ph type="title"/>
          </p:nvPr>
        </p:nvSpPr>
        <p:spPr>
          <a:xfrm>
            <a:off x="226009" y="178386"/>
            <a:ext cx="11736805" cy="451378"/>
          </a:xfrm>
        </p:spPr>
        <p:txBody>
          <a:bodyPr>
            <a:normAutofit/>
          </a:bodyPr>
          <a:lstStyle/>
          <a:p>
            <a:r>
              <a:rPr lang="en-US" sz="1600" b="1"/>
              <a:t>Question 9:</a:t>
            </a:r>
            <a:r>
              <a:rPr lang="en-US" sz="1600"/>
              <a:t> </a:t>
            </a:r>
            <a:r>
              <a:rPr lang="en-US" sz="1600">
                <a:ea typeface="+mj-lt"/>
                <a:cs typeface="+mj-lt"/>
              </a:rPr>
              <a:t>Create a new dashboard of the charts/maps/tables</a:t>
            </a:r>
            <a:endParaRPr lang="en-IN" sz="1600"/>
          </a:p>
        </p:txBody>
      </p:sp>
      <p:pic>
        <p:nvPicPr>
          <p:cNvPr id="3" name="Picture 2" descr="A screenshot of a graph&#10;&#10;Description automatically generated">
            <a:extLst>
              <a:ext uri="{FF2B5EF4-FFF2-40B4-BE49-F238E27FC236}">
                <a16:creationId xmlns:a16="http://schemas.microsoft.com/office/drawing/2014/main" id="{222EC2E4-AC8C-6123-9AC0-187E35C9110D}"/>
              </a:ext>
            </a:extLst>
          </p:cNvPr>
          <p:cNvPicPr>
            <a:picLocks noChangeAspect="1"/>
          </p:cNvPicPr>
          <p:nvPr/>
        </p:nvPicPr>
        <p:blipFill>
          <a:blip r:embed="rId2"/>
          <a:stretch>
            <a:fillRect/>
          </a:stretch>
        </p:blipFill>
        <p:spPr>
          <a:xfrm>
            <a:off x="306862" y="911190"/>
            <a:ext cx="7494689" cy="2813780"/>
          </a:xfrm>
          <a:prstGeom prst="rect">
            <a:avLst/>
          </a:prstGeom>
        </p:spPr>
      </p:pic>
      <p:pic>
        <p:nvPicPr>
          <p:cNvPr id="4" name="Picture 3" descr="A screenshot of a map&#10;&#10;Description automatically generated">
            <a:extLst>
              <a:ext uri="{FF2B5EF4-FFF2-40B4-BE49-F238E27FC236}">
                <a16:creationId xmlns:a16="http://schemas.microsoft.com/office/drawing/2014/main" id="{C1069E34-2613-942B-7519-E66278ACA2DC}"/>
              </a:ext>
            </a:extLst>
          </p:cNvPr>
          <p:cNvPicPr>
            <a:picLocks noChangeAspect="1"/>
          </p:cNvPicPr>
          <p:nvPr/>
        </p:nvPicPr>
        <p:blipFill>
          <a:blip r:embed="rId3"/>
          <a:stretch>
            <a:fillRect/>
          </a:stretch>
        </p:blipFill>
        <p:spPr>
          <a:xfrm>
            <a:off x="4553149" y="3785329"/>
            <a:ext cx="7483688" cy="2900576"/>
          </a:xfrm>
          <a:prstGeom prst="rect">
            <a:avLst/>
          </a:prstGeom>
        </p:spPr>
      </p:pic>
    </p:spTree>
    <p:extLst>
      <p:ext uri="{BB962C8B-B14F-4D97-AF65-F5344CB8AC3E}">
        <p14:creationId xmlns:p14="http://schemas.microsoft.com/office/powerpoint/2010/main" val="1744817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CA2CCA8-ED7F-6693-979D-71CC446F17FD}"/>
              </a:ext>
            </a:extLst>
          </p:cNvPr>
          <p:cNvPicPr>
            <a:picLocks noChangeAspect="1"/>
          </p:cNvPicPr>
          <p:nvPr/>
        </p:nvPicPr>
        <p:blipFill>
          <a:blip r:embed="rId2"/>
          <a:stretch>
            <a:fillRect/>
          </a:stretch>
        </p:blipFill>
        <p:spPr>
          <a:xfrm>
            <a:off x="-1160" y="46136"/>
            <a:ext cx="8110730" cy="3311981"/>
          </a:xfrm>
          <a:prstGeom prst="rect">
            <a:avLst/>
          </a:prstGeom>
        </p:spPr>
      </p:pic>
      <p:pic>
        <p:nvPicPr>
          <p:cNvPr id="11" name="Picture 10">
            <a:extLst>
              <a:ext uri="{FF2B5EF4-FFF2-40B4-BE49-F238E27FC236}">
                <a16:creationId xmlns:a16="http://schemas.microsoft.com/office/drawing/2014/main" id="{E08FFA2F-55FA-35C4-8967-1316E707A93D}"/>
              </a:ext>
            </a:extLst>
          </p:cNvPr>
          <p:cNvPicPr>
            <a:picLocks noChangeAspect="1"/>
          </p:cNvPicPr>
          <p:nvPr/>
        </p:nvPicPr>
        <p:blipFill>
          <a:blip r:embed="rId3"/>
          <a:stretch>
            <a:fillRect/>
          </a:stretch>
        </p:blipFill>
        <p:spPr>
          <a:xfrm>
            <a:off x="3090050" y="3362231"/>
            <a:ext cx="8435252" cy="3449791"/>
          </a:xfrm>
          <a:prstGeom prst="rect">
            <a:avLst/>
          </a:prstGeom>
        </p:spPr>
      </p:pic>
    </p:spTree>
    <p:extLst>
      <p:ext uri="{BB962C8B-B14F-4D97-AF65-F5344CB8AC3E}">
        <p14:creationId xmlns:p14="http://schemas.microsoft.com/office/powerpoint/2010/main" val="1236280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graph&#10;&#10;Description automatically generated">
            <a:extLst>
              <a:ext uri="{FF2B5EF4-FFF2-40B4-BE49-F238E27FC236}">
                <a16:creationId xmlns:a16="http://schemas.microsoft.com/office/drawing/2014/main" id="{162F59BC-80E6-40B7-843A-42D1EBE49516}"/>
              </a:ext>
            </a:extLst>
          </p:cNvPr>
          <p:cNvPicPr>
            <a:picLocks noChangeAspect="1"/>
          </p:cNvPicPr>
          <p:nvPr/>
        </p:nvPicPr>
        <p:blipFill>
          <a:blip r:embed="rId2"/>
          <a:stretch>
            <a:fillRect/>
          </a:stretch>
        </p:blipFill>
        <p:spPr>
          <a:xfrm>
            <a:off x="42844" y="789"/>
            <a:ext cx="8077728" cy="3281682"/>
          </a:xfrm>
          <a:prstGeom prst="rect">
            <a:avLst/>
          </a:prstGeom>
        </p:spPr>
      </p:pic>
      <p:pic>
        <p:nvPicPr>
          <p:cNvPr id="6" name="Picture 5">
            <a:extLst>
              <a:ext uri="{FF2B5EF4-FFF2-40B4-BE49-F238E27FC236}">
                <a16:creationId xmlns:a16="http://schemas.microsoft.com/office/drawing/2014/main" id="{0865D4B0-FE72-247B-A831-BEB482F8D2DB}"/>
              </a:ext>
            </a:extLst>
          </p:cNvPr>
          <p:cNvPicPr>
            <a:picLocks noChangeAspect="1"/>
          </p:cNvPicPr>
          <p:nvPr/>
        </p:nvPicPr>
        <p:blipFill>
          <a:blip r:embed="rId3"/>
          <a:stretch>
            <a:fillRect/>
          </a:stretch>
        </p:blipFill>
        <p:spPr>
          <a:xfrm>
            <a:off x="2154987" y="3314139"/>
            <a:ext cx="9925854" cy="3474483"/>
          </a:xfrm>
          <a:prstGeom prst="rect">
            <a:avLst/>
          </a:prstGeom>
        </p:spPr>
      </p:pic>
    </p:spTree>
    <p:extLst>
      <p:ext uri="{BB962C8B-B14F-4D97-AF65-F5344CB8AC3E}">
        <p14:creationId xmlns:p14="http://schemas.microsoft.com/office/powerpoint/2010/main" val="2338879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map&#10;&#10;Description automatically generated">
            <a:extLst>
              <a:ext uri="{FF2B5EF4-FFF2-40B4-BE49-F238E27FC236}">
                <a16:creationId xmlns:a16="http://schemas.microsoft.com/office/drawing/2014/main" id="{E3D245E6-5CAE-7501-D949-936590FEEBA6}"/>
              </a:ext>
            </a:extLst>
          </p:cNvPr>
          <p:cNvPicPr>
            <a:picLocks noChangeAspect="1"/>
          </p:cNvPicPr>
          <p:nvPr/>
        </p:nvPicPr>
        <p:blipFill>
          <a:blip r:embed="rId2"/>
          <a:stretch>
            <a:fillRect/>
          </a:stretch>
        </p:blipFill>
        <p:spPr>
          <a:xfrm>
            <a:off x="345364" y="1108145"/>
            <a:ext cx="11498959" cy="4366729"/>
          </a:xfrm>
          <a:prstGeom prst="rect">
            <a:avLst/>
          </a:prstGeom>
        </p:spPr>
      </p:pic>
      <p:sp>
        <p:nvSpPr>
          <p:cNvPr id="6" name="TextBox 5">
            <a:extLst>
              <a:ext uri="{FF2B5EF4-FFF2-40B4-BE49-F238E27FC236}">
                <a16:creationId xmlns:a16="http://schemas.microsoft.com/office/drawing/2014/main" id="{2E1E843E-945E-0CC7-F843-B48ADCA348D6}"/>
              </a:ext>
            </a:extLst>
          </p:cNvPr>
          <p:cNvSpPr txBox="1"/>
          <p:nvPr/>
        </p:nvSpPr>
        <p:spPr>
          <a:xfrm>
            <a:off x="709393" y="5891888"/>
            <a:ext cx="11011348" cy="369332"/>
          </a:xfrm>
          <a:prstGeom prst="rect">
            <a:avLst/>
          </a:prstGeom>
          <a:noFill/>
          <a:ln>
            <a:solidFill>
              <a:schemeClr val="bg2"/>
            </a:solidFill>
          </a:ln>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nSpc>
                <a:spcPct val="90000"/>
              </a:lnSpc>
            </a:pPr>
            <a:r>
              <a:rPr lang="en-US" sz="2000" dirty="0"/>
              <a:t>Link to the dhis2 Dashboard- </a:t>
            </a:r>
            <a:r>
              <a:rPr lang="en-US" sz="2000" dirty="0">
                <a:ea typeface="+mn-lt"/>
                <a:cs typeface="+mn-lt"/>
                <a:hlinkClick r:id="rId3"/>
              </a:rPr>
              <a:t>http://b585.info:8080/dhis-web-dashboard/#/titQPfPZVgD</a:t>
            </a:r>
            <a:r>
              <a:rPr lang="en-US" sz="2000" dirty="0">
                <a:ea typeface="+mn-lt"/>
                <a:cs typeface="+mn-lt"/>
              </a:rPr>
              <a:t> </a:t>
            </a:r>
            <a:endParaRPr lang="en-US" sz="2000" dirty="0"/>
          </a:p>
        </p:txBody>
      </p:sp>
    </p:spTree>
    <p:extLst>
      <p:ext uri="{BB962C8B-B14F-4D97-AF65-F5344CB8AC3E}">
        <p14:creationId xmlns:p14="http://schemas.microsoft.com/office/powerpoint/2010/main" val="213076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13F23-7A21-86AC-CFC1-2643E93C16B4}"/>
              </a:ext>
            </a:extLst>
          </p:cNvPr>
          <p:cNvSpPr>
            <a:spLocks noGrp="1"/>
          </p:cNvSpPr>
          <p:nvPr>
            <p:ph type="title"/>
          </p:nvPr>
        </p:nvSpPr>
        <p:spPr>
          <a:xfrm>
            <a:off x="226009" y="178386"/>
            <a:ext cx="11736805" cy="588721"/>
          </a:xfrm>
        </p:spPr>
        <p:txBody>
          <a:bodyPr>
            <a:normAutofit/>
          </a:bodyPr>
          <a:lstStyle/>
          <a:p>
            <a:r>
              <a:rPr lang="en-US" sz="1600" b="1"/>
              <a:t>Question 10:</a:t>
            </a:r>
            <a:r>
              <a:rPr lang="en-US" sz="1600"/>
              <a:t> Describe any three validation rules that are appropriate to validate data that you have used in your analysis. What are some of the quality issues with the data that you used for your analysis?</a:t>
            </a:r>
            <a:endParaRPr lang="en-IN" sz="1600"/>
          </a:p>
        </p:txBody>
      </p:sp>
      <p:sp>
        <p:nvSpPr>
          <p:cNvPr id="3" name="Content Placeholder 2">
            <a:extLst>
              <a:ext uri="{FF2B5EF4-FFF2-40B4-BE49-F238E27FC236}">
                <a16:creationId xmlns:a16="http://schemas.microsoft.com/office/drawing/2014/main" id="{529ACEEE-B0A9-05AE-88B0-7B4220E7DE00}"/>
              </a:ext>
            </a:extLst>
          </p:cNvPr>
          <p:cNvSpPr>
            <a:spLocks noGrp="1"/>
          </p:cNvSpPr>
          <p:nvPr>
            <p:ph sz="half" idx="1"/>
          </p:nvPr>
        </p:nvSpPr>
        <p:spPr>
          <a:xfrm>
            <a:off x="96294" y="1179094"/>
            <a:ext cx="11922624" cy="5448082"/>
          </a:xfrm>
        </p:spPr>
        <p:txBody>
          <a:bodyPr vert="horz" lIns="91440" tIns="45720" rIns="91440" bIns="45720" rtlCol="0" anchor="t">
            <a:noAutofit/>
          </a:bodyPr>
          <a:lstStyle/>
          <a:p>
            <a:r>
              <a:rPr lang="en-IN" sz="3200" b="1" dirty="0"/>
              <a:t>Data Validation Rules</a:t>
            </a:r>
          </a:p>
          <a:p>
            <a:pPr marL="228600">
              <a:buAutoNum type="arabicPeriod"/>
            </a:pPr>
            <a:r>
              <a:rPr lang="en-US" sz="1600" b="1" dirty="0"/>
              <a:t>Rule Definition</a:t>
            </a:r>
            <a:r>
              <a:rPr lang="en-US" sz="1600" dirty="0"/>
              <a:t>: Ensure that the count of ANC IPT2 (the second dose of Intermittent Preventive Treatment) is never greater than the count of ANC IPT1 (the first dose) for any given period.</a:t>
            </a:r>
          </a:p>
          <a:p>
            <a:pPr marL="0" indent="0">
              <a:buNone/>
            </a:pPr>
            <a:r>
              <a:rPr lang="en-US" sz="1600" dirty="0"/>
              <a:t>This is because every patient who receives the second dose must have received the first dose, but not everyone who receives the first dose will necessarily receive the second dose (</a:t>
            </a:r>
            <a:r>
              <a:rPr lang="en-US" sz="1600" err="1"/>
              <a:t>Anchang</a:t>
            </a:r>
            <a:r>
              <a:rPr lang="en-US" sz="1600" dirty="0"/>
              <a:t>-Kimbi et al., 2014)</a:t>
            </a:r>
          </a:p>
          <a:p>
            <a:pPr marL="0" indent="0">
              <a:buNone/>
            </a:pPr>
            <a:r>
              <a:rPr lang="en-US" sz="1600" b="1" dirty="0"/>
              <a:t>Implementation Logic</a:t>
            </a:r>
            <a:r>
              <a:rPr lang="en-US" sz="1600" dirty="0"/>
              <a:t>: For each reporting period (e.g., monthly), compare the recorded number of IPT2 doses administered against the number of IPT1 doses. If the IPT2 count exceeds the IPT1 count, the data should be flagged for review.</a:t>
            </a:r>
          </a:p>
          <a:p>
            <a:pPr marL="0" indent="0">
              <a:buNone/>
            </a:pPr>
            <a:r>
              <a:rPr lang="en-US" sz="1600" dirty="0"/>
              <a:t>2. </a:t>
            </a:r>
            <a:r>
              <a:rPr lang="en-US" sz="1600" b="1" dirty="0"/>
              <a:t>Rule Definition: </a:t>
            </a:r>
            <a:r>
              <a:rPr lang="en-US" sz="1600" dirty="0"/>
              <a:t>Measles coverage for children &lt; 1yr must not exceed 100% and should align with expected coverage rates based on vaccination campaign targets and population demographics for any given period.</a:t>
            </a:r>
          </a:p>
          <a:p>
            <a:pPr marL="0" indent="0">
              <a:buNone/>
            </a:pPr>
            <a:r>
              <a:rPr lang="en-US" sz="1600" dirty="0"/>
              <a:t>3. </a:t>
            </a:r>
            <a:r>
              <a:rPr lang="en-US" sz="1600" b="1" dirty="0"/>
              <a:t>Rule Definition </a:t>
            </a:r>
            <a:r>
              <a:rPr lang="en-US" sz="1600" dirty="0"/>
              <a:t>: Severe malnutrition rates must always be less than or equal to moderate malnutrition rates, and both should be within their respective plausible ranges.</a:t>
            </a:r>
          </a:p>
          <a:p>
            <a:pPr marL="0" indent="0">
              <a:buNone/>
            </a:pPr>
            <a:r>
              <a:rPr lang="en-US" sz="1600" dirty="0"/>
              <a:t>Validate that for any given population group or area, the severe malnutrition rate is never higher than the moderate malnutrition rate.</a:t>
            </a:r>
          </a:p>
          <a:p>
            <a:pPr marL="0" indent="0">
              <a:buNone/>
            </a:pPr>
            <a:r>
              <a:rPr lang="en-US" sz="1600" dirty="0"/>
              <a:t>Flag any data points where severe malnutrition rates exceed moderate rates or fall outside these ranges for review.</a:t>
            </a:r>
          </a:p>
          <a:p>
            <a:pPr marL="0" indent="0">
              <a:buNone/>
            </a:pPr>
            <a:endParaRPr lang="en-US" sz="1600" dirty="0"/>
          </a:p>
          <a:p>
            <a:pPr marL="45720" indent="0">
              <a:buNone/>
            </a:pPr>
            <a:endParaRPr lang="en-IN" sz="3200" dirty="0"/>
          </a:p>
        </p:txBody>
      </p:sp>
    </p:spTree>
    <p:extLst>
      <p:ext uri="{BB962C8B-B14F-4D97-AF65-F5344CB8AC3E}">
        <p14:creationId xmlns:p14="http://schemas.microsoft.com/office/powerpoint/2010/main" val="29348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76893F54-C948-24DD-4B51-60E341CE7039}"/>
              </a:ext>
            </a:extLst>
          </p:cNvPr>
          <p:cNvSpPr txBox="1">
            <a:spLocks/>
          </p:cNvSpPr>
          <p:nvPr/>
        </p:nvSpPr>
        <p:spPr>
          <a:xfrm>
            <a:off x="1067424" y="578642"/>
            <a:ext cx="9477024" cy="6117020"/>
          </a:xfrm>
          <a:prstGeom prst="rect">
            <a:avLst/>
          </a:prstGeom>
        </p:spPr>
        <p:txBody>
          <a:bodyPr vert="horz" lIns="91440" tIns="45720" rIns="91440" bIns="45720" rtlCol="0" anchor="t">
            <a:normAutofit/>
          </a:bodyPr>
          <a:lst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a:lstStyle>
          <a:p>
            <a:pPr marL="45720" indent="0">
              <a:buNone/>
            </a:pPr>
            <a:r>
              <a:rPr lang="en-IN" sz="3600" b="1" dirty="0"/>
              <a:t>Data Quality Issues</a:t>
            </a:r>
            <a:endParaRPr lang="en-US"/>
          </a:p>
          <a:p>
            <a:pPr marL="342900" indent="-342900">
              <a:buFont typeface="Wingdings" pitchFamily="34" charset="0"/>
              <a:buChar char="Ø"/>
            </a:pPr>
            <a:r>
              <a:rPr lang="en-US" sz="2000" b="1" dirty="0"/>
              <a:t>Completeness: </a:t>
            </a:r>
            <a:r>
              <a:rPr lang="en-US" sz="2000" dirty="0"/>
              <a:t>The missing data for certain facilities like MCHPs (Maternal and Child Health Posts) and CHPs (Community Health Posts) directly impacts the completeness of the dataset. Without full data, the analysis cannot account for all variables and may lead to biased conclusions.</a:t>
            </a:r>
          </a:p>
          <a:p>
            <a:pPr marL="342900" indent="-342900">
              <a:buFont typeface="Wingdings" pitchFamily="34" charset="0"/>
              <a:buChar char="Ø"/>
            </a:pPr>
            <a:r>
              <a:rPr lang="en-US" sz="2000" dirty="0"/>
              <a:t>Missing data can lead to </a:t>
            </a:r>
            <a:r>
              <a:rPr lang="en-US" sz="2000" b="1" dirty="0"/>
              <a:t>inconsistencies</a:t>
            </a:r>
            <a:r>
              <a:rPr lang="en-US" sz="2000" dirty="0"/>
              <a:t> when comparing different datasets or time periods. For instance, if data for specific months or facilities is absent, it's challenging to perform consistent trend analysis over time.</a:t>
            </a:r>
          </a:p>
          <a:p>
            <a:pPr marL="342900" indent="-342900">
              <a:buFont typeface="Wingdings" pitchFamily="34" charset="0"/>
              <a:buChar char="Ø"/>
            </a:pPr>
            <a:r>
              <a:rPr lang="en-US" sz="2000" b="1" dirty="0"/>
              <a:t>Consistency</a:t>
            </a:r>
            <a:r>
              <a:rPr lang="en-US" sz="2000" dirty="0"/>
              <a:t>: The expectation for ANC IPT1 and ANC IPT2 data is that the number of individuals who receive the first dose (ANC IPT1) should always be equal to or greater than those who receive the second dose (ANC IPT2). Instances where ANC IPT2 exceeds ANC IPT1 are inconsistent with standard medical protocols, as individuals must receive the first dose before the second. Thus, the data displays an inconsistency, either due to data entry errors, reporting issues, or a misunderstanding of the definitions for each indicator.</a:t>
            </a:r>
            <a:endParaRPr lang="en-IN" sz="2000"/>
          </a:p>
        </p:txBody>
      </p:sp>
    </p:spTree>
    <p:extLst>
      <p:ext uri="{BB962C8B-B14F-4D97-AF65-F5344CB8AC3E}">
        <p14:creationId xmlns:p14="http://schemas.microsoft.com/office/powerpoint/2010/main" val="2057486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BA920-8445-6206-7538-02BEFDDEDBF1}"/>
              </a:ext>
            </a:extLst>
          </p:cNvPr>
          <p:cNvSpPr>
            <a:spLocks noGrp="1"/>
          </p:cNvSpPr>
          <p:nvPr>
            <p:ph type="title"/>
          </p:nvPr>
        </p:nvSpPr>
        <p:spPr>
          <a:xfrm>
            <a:off x="225009" y="300789"/>
            <a:ext cx="9753600" cy="529389"/>
          </a:xfrm>
        </p:spPr>
        <p:txBody>
          <a:bodyPr>
            <a:normAutofit/>
          </a:bodyPr>
          <a:lstStyle/>
          <a:p>
            <a:r>
              <a:rPr lang="en-IN" sz="2800" b="1" dirty="0"/>
              <a:t>References</a:t>
            </a:r>
          </a:p>
        </p:txBody>
      </p:sp>
      <p:sp>
        <p:nvSpPr>
          <p:cNvPr id="3" name="Content Placeholder 2">
            <a:extLst>
              <a:ext uri="{FF2B5EF4-FFF2-40B4-BE49-F238E27FC236}">
                <a16:creationId xmlns:a16="http://schemas.microsoft.com/office/drawing/2014/main" id="{9CBD718F-C0B2-E618-8315-A558E2A1A0EC}"/>
              </a:ext>
            </a:extLst>
          </p:cNvPr>
          <p:cNvSpPr>
            <a:spLocks noGrp="1"/>
          </p:cNvSpPr>
          <p:nvPr>
            <p:ph sz="half" idx="1"/>
          </p:nvPr>
        </p:nvSpPr>
        <p:spPr>
          <a:xfrm>
            <a:off x="225009" y="1070811"/>
            <a:ext cx="11252935" cy="4565102"/>
          </a:xfrm>
        </p:spPr>
        <p:txBody>
          <a:bodyPr vert="horz" lIns="91440" tIns="45720" rIns="91440" bIns="45720" rtlCol="0" anchor="t">
            <a:normAutofit/>
          </a:bodyPr>
          <a:lstStyle/>
          <a:p>
            <a:pPr marL="0" indent="0">
              <a:buNone/>
            </a:pPr>
            <a:r>
              <a:rPr lang="en-IN" sz="1600" err="1"/>
              <a:t>Anchang</a:t>
            </a:r>
            <a:r>
              <a:rPr lang="en-IN" sz="1600" dirty="0"/>
              <a:t>-Kimbi, J.K., </a:t>
            </a:r>
            <a:r>
              <a:rPr lang="en-IN" sz="1600" err="1"/>
              <a:t>Achidi</a:t>
            </a:r>
            <a:r>
              <a:rPr lang="en-IN" sz="1600" dirty="0"/>
              <a:t>, E.A., </a:t>
            </a:r>
            <a:r>
              <a:rPr lang="en-IN" sz="1600" err="1"/>
              <a:t>Apinjoh</a:t>
            </a:r>
            <a:r>
              <a:rPr lang="en-IN" sz="1600" dirty="0"/>
              <a:t>, T.O. et al. Antenatal care visit attendance, intermittent preventive treatment during pregnancy (IPTp) and malaria parasitaemia at delivery. Malar J 13, 162 (2014). </a:t>
            </a:r>
            <a:r>
              <a:rPr lang="en-IN" sz="1600" dirty="0">
                <a:hlinkClick r:id="rId2"/>
              </a:rPr>
              <a:t>https://doi.org/10.1186/1475-2875-13-162</a:t>
            </a:r>
            <a:endParaRPr lang="en-IN" sz="1600" dirty="0"/>
          </a:p>
          <a:p>
            <a:pPr marL="0" indent="0">
              <a:buNone/>
            </a:pPr>
            <a:r>
              <a:rPr lang="en-IN" sz="1600" err="1"/>
              <a:t>Babughirana</a:t>
            </a:r>
            <a:r>
              <a:rPr lang="en-IN" sz="1600" dirty="0"/>
              <a:t>, Geoffrey &amp; Amponsah, Monica &amp; </a:t>
            </a:r>
            <a:r>
              <a:rPr lang="en-IN" sz="1600" err="1"/>
              <a:t>Banura</a:t>
            </a:r>
            <a:r>
              <a:rPr lang="en-IN" sz="1600" dirty="0"/>
              <a:t>, Evelyn &amp; </a:t>
            </a:r>
            <a:r>
              <a:rPr lang="en-IN" sz="1600" err="1"/>
              <a:t>Egoeh</a:t>
            </a:r>
            <a:r>
              <a:rPr lang="en-IN" sz="1600" dirty="0"/>
              <a:t>, Seth &amp; Barrie, Mohammed &amp; </a:t>
            </a:r>
            <a:r>
              <a:rPr lang="en-IN" sz="1600" err="1"/>
              <a:t>Kanwagi</a:t>
            </a:r>
            <a:r>
              <a:rPr lang="en-IN" sz="1600" dirty="0"/>
              <a:t>, Robert. (2018). Assessment of the Readiness of Community Health Workers to Participate in a Mobile Training and Support Services Innovation: Results of a Functionality Assessment in Bo District, Sierra Leone 2018. American Journal of Computer Science and Information Technology. 06. 10.21767/2349-3917.100028.</a:t>
            </a:r>
          </a:p>
          <a:p>
            <a:pPr marL="0" indent="0">
              <a:buNone/>
            </a:pPr>
            <a:r>
              <a:rPr lang="en-IN" sz="1600" dirty="0"/>
              <a:t>DHIS2, District Health Information System.</a:t>
            </a:r>
          </a:p>
          <a:p>
            <a:pPr marL="0" indent="0">
              <a:buNone/>
            </a:pPr>
            <a:endParaRPr lang="en-IN" sz="1600" dirty="0"/>
          </a:p>
          <a:p>
            <a:pPr marL="0" indent="0">
              <a:buNone/>
            </a:pPr>
            <a:endParaRPr lang="en-IN" sz="1600" dirty="0"/>
          </a:p>
          <a:p>
            <a:pPr marL="0" indent="0">
              <a:buNone/>
            </a:pPr>
            <a:endParaRPr lang="en-US" sz="1600" dirty="0"/>
          </a:p>
          <a:p>
            <a:endParaRPr lang="en-IN" sz="3200" dirty="0"/>
          </a:p>
        </p:txBody>
      </p:sp>
    </p:spTree>
    <p:extLst>
      <p:ext uri="{BB962C8B-B14F-4D97-AF65-F5344CB8AC3E}">
        <p14:creationId xmlns:p14="http://schemas.microsoft.com/office/powerpoint/2010/main" val="1496165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rld count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1">
          <a:schemeClr val="accent1"/>
        </a:lnRef>
        <a:fillRef idx="2">
          <a:schemeClr val="accent1"/>
        </a:fillRef>
        <a:effectRef idx="1">
          <a:schemeClr val="accent1"/>
        </a:effectRef>
        <a:fontRef idx="minor">
          <a:schemeClr val="dk1"/>
        </a:fontRef>
      </a:style>
    </a:spDef>
    <a:lnDef>
      <a:spPr>
        <a:ln/>
      </a:spPr>
      <a:bodyPr/>
      <a:lstStyle/>
      <a:style>
        <a:lnRef idx="3">
          <a:schemeClr val="accent1"/>
        </a:lnRef>
        <a:fillRef idx="0">
          <a:schemeClr val="accent1"/>
        </a:fillRef>
        <a:effectRef idx="2">
          <a:schemeClr val="accent1"/>
        </a:effectRef>
        <a:fontRef idx="minor">
          <a:schemeClr val="tx1"/>
        </a:fontRef>
      </a:style>
    </a:lnDef>
    <a:txDef>
      <a:spPr>
        <a:noFill/>
        <a:ln>
          <a:solidFill>
            <a:schemeClr val="bg2"/>
          </a:solidFill>
        </a:ln>
      </a:spPr>
      <a:bodyPr wrap="none" rtlCol="0">
        <a:spAutoFit/>
      </a:bodyPr>
      <a:lstStyle>
        <a:defPPr>
          <a:lnSpc>
            <a:spcPct val="90000"/>
          </a:lnSpc>
          <a:defRPr sz="2400" dirty="0" err="1" smtClean="0"/>
        </a:defPPr>
      </a:lstStyle>
    </a:txDef>
  </a:objectDefaults>
  <a:extraClrSchemeLst/>
  <a:extLst>
    <a:ext uri="{05A4C25C-085E-4340-85A3-A5531E510DB2}">
      <thm15:themeFamily xmlns:thm15="http://schemas.microsoft.com/office/thememl/2012/main" name="World country report presentation.potx" id="{FF082492-D6CE-444E-B3E8-FB131EDFAC53}" vid="{71BD5CC8-96B3-46A6-8835-37741E8965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c231a64-8afc-4cef-83ab-2a4f85aa632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1DF65836E5F048AA1ACB9C538AE53B" ma:contentTypeVersion="12" ma:contentTypeDescription="Create a new document." ma:contentTypeScope="" ma:versionID="c6b3e97c4df3f1908dcb17094d35ab01">
  <xsd:schema xmlns:xsd="http://www.w3.org/2001/XMLSchema" xmlns:xs="http://www.w3.org/2001/XMLSchema" xmlns:p="http://schemas.microsoft.com/office/2006/metadata/properties" xmlns:ns3="dc231a64-8afc-4cef-83ab-2a4f85aa6322" xmlns:ns4="74d4415f-76ac-462b-982f-8cb5ce131a39" targetNamespace="http://schemas.microsoft.com/office/2006/metadata/properties" ma:root="true" ma:fieldsID="a9511be07b7fd718ebadf21011a99549" ns3:_="" ns4:_="">
    <xsd:import namespace="dc231a64-8afc-4cef-83ab-2a4f85aa6322"/>
    <xsd:import namespace="74d4415f-76ac-462b-982f-8cb5ce131a39"/>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231a64-8afc-4cef-83ab-2a4f85aa63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4d4415f-76ac-462b-982f-8cb5ce131a3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49624B-AAA8-4668-8E45-524CA8AAF045}">
  <ds:schemaRefs>
    <ds:schemaRef ds:uri="74d4415f-76ac-462b-982f-8cb5ce131a39"/>
    <ds:schemaRef ds:uri="dc231a64-8afc-4cef-83ab-2a4f85aa632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6A10B46-5D24-4E6F-85E6-164AB943C5E9}">
  <ds:schemaRefs>
    <ds:schemaRef ds:uri="http://schemas.microsoft.com/sharepoint/v3/contenttype/forms"/>
  </ds:schemaRefs>
</ds:datastoreItem>
</file>

<file path=customXml/itemProps3.xml><?xml version="1.0" encoding="utf-8"?>
<ds:datastoreItem xmlns:ds="http://schemas.openxmlformats.org/officeDocument/2006/customXml" ds:itemID="{9A0D8765-D2AE-4D33-A753-EAAF7710DE65}">
  <ds:schemaRefs>
    <ds:schemaRef ds:uri="74d4415f-76ac-462b-982f-8cb5ce131a39"/>
    <ds:schemaRef ds:uri="dc231a64-8afc-4cef-83ab-2a4f85aa632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World country report presentation</Template>
  <TotalTime>0</TotalTime>
  <Words>4210</Words>
  <Application>Microsoft Office PowerPoint</Application>
  <PresentationFormat>Custom</PresentationFormat>
  <Paragraphs>409</Paragraphs>
  <Slides>49</Slides>
  <Notes>14</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Calibri</vt:lpstr>
      <vt:lpstr>Century Gothic</vt:lpstr>
      <vt:lpstr>Courier New</vt:lpstr>
      <vt:lpstr>Merriweather</vt:lpstr>
      <vt:lpstr>Söhne</vt:lpstr>
      <vt:lpstr>Wingdings</vt:lpstr>
      <vt:lpstr>Wingdings,Sans-Serif</vt:lpstr>
      <vt:lpstr>World country report presentation</vt:lpstr>
      <vt:lpstr>Sierra Leone Maternal &amp; Child Health Analysis </vt:lpstr>
      <vt:lpstr>PowerPoint Presentation</vt:lpstr>
      <vt:lpstr>Question 1: Review the trendline between ANC IPT 1 coverage and ANC IPT 2 coverage for all of Sierra Leone for all the months of 2022 and the first 6 months of 2023 and mention the month in which the trendline met or will meet in the future.</vt:lpstr>
      <vt:lpstr>Q1: Results</vt:lpstr>
      <vt:lpstr>Q1: Forecasting and Trend Analysis</vt:lpstr>
      <vt:lpstr>Question 2: Using SES method, forecast the ANC IPT 2 coverage for the month of Dec 2023 for the Western Area district, using data from all the previous months of 2022 and 2023. (with 2 of your own choices of alpha). Check the error for the last 6 months.</vt:lpstr>
      <vt:lpstr>Q2. Forecasting ANC IPT 2 Coverage for December 2023</vt:lpstr>
      <vt:lpstr>PowerPoint Presentation</vt:lpstr>
      <vt:lpstr>PowerPoint Presentation</vt:lpstr>
      <vt:lpstr>PowerPoint Presentation</vt:lpstr>
      <vt:lpstr>PowerPoint Presentation</vt:lpstr>
      <vt:lpstr>Question 3b: By analyzing the monthly choropleth maps of 2022 and 2023 for severe malnutrition rate by district using a computer vision algorithm, how well can you predict (given the same legend) the severe malnutrition rate of Bo district for November 2023, if all the other districts malnutrition rate is shown on the map.</vt:lpstr>
      <vt:lpstr>Q3B: Predicting Malnutrition Rates in Bo District Using Deep Learning</vt:lpstr>
      <vt:lpstr>PowerPoint Presentation</vt:lpstr>
      <vt:lpstr>PowerPoint Presentation</vt:lpstr>
      <vt:lpstr>Question 4: Perform a visualization-based analysis of Measles coverage for children less than 1yr in all of Sierra Leone. In this analysis, we also want to see in which months in 2022 and 2023 the coverage target of 60% were missed. </vt:lpstr>
      <vt:lpstr>Trend Lines for the Measles Coverage &lt;1yr for all of Sierra Leone</vt:lpstr>
      <vt:lpstr>PowerPoint Presentation</vt:lpstr>
      <vt:lpstr>PowerPoint Presentation</vt:lpstr>
      <vt:lpstr>PowerPoint Presentation</vt:lpstr>
      <vt:lpstr>Q5: DISTRICT LEVEL DRILL DOWN WITH 60% TARGET LINE</vt:lpstr>
      <vt:lpstr>Q5: DISTRICT LEVEL DRILL DOWN WITH 60% TARGET LINE</vt:lpstr>
      <vt:lpstr>Q5: CHIEFDOM LEVEL DRILL DOWN FOR DISTRICT BO</vt:lpstr>
      <vt:lpstr>Q5: FACILITY LEVEL DRILL DOWN WITH 60% TARGET LINE of chiefdom BAjda of Bo district</vt:lpstr>
      <vt:lpstr>PowerPoint Presentation</vt:lpstr>
      <vt:lpstr>PowerPoint Presentation</vt:lpstr>
      <vt:lpstr>Q5: characteristics of AREAS below Target Line</vt:lpstr>
      <vt:lpstr>Q5: characteristics AREAS below Target Line</vt:lpstr>
      <vt:lpstr>Q5: characteristics of AREAS below Target Line</vt:lpstr>
      <vt:lpstr>PowerPoint Presentation</vt:lpstr>
      <vt:lpstr>Question 6: Based on the above evaluation, can you describe the type of trend of low measles vaccination coverage? Add the visualization that you think is most appropriate for such analysis on the slides.</vt:lpstr>
      <vt:lpstr>Q6: District Level</vt:lpstr>
      <vt:lpstr>Q6: Chiefdom Level</vt:lpstr>
      <vt:lpstr>Q6: Facility Level</vt:lpstr>
      <vt:lpstr>Question 7: Create a bar chart comparing the Dropout Penta 1 -measles and measles coverage &lt; 1y for all the districts in Sierra Leone for 2022 and the first 6 months of 2023. Do you see a correlation between these two indicators? Analyze the correlation and interpret the results.</vt:lpstr>
      <vt:lpstr>Q7: Correlation Analysis</vt:lpstr>
      <vt:lpstr>PowerPoint Presentation</vt:lpstr>
      <vt:lpstr>Question 8: Describe the location where the districts with the lowest births by skills attendants are performed in Sierra Leone for 2022. Hint: Think about their proximity to the capital city.</vt:lpstr>
      <vt:lpstr>Q8: proximity of facilities in port loko to the capital city</vt:lpstr>
      <vt:lpstr>Q8: proximity of facilities in port loko to the capital city</vt:lpstr>
      <vt:lpstr>Q8: proximity of facilities in port loko to the capital city</vt:lpstr>
      <vt:lpstr>Q8: proximity of facilities in port loko to the capital city</vt:lpstr>
      <vt:lpstr>Question 9: Create a new dashboard of the charts/maps/tables</vt:lpstr>
      <vt:lpstr>PowerPoint Presentation</vt:lpstr>
      <vt:lpstr>PowerPoint Presentation</vt:lpstr>
      <vt:lpstr>PowerPoint Presentation</vt:lpstr>
      <vt:lpstr>Question 10: Describe any three validation rules that are appropriate to validate data that you have used in your analysis. What are some of the quality issues with the data that you used for your analysis?</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B585: Biomedical analytics project</dc:title>
  <dc:creator>Shukla, Shikhar</dc:creator>
  <cp:lastModifiedBy>kruthika gaddam</cp:lastModifiedBy>
  <cp:revision>221</cp:revision>
  <dcterms:created xsi:type="dcterms:W3CDTF">2023-11-21T01:51:30Z</dcterms:created>
  <dcterms:modified xsi:type="dcterms:W3CDTF">2023-12-07T22:06:00Z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0x0101000D1DF65836E5F048AA1ACB9C538AE53B</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